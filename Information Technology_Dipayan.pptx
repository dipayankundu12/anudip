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Lst>
  <p:notesMasterIdLst>
    <p:notesMasterId r:id="rId9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notesMaster" Target="notesMasters/notesMaster1.xml"/><Relationship Id="rId93" Type="http://schemas.openxmlformats.org/officeDocument/2006/relationships/presProps" Target="presProps.xml"/><Relationship Id="rId94" Type="http://schemas.openxmlformats.org/officeDocument/2006/relationships/viewProps" Target="viewProps.xml"/><Relationship Id="rId95" Type="http://schemas.openxmlformats.org/officeDocument/2006/relationships/theme" Target="theme/theme1.xml"/><Relationship Id="rId9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826"/>
        </a:solidFill>
      </p:bgPr>
    </p:bg>
    <p:spTree>
      <p:nvGrpSpPr>
        <p:cNvPr id="1" name=""/>
        <p:cNvGrpSpPr/>
        <p:nvPr/>
      </p:nvGrpSpPr>
      <p:grpSpPr>
        <a:xfrm>
          <a:off x="0" y="0"/>
          <a:ext cx="0" cy="0"/>
          <a:chOff x="0" y="0"/>
          <a:chExt cx="0" cy="0"/>
        </a:xfrm>
      </p:grpSpPr>
      <p:sp>
        <p:nvSpPr>
          <p:cNvPr id="2" name="Shape 0"/>
          <p:cNvSpPr/>
          <p:nvPr/>
        </p:nvSpPr>
        <p:spPr>
          <a:xfrm>
            <a:off x="8778240" y="3566160"/>
            <a:ext cx="4754880" cy="4754880"/>
          </a:xfrm>
          <a:prstGeom prst="ellipse">
            <a:avLst/>
          </a:prstGeom>
          <a:solidFill>
            <a:srgbClr val="163A5C">
              <a:alpha val="60000"/>
            </a:srgbClr>
          </a:solidFill>
          <a:ln/>
        </p:spPr>
      </p:sp>
      <p:sp>
        <p:nvSpPr>
          <p:cNvPr id="3" name="Shape 1"/>
          <p:cNvSpPr/>
          <p:nvPr/>
        </p:nvSpPr>
        <p:spPr>
          <a:xfrm>
            <a:off x="9692640" y="4480560"/>
            <a:ext cx="2926080" cy="2926080"/>
          </a:xfrm>
          <a:prstGeom prst="ellipse">
            <a:avLst/>
          </a:prstGeom>
          <a:solidFill>
            <a:srgbClr val="12B5CB">
              <a:alpha val="22000"/>
            </a:srgbClr>
          </a:solidFill>
          <a:ln/>
        </p:spPr>
      </p:sp>
      <p:sp>
        <p:nvSpPr>
          <p:cNvPr id="4" name="Shape 2"/>
          <p:cNvSpPr/>
          <p:nvPr/>
        </p:nvSpPr>
        <p:spPr>
          <a:xfrm>
            <a:off x="10332720" y="5120640"/>
            <a:ext cx="1645920" cy="1645920"/>
          </a:xfrm>
          <a:prstGeom prst="ellipse">
            <a:avLst/>
          </a:prstGeom>
          <a:solidFill>
            <a:srgbClr val="E8934C">
              <a:alpha val="30000"/>
            </a:srgbClr>
          </a:solidFill>
          <a:ln/>
        </p:spPr>
      </p:sp>
      <p:sp>
        <p:nvSpPr>
          <p:cNvPr id="5" name="Text 3"/>
          <p:cNvSpPr/>
          <p:nvPr/>
        </p:nvSpPr>
        <p:spPr>
          <a:xfrm>
            <a:off x="548640" y="1371600"/>
            <a:ext cx="7315200" cy="365760"/>
          </a:xfrm>
          <a:prstGeom prst="rect">
            <a:avLst/>
          </a:prstGeom>
          <a:noFill/>
          <a:ln/>
        </p:spPr>
        <p:txBody>
          <a:bodyPr wrap="square" lIns="0" tIns="0" rIns="0" bIns="0" rtlCol="0" anchor="ctr"/>
          <a:lstStyle/>
          <a:p>
            <a:pPr indent="0" marL="0">
              <a:buNone/>
            </a:pPr>
            <a:r>
              <a:rPr lang="en-US" sz="1300" b="1" spc="300" kern="0" dirty="0">
                <a:solidFill>
                  <a:srgbClr val="12B5CB"/>
                </a:solidFill>
                <a:latin typeface="Calibri" pitchFamily="34" charset="0"/>
                <a:ea typeface="Calibri" pitchFamily="34" charset="-122"/>
                <a:cs typeface="Calibri" pitchFamily="34" charset="-120"/>
              </a:rPr>
              <a:t>AN EXECUTIVE OVERVIEW</a:t>
            </a:r>
            <a:endParaRPr lang="en-US" sz="1300" dirty="0"/>
          </a:p>
        </p:txBody>
      </p:sp>
      <p:sp>
        <p:nvSpPr>
          <p:cNvPr id="6" name="Text 4"/>
          <p:cNvSpPr/>
          <p:nvPr/>
        </p:nvSpPr>
        <p:spPr>
          <a:xfrm>
            <a:off x="548640" y="1783080"/>
            <a:ext cx="9875520" cy="1828800"/>
          </a:xfrm>
          <a:prstGeom prst="rect">
            <a:avLst/>
          </a:prstGeom>
          <a:noFill/>
          <a:ln/>
        </p:spPr>
        <p:txBody>
          <a:bodyPr wrap="square" lIns="0" tIns="0" rIns="0" bIns="0" rtlCol="0" anchor="ctr"/>
          <a:lstStyle/>
          <a:p>
            <a:pPr indent="0" marL="0">
              <a:lnSpc>
                <a:spcPts val="5200"/>
              </a:lnSpc>
              <a:buNone/>
            </a:pPr>
            <a:r>
              <a:rPr lang="en-US" sz="5000" b="1" dirty="0">
                <a:solidFill>
                  <a:srgbClr val="FFFFFF"/>
                </a:solidFill>
                <a:latin typeface="Cambria" pitchFamily="34" charset="0"/>
                <a:ea typeface="Cambria" pitchFamily="34" charset="-122"/>
                <a:cs typeface="Cambria" pitchFamily="34" charset="-120"/>
              </a:rPr>
              <a:t>Information Technology</a:t>
            </a:r>
            <a:endParaRPr lang="en-US" sz="5000" dirty="0"/>
          </a:p>
        </p:txBody>
      </p:sp>
      <p:sp>
        <p:nvSpPr>
          <p:cNvPr id="7" name="Text 5"/>
          <p:cNvSpPr/>
          <p:nvPr/>
        </p:nvSpPr>
        <p:spPr>
          <a:xfrm>
            <a:off x="548640" y="3611880"/>
            <a:ext cx="8595360" cy="914400"/>
          </a:xfrm>
          <a:prstGeom prst="rect">
            <a:avLst/>
          </a:prstGeom>
          <a:noFill/>
          <a:ln/>
        </p:spPr>
        <p:txBody>
          <a:bodyPr wrap="square" lIns="0" tIns="0" rIns="0" bIns="0" rtlCol="0" anchor="ctr"/>
          <a:lstStyle/>
          <a:p>
            <a:pPr indent="0" marL="0">
              <a:lnSpc>
                <a:spcPts val="2400"/>
              </a:lnSpc>
              <a:buNone/>
            </a:pPr>
            <a:r>
              <a:rPr lang="en-US" sz="1700" dirty="0">
                <a:solidFill>
                  <a:srgbClr val="9FB6C9"/>
                </a:solidFill>
                <a:latin typeface="Calibri" pitchFamily="34" charset="0"/>
                <a:ea typeface="Calibri" pitchFamily="34" charset="-122"/>
                <a:cs typeface="Calibri" pitchFamily="34" charset="-120"/>
              </a:rPr>
              <a:t>How computing, networks, enterprise systems and data disciplines power the modern organization.</a:t>
            </a:r>
            <a:endParaRPr lang="en-US" sz="1700" dirty="0"/>
          </a:p>
        </p:txBody>
      </p:sp>
      <p:sp>
        <p:nvSpPr>
          <p:cNvPr id="8" name="Text 6"/>
          <p:cNvSpPr/>
          <p:nvPr/>
        </p:nvSpPr>
        <p:spPr>
          <a:xfrm>
            <a:off x="548640" y="5989320"/>
            <a:ext cx="9144000" cy="365760"/>
          </a:xfrm>
          <a:prstGeom prst="rect">
            <a:avLst/>
          </a:prstGeom>
          <a:noFill/>
          <a:ln/>
        </p:spPr>
        <p:txBody>
          <a:bodyPr wrap="square" lIns="0" tIns="0" rIns="0" bIns="0" rtlCol="0" anchor="ctr"/>
          <a:lstStyle/>
          <a:p>
            <a:pPr indent="0" marL="0">
              <a:buNone/>
            </a:pPr>
            <a:r>
              <a:rPr lang="en-US" sz="1100" i="1" dirty="0">
                <a:solidFill>
                  <a:srgbClr val="9FB6C9"/>
                </a:solidFill>
                <a:latin typeface="Calibri" pitchFamily="34" charset="0"/>
                <a:ea typeface="Calibri" pitchFamily="34" charset="-122"/>
                <a:cs typeface="Calibri" pitchFamily="34" charset="-120"/>
              </a:rPr>
              <a:t>A Complete Guide to IT Systems, ERP, Data &amp; Strategic Alignment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9144000" cy="640080"/>
          </a:xfrm>
          <a:prstGeom prst="rect">
            <a:avLst/>
          </a:prstGeom>
          <a:noFill/>
          <a:ln/>
        </p:spPr>
        <p:txBody>
          <a:bodyPr wrap="square" lIns="0" tIns="0" rIns="0" bIns="0" rtlCol="0" anchor="ctr"/>
          <a:lstStyle/>
          <a:p>
            <a:pPr indent="0" marL="0">
              <a:buNone/>
            </a:pPr>
            <a:r>
              <a:rPr lang="en-US" sz="3200" b="1" dirty="0">
                <a:solidFill>
                  <a:srgbClr val="0D2C4B"/>
                </a:solidFill>
                <a:latin typeface="Cambria" pitchFamily="34" charset="0"/>
                <a:ea typeface="Cambria" pitchFamily="34" charset="-122"/>
                <a:cs typeface="Cambria" pitchFamily="34" charset="-120"/>
              </a:rPr>
              <a:t>What We'll Cover</a:t>
            </a:r>
            <a:endParaRPr lang="en-US" sz="3200" dirty="0"/>
          </a:p>
        </p:txBody>
      </p:sp>
      <p:sp>
        <p:nvSpPr>
          <p:cNvPr id="3" name="Text 1"/>
          <p:cNvSpPr/>
          <p:nvPr/>
        </p:nvSpPr>
        <p:spPr>
          <a:xfrm>
            <a:off x="548640" y="1097280"/>
            <a:ext cx="9601200" cy="365760"/>
          </a:xfrm>
          <a:prstGeom prst="rect">
            <a:avLst/>
          </a:prstGeom>
          <a:noFill/>
          <a:ln/>
        </p:spPr>
        <p:txBody>
          <a:bodyPr wrap="square" lIns="0" tIns="0" rIns="0" bIns="0" rtlCol="0" anchor="ctr"/>
          <a:lstStyle/>
          <a:p>
            <a:pPr indent="0" marL="0">
              <a:buNone/>
            </a:pPr>
            <a:r>
              <a:rPr lang="en-US" sz="1300" dirty="0">
                <a:solidFill>
                  <a:srgbClr val="5B6B7C"/>
                </a:solidFill>
                <a:latin typeface="Calibri" pitchFamily="34" charset="0"/>
                <a:ea typeface="Calibri" pitchFamily="34" charset="-122"/>
                <a:cs typeface="Calibri" pitchFamily="34" charset="-120"/>
              </a:rPr>
              <a:t>Ten sections spanning IT foundations through data strategy and governance</a:t>
            </a:r>
            <a:endParaRPr lang="en-US" sz="1300" dirty="0"/>
          </a:p>
        </p:txBody>
      </p:sp>
      <p:sp>
        <p:nvSpPr>
          <p:cNvPr id="4" name="Shape 2"/>
          <p:cNvSpPr/>
          <p:nvPr/>
        </p:nvSpPr>
        <p:spPr>
          <a:xfrm>
            <a:off x="548640" y="1828800"/>
            <a:ext cx="457200" cy="457200"/>
          </a:xfrm>
          <a:prstGeom prst="ellipse">
            <a:avLst/>
          </a:prstGeom>
          <a:solidFill>
            <a:srgbClr val="0D2C4B"/>
          </a:solidFill>
          <a:ln/>
        </p:spPr>
      </p:sp>
      <p:sp>
        <p:nvSpPr>
          <p:cNvPr id="5" name="Text 3"/>
          <p:cNvSpPr/>
          <p:nvPr/>
        </p:nvSpPr>
        <p:spPr>
          <a:xfrm>
            <a:off x="548640" y="18288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6" name="Text 4"/>
          <p:cNvSpPr/>
          <p:nvPr/>
        </p:nvSpPr>
        <p:spPr>
          <a:xfrm>
            <a:off x="1170432" y="1764792"/>
            <a:ext cx="4617720" cy="32004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Foundations of IT</a:t>
            </a:r>
            <a:endParaRPr lang="en-US" sz="1450" dirty="0"/>
          </a:p>
        </p:txBody>
      </p:sp>
      <p:sp>
        <p:nvSpPr>
          <p:cNvPr id="7" name="Text 5"/>
          <p:cNvSpPr/>
          <p:nvPr/>
        </p:nvSpPr>
        <p:spPr>
          <a:xfrm>
            <a:off x="1170432" y="2057400"/>
            <a:ext cx="4617720" cy="411480"/>
          </a:xfrm>
          <a:prstGeom prst="rect">
            <a:avLst/>
          </a:prstGeom>
          <a:noFill/>
          <a:ln/>
        </p:spPr>
        <p:txBody>
          <a:bodyPr wrap="square" lIns="0" tIns="0" rIns="0" bIns="0" rtlCol="0" anchor="ctr"/>
          <a:lstStyle/>
          <a:p>
            <a:pPr indent="0" marL="0">
              <a:lnSpc>
                <a:spcPts val="1300"/>
              </a:lnSpc>
              <a:buNone/>
            </a:pPr>
            <a:r>
              <a:rPr lang="en-US" sz="1050" dirty="0">
                <a:solidFill>
                  <a:srgbClr val="5B6B7C"/>
                </a:solidFill>
                <a:latin typeface="Calibri" pitchFamily="34" charset="0"/>
                <a:ea typeface="Calibri" pitchFamily="34" charset="-122"/>
                <a:cs typeface="Calibri" pitchFamily="34" charset="-120"/>
              </a:rPr>
              <a:t>Core concepts, hardware, software, networks &amp; security</a:t>
            </a:r>
            <a:endParaRPr lang="en-US" sz="1050" dirty="0"/>
          </a:p>
        </p:txBody>
      </p:sp>
      <p:sp>
        <p:nvSpPr>
          <p:cNvPr id="8" name="Shape 6"/>
          <p:cNvSpPr/>
          <p:nvPr/>
        </p:nvSpPr>
        <p:spPr>
          <a:xfrm>
            <a:off x="548640" y="2615184"/>
            <a:ext cx="457200" cy="457200"/>
          </a:xfrm>
          <a:prstGeom prst="ellipse">
            <a:avLst/>
          </a:prstGeom>
          <a:solidFill>
            <a:srgbClr val="0D2C4B"/>
          </a:solidFill>
          <a:ln/>
        </p:spPr>
      </p:sp>
      <p:sp>
        <p:nvSpPr>
          <p:cNvPr id="9" name="Text 7"/>
          <p:cNvSpPr/>
          <p:nvPr/>
        </p:nvSpPr>
        <p:spPr>
          <a:xfrm>
            <a:off x="548640" y="261518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0" name="Text 8"/>
          <p:cNvSpPr/>
          <p:nvPr/>
        </p:nvSpPr>
        <p:spPr>
          <a:xfrm>
            <a:off x="1170432" y="2551176"/>
            <a:ext cx="4617720" cy="32004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IT in Modern Business</a:t>
            </a:r>
            <a:endParaRPr lang="en-US" sz="1450" dirty="0"/>
          </a:p>
        </p:txBody>
      </p:sp>
      <p:sp>
        <p:nvSpPr>
          <p:cNvPr id="11" name="Text 9"/>
          <p:cNvSpPr/>
          <p:nvPr/>
        </p:nvSpPr>
        <p:spPr>
          <a:xfrm>
            <a:off x="1170432" y="2843784"/>
            <a:ext cx="4617720" cy="411480"/>
          </a:xfrm>
          <a:prstGeom prst="rect">
            <a:avLst/>
          </a:prstGeom>
          <a:noFill/>
          <a:ln/>
        </p:spPr>
        <p:txBody>
          <a:bodyPr wrap="square" lIns="0" tIns="0" rIns="0" bIns="0" rtlCol="0" anchor="ctr"/>
          <a:lstStyle/>
          <a:p>
            <a:pPr indent="0" marL="0">
              <a:lnSpc>
                <a:spcPts val="1300"/>
              </a:lnSpc>
              <a:buNone/>
            </a:pPr>
            <a:r>
              <a:rPr lang="en-US" sz="1050" dirty="0">
                <a:solidFill>
                  <a:srgbClr val="5B6B7C"/>
                </a:solidFill>
                <a:latin typeface="Calibri" pitchFamily="34" charset="0"/>
                <a:ea typeface="Calibri" pitchFamily="34" charset="-122"/>
                <a:cs typeface="Calibri" pitchFamily="34" charset="-120"/>
              </a:rPr>
              <a:t>How technology drives operations and strategy</a:t>
            </a:r>
            <a:endParaRPr lang="en-US" sz="1050" dirty="0"/>
          </a:p>
        </p:txBody>
      </p:sp>
      <p:sp>
        <p:nvSpPr>
          <p:cNvPr id="12" name="Shape 10"/>
          <p:cNvSpPr/>
          <p:nvPr/>
        </p:nvSpPr>
        <p:spPr>
          <a:xfrm>
            <a:off x="548640" y="3401568"/>
            <a:ext cx="457200" cy="457200"/>
          </a:xfrm>
          <a:prstGeom prst="ellipse">
            <a:avLst/>
          </a:prstGeom>
          <a:solidFill>
            <a:srgbClr val="0D2C4B"/>
          </a:solidFill>
          <a:ln/>
        </p:spPr>
      </p:sp>
      <p:sp>
        <p:nvSpPr>
          <p:cNvPr id="13" name="Text 11"/>
          <p:cNvSpPr/>
          <p:nvPr/>
        </p:nvSpPr>
        <p:spPr>
          <a:xfrm>
            <a:off x="548640" y="340156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4" name="Text 12"/>
          <p:cNvSpPr/>
          <p:nvPr/>
        </p:nvSpPr>
        <p:spPr>
          <a:xfrm>
            <a:off x="1170432" y="3337560"/>
            <a:ext cx="4617720" cy="32004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Enterprise Resource Planning</a:t>
            </a:r>
            <a:endParaRPr lang="en-US" sz="1450" dirty="0"/>
          </a:p>
        </p:txBody>
      </p:sp>
      <p:sp>
        <p:nvSpPr>
          <p:cNvPr id="15" name="Text 13"/>
          <p:cNvSpPr/>
          <p:nvPr/>
        </p:nvSpPr>
        <p:spPr>
          <a:xfrm>
            <a:off x="1170432" y="3630168"/>
            <a:ext cx="4617720" cy="411480"/>
          </a:xfrm>
          <a:prstGeom prst="rect">
            <a:avLst/>
          </a:prstGeom>
          <a:noFill/>
          <a:ln/>
        </p:spPr>
        <p:txBody>
          <a:bodyPr wrap="square" lIns="0" tIns="0" rIns="0" bIns="0" rtlCol="0" anchor="ctr"/>
          <a:lstStyle/>
          <a:p>
            <a:pPr indent="0" marL="0">
              <a:lnSpc>
                <a:spcPts val="1300"/>
              </a:lnSpc>
              <a:buNone/>
            </a:pPr>
            <a:r>
              <a:rPr lang="en-US" sz="1050" dirty="0">
                <a:solidFill>
                  <a:srgbClr val="5B6B7C"/>
                </a:solidFill>
                <a:latin typeface="Calibri" pitchFamily="34" charset="0"/>
                <a:ea typeface="Calibri" pitchFamily="34" charset="-122"/>
                <a:cs typeface="Calibri" pitchFamily="34" charset="-120"/>
              </a:rPr>
              <a:t>ERP systems, modules, deployment &amp; benefits</a:t>
            </a:r>
            <a:endParaRPr lang="en-US" sz="1050" dirty="0"/>
          </a:p>
        </p:txBody>
      </p:sp>
      <p:sp>
        <p:nvSpPr>
          <p:cNvPr id="16" name="Shape 14"/>
          <p:cNvSpPr/>
          <p:nvPr/>
        </p:nvSpPr>
        <p:spPr>
          <a:xfrm>
            <a:off x="548640" y="4187952"/>
            <a:ext cx="457200" cy="457200"/>
          </a:xfrm>
          <a:prstGeom prst="ellipse">
            <a:avLst/>
          </a:prstGeom>
          <a:solidFill>
            <a:srgbClr val="0D2C4B"/>
          </a:solidFill>
          <a:ln/>
        </p:spPr>
      </p:sp>
      <p:sp>
        <p:nvSpPr>
          <p:cNvPr id="17" name="Text 15"/>
          <p:cNvSpPr/>
          <p:nvPr/>
        </p:nvSpPr>
        <p:spPr>
          <a:xfrm>
            <a:off x="548640" y="418795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8" name="Text 16"/>
          <p:cNvSpPr/>
          <p:nvPr/>
        </p:nvSpPr>
        <p:spPr>
          <a:xfrm>
            <a:off x="1170432" y="4123944"/>
            <a:ext cx="4617720" cy="32004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Business &amp; IT Strategy</a:t>
            </a:r>
            <a:endParaRPr lang="en-US" sz="1450" dirty="0"/>
          </a:p>
        </p:txBody>
      </p:sp>
      <p:sp>
        <p:nvSpPr>
          <p:cNvPr id="19" name="Text 17"/>
          <p:cNvSpPr/>
          <p:nvPr/>
        </p:nvSpPr>
        <p:spPr>
          <a:xfrm>
            <a:off x="1170432" y="4416552"/>
            <a:ext cx="4617720" cy="411480"/>
          </a:xfrm>
          <a:prstGeom prst="rect">
            <a:avLst/>
          </a:prstGeom>
          <a:noFill/>
          <a:ln/>
        </p:spPr>
        <p:txBody>
          <a:bodyPr wrap="square" lIns="0" tIns="0" rIns="0" bIns="0" rtlCol="0" anchor="ctr"/>
          <a:lstStyle/>
          <a:p>
            <a:pPr indent="0" marL="0">
              <a:lnSpc>
                <a:spcPts val="1300"/>
              </a:lnSpc>
              <a:buNone/>
            </a:pPr>
            <a:r>
              <a:rPr lang="en-US" sz="1050" dirty="0">
                <a:solidFill>
                  <a:srgbClr val="5B6B7C"/>
                </a:solidFill>
                <a:latin typeface="Calibri" pitchFamily="34" charset="0"/>
                <a:ea typeface="Calibri" pitchFamily="34" charset="-122"/>
                <a:cs typeface="Calibri" pitchFamily="34" charset="-120"/>
              </a:rPr>
              <a:t>Aligning technology investment with business goals</a:t>
            </a:r>
            <a:endParaRPr lang="en-US" sz="1050" dirty="0"/>
          </a:p>
        </p:txBody>
      </p:sp>
      <p:sp>
        <p:nvSpPr>
          <p:cNvPr id="20" name="Shape 18"/>
          <p:cNvSpPr/>
          <p:nvPr/>
        </p:nvSpPr>
        <p:spPr>
          <a:xfrm>
            <a:off x="548640" y="4974336"/>
            <a:ext cx="457200" cy="457200"/>
          </a:xfrm>
          <a:prstGeom prst="ellipse">
            <a:avLst/>
          </a:prstGeom>
          <a:solidFill>
            <a:srgbClr val="0D2C4B"/>
          </a:solidFill>
          <a:ln/>
        </p:spPr>
      </p:sp>
      <p:sp>
        <p:nvSpPr>
          <p:cNvPr id="21" name="Text 19"/>
          <p:cNvSpPr/>
          <p:nvPr/>
        </p:nvSpPr>
        <p:spPr>
          <a:xfrm>
            <a:off x="548640" y="49743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2" name="Text 20"/>
          <p:cNvSpPr/>
          <p:nvPr/>
        </p:nvSpPr>
        <p:spPr>
          <a:xfrm>
            <a:off x="1170432" y="4910328"/>
            <a:ext cx="4617720" cy="32004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Data Fundamentals</a:t>
            </a:r>
            <a:endParaRPr lang="en-US" sz="1450" dirty="0"/>
          </a:p>
        </p:txBody>
      </p:sp>
      <p:sp>
        <p:nvSpPr>
          <p:cNvPr id="23" name="Text 21"/>
          <p:cNvSpPr/>
          <p:nvPr/>
        </p:nvSpPr>
        <p:spPr>
          <a:xfrm>
            <a:off x="1170432" y="5202936"/>
            <a:ext cx="4617720" cy="411480"/>
          </a:xfrm>
          <a:prstGeom prst="rect">
            <a:avLst/>
          </a:prstGeom>
          <a:noFill/>
          <a:ln/>
        </p:spPr>
        <p:txBody>
          <a:bodyPr wrap="square" lIns="0" tIns="0" rIns="0" bIns="0" rtlCol="0" anchor="ctr"/>
          <a:lstStyle/>
          <a:p>
            <a:pPr indent="0" marL="0">
              <a:lnSpc>
                <a:spcPts val="1300"/>
              </a:lnSpc>
              <a:buNone/>
            </a:pPr>
            <a:r>
              <a:rPr lang="en-US" sz="1050" dirty="0">
                <a:solidFill>
                  <a:srgbClr val="5B6B7C"/>
                </a:solidFill>
                <a:latin typeface="Calibri" pitchFamily="34" charset="0"/>
                <a:ea typeface="Calibri" pitchFamily="34" charset="-122"/>
                <a:cs typeface="Calibri" pitchFamily="34" charset="-120"/>
              </a:rPr>
              <a:t>Data types, sources, collection &amp; lifecycle</a:t>
            </a:r>
            <a:endParaRPr lang="en-US" sz="1050" dirty="0"/>
          </a:p>
        </p:txBody>
      </p:sp>
      <p:sp>
        <p:nvSpPr>
          <p:cNvPr id="24" name="Shape 22"/>
          <p:cNvSpPr/>
          <p:nvPr/>
        </p:nvSpPr>
        <p:spPr>
          <a:xfrm>
            <a:off x="6355080" y="1828800"/>
            <a:ext cx="457200" cy="457200"/>
          </a:xfrm>
          <a:prstGeom prst="ellipse">
            <a:avLst/>
          </a:prstGeom>
          <a:solidFill>
            <a:srgbClr val="0D2C4B"/>
          </a:solidFill>
          <a:ln/>
        </p:spPr>
      </p:sp>
      <p:sp>
        <p:nvSpPr>
          <p:cNvPr id="25" name="Text 23"/>
          <p:cNvSpPr/>
          <p:nvPr/>
        </p:nvSpPr>
        <p:spPr>
          <a:xfrm>
            <a:off x="6355080" y="18288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6" name="Text 24"/>
          <p:cNvSpPr/>
          <p:nvPr/>
        </p:nvSpPr>
        <p:spPr>
          <a:xfrm>
            <a:off x="6976872" y="1764792"/>
            <a:ext cx="4617720" cy="32004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Business Analysis</a:t>
            </a:r>
            <a:endParaRPr lang="en-US" sz="1450" dirty="0"/>
          </a:p>
        </p:txBody>
      </p:sp>
      <p:sp>
        <p:nvSpPr>
          <p:cNvPr id="27" name="Text 25"/>
          <p:cNvSpPr/>
          <p:nvPr/>
        </p:nvSpPr>
        <p:spPr>
          <a:xfrm>
            <a:off x="6976872" y="2057400"/>
            <a:ext cx="4617720" cy="411480"/>
          </a:xfrm>
          <a:prstGeom prst="rect">
            <a:avLst/>
          </a:prstGeom>
          <a:noFill/>
          <a:ln/>
        </p:spPr>
        <p:txBody>
          <a:bodyPr wrap="square" lIns="0" tIns="0" rIns="0" bIns="0" rtlCol="0" anchor="ctr"/>
          <a:lstStyle/>
          <a:p>
            <a:pPr indent="0" marL="0">
              <a:lnSpc>
                <a:spcPts val="1300"/>
              </a:lnSpc>
              <a:buNone/>
            </a:pPr>
            <a:r>
              <a:rPr lang="en-US" sz="1050" dirty="0">
                <a:solidFill>
                  <a:srgbClr val="5B6B7C"/>
                </a:solidFill>
                <a:latin typeface="Calibri" pitchFamily="34" charset="0"/>
                <a:ea typeface="Calibri" pitchFamily="34" charset="-122"/>
                <a:cs typeface="Calibri" pitchFamily="34" charset="-120"/>
              </a:rPr>
              <a:t>The BA role, methodologies &amp; delivery approaches</a:t>
            </a:r>
            <a:endParaRPr lang="en-US" sz="1050" dirty="0"/>
          </a:p>
        </p:txBody>
      </p:sp>
      <p:sp>
        <p:nvSpPr>
          <p:cNvPr id="28" name="Shape 26"/>
          <p:cNvSpPr/>
          <p:nvPr/>
        </p:nvSpPr>
        <p:spPr>
          <a:xfrm>
            <a:off x="6355080" y="2615184"/>
            <a:ext cx="457200" cy="457200"/>
          </a:xfrm>
          <a:prstGeom prst="ellipse">
            <a:avLst/>
          </a:prstGeom>
          <a:solidFill>
            <a:srgbClr val="0D2C4B"/>
          </a:solidFill>
          <a:ln/>
        </p:spPr>
      </p:sp>
      <p:sp>
        <p:nvSpPr>
          <p:cNvPr id="29" name="Text 27"/>
          <p:cNvSpPr/>
          <p:nvPr/>
        </p:nvSpPr>
        <p:spPr>
          <a:xfrm>
            <a:off x="6355080" y="261518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30" name="Text 28"/>
          <p:cNvSpPr/>
          <p:nvPr/>
        </p:nvSpPr>
        <p:spPr>
          <a:xfrm>
            <a:off x="6976872" y="2551176"/>
            <a:ext cx="4617720" cy="32004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Stakeholder Management</a:t>
            </a:r>
            <a:endParaRPr lang="en-US" sz="1450" dirty="0"/>
          </a:p>
        </p:txBody>
      </p:sp>
      <p:sp>
        <p:nvSpPr>
          <p:cNvPr id="31" name="Text 29"/>
          <p:cNvSpPr/>
          <p:nvPr/>
        </p:nvSpPr>
        <p:spPr>
          <a:xfrm>
            <a:off x="6976872" y="2843784"/>
            <a:ext cx="4617720" cy="411480"/>
          </a:xfrm>
          <a:prstGeom prst="rect">
            <a:avLst/>
          </a:prstGeom>
          <a:noFill/>
          <a:ln/>
        </p:spPr>
        <p:txBody>
          <a:bodyPr wrap="square" lIns="0" tIns="0" rIns="0" bIns="0" rtlCol="0" anchor="ctr"/>
          <a:lstStyle/>
          <a:p>
            <a:pPr indent="0" marL="0">
              <a:lnSpc>
                <a:spcPts val="1300"/>
              </a:lnSpc>
              <a:buNone/>
            </a:pPr>
            <a:r>
              <a:rPr lang="en-US" sz="1050" dirty="0">
                <a:solidFill>
                  <a:srgbClr val="5B6B7C"/>
                </a:solidFill>
                <a:latin typeface="Calibri" pitchFamily="34" charset="0"/>
                <a:ea typeface="Calibri" pitchFamily="34" charset="-122"/>
                <a:cs typeface="Calibri" pitchFamily="34" charset="-120"/>
              </a:rPr>
              <a:t>Engaging the people who shape project success</a:t>
            </a:r>
            <a:endParaRPr lang="en-US" sz="1050" dirty="0"/>
          </a:p>
        </p:txBody>
      </p:sp>
      <p:sp>
        <p:nvSpPr>
          <p:cNvPr id="32" name="Shape 30"/>
          <p:cNvSpPr/>
          <p:nvPr/>
        </p:nvSpPr>
        <p:spPr>
          <a:xfrm>
            <a:off x="6355080" y="3401568"/>
            <a:ext cx="457200" cy="457200"/>
          </a:xfrm>
          <a:prstGeom prst="ellipse">
            <a:avLst/>
          </a:prstGeom>
          <a:solidFill>
            <a:srgbClr val="0D2C4B"/>
          </a:solidFill>
          <a:ln/>
        </p:spPr>
      </p:sp>
      <p:sp>
        <p:nvSpPr>
          <p:cNvPr id="33" name="Text 31"/>
          <p:cNvSpPr/>
          <p:nvPr/>
        </p:nvSpPr>
        <p:spPr>
          <a:xfrm>
            <a:off x="6355080" y="340156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34" name="Text 32"/>
          <p:cNvSpPr/>
          <p:nvPr/>
        </p:nvSpPr>
        <p:spPr>
          <a:xfrm>
            <a:off x="6976872" y="3337560"/>
            <a:ext cx="4617720" cy="32004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Scenario Analysis</a:t>
            </a:r>
            <a:endParaRPr lang="en-US" sz="1450" dirty="0"/>
          </a:p>
        </p:txBody>
      </p:sp>
      <p:sp>
        <p:nvSpPr>
          <p:cNvPr id="35" name="Text 33"/>
          <p:cNvSpPr/>
          <p:nvPr/>
        </p:nvSpPr>
        <p:spPr>
          <a:xfrm>
            <a:off x="6976872" y="3630168"/>
            <a:ext cx="4617720" cy="411480"/>
          </a:xfrm>
          <a:prstGeom prst="rect">
            <a:avLst/>
          </a:prstGeom>
          <a:noFill/>
          <a:ln/>
        </p:spPr>
        <p:txBody>
          <a:bodyPr wrap="square" lIns="0" tIns="0" rIns="0" bIns="0" rtlCol="0" anchor="ctr"/>
          <a:lstStyle/>
          <a:p>
            <a:pPr indent="0" marL="0">
              <a:lnSpc>
                <a:spcPts val="1300"/>
              </a:lnSpc>
              <a:buNone/>
            </a:pPr>
            <a:r>
              <a:rPr lang="en-US" sz="1050" dirty="0">
                <a:solidFill>
                  <a:srgbClr val="5B6B7C"/>
                </a:solidFill>
                <a:latin typeface="Calibri" pitchFamily="34" charset="0"/>
                <a:ea typeface="Calibri" pitchFamily="34" charset="-122"/>
                <a:cs typeface="Calibri" pitchFamily="34" charset="-120"/>
              </a:rPr>
              <a:t>Planning for best, likely &amp; worst-case futures</a:t>
            </a:r>
            <a:endParaRPr lang="en-US" sz="1050" dirty="0"/>
          </a:p>
        </p:txBody>
      </p:sp>
      <p:sp>
        <p:nvSpPr>
          <p:cNvPr id="36" name="Shape 34"/>
          <p:cNvSpPr/>
          <p:nvPr/>
        </p:nvSpPr>
        <p:spPr>
          <a:xfrm>
            <a:off x="6355080" y="4187952"/>
            <a:ext cx="457200" cy="457200"/>
          </a:xfrm>
          <a:prstGeom prst="ellipse">
            <a:avLst/>
          </a:prstGeom>
          <a:solidFill>
            <a:srgbClr val="0D2C4B"/>
          </a:solidFill>
          <a:ln/>
        </p:spPr>
      </p:sp>
      <p:sp>
        <p:nvSpPr>
          <p:cNvPr id="37" name="Text 35"/>
          <p:cNvSpPr/>
          <p:nvPr/>
        </p:nvSpPr>
        <p:spPr>
          <a:xfrm>
            <a:off x="6355080" y="418795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09</a:t>
            </a:r>
            <a:endParaRPr lang="en-US" sz="1200" dirty="0"/>
          </a:p>
        </p:txBody>
      </p:sp>
      <p:sp>
        <p:nvSpPr>
          <p:cNvPr id="38" name="Text 36"/>
          <p:cNvSpPr/>
          <p:nvPr/>
        </p:nvSpPr>
        <p:spPr>
          <a:xfrm>
            <a:off x="6976872" y="4123944"/>
            <a:ext cx="4617720" cy="32004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Data Governance &amp; Ethics</a:t>
            </a:r>
            <a:endParaRPr lang="en-US" sz="1450" dirty="0"/>
          </a:p>
        </p:txBody>
      </p:sp>
      <p:sp>
        <p:nvSpPr>
          <p:cNvPr id="39" name="Text 37"/>
          <p:cNvSpPr/>
          <p:nvPr/>
        </p:nvSpPr>
        <p:spPr>
          <a:xfrm>
            <a:off x="6976872" y="4416552"/>
            <a:ext cx="4617720" cy="411480"/>
          </a:xfrm>
          <a:prstGeom prst="rect">
            <a:avLst/>
          </a:prstGeom>
          <a:noFill/>
          <a:ln/>
        </p:spPr>
        <p:txBody>
          <a:bodyPr wrap="square" lIns="0" tIns="0" rIns="0" bIns="0" rtlCol="0" anchor="ctr"/>
          <a:lstStyle/>
          <a:p>
            <a:pPr indent="0" marL="0">
              <a:lnSpc>
                <a:spcPts val="1300"/>
              </a:lnSpc>
              <a:buNone/>
            </a:pPr>
            <a:r>
              <a:rPr lang="en-US" sz="1050" dirty="0">
                <a:solidFill>
                  <a:srgbClr val="5B6B7C"/>
                </a:solidFill>
                <a:latin typeface="Calibri" pitchFamily="34" charset="0"/>
                <a:ea typeface="Calibri" pitchFamily="34" charset="-122"/>
                <a:cs typeface="Calibri" pitchFamily="34" charset="-120"/>
              </a:rPr>
              <a:t>Trustworthy, responsible use of organizational data</a:t>
            </a:r>
            <a:endParaRPr lang="en-US" sz="1050" dirty="0"/>
          </a:p>
        </p:txBody>
      </p:sp>
      <p:sp>
        <p:nvSpPr>
          <p:cNvPr id="40" name="Shape 38"/>
          <p:cNvSpPr/>
          <p:nvPr/>
        </p:nvSpPr>
        <p:spPr>
          <a:xfrm>
            <a:off x="6355080" y="4974336"/>
            <a:ext cx="457200" cy="457200"/>
          </a:xfrm>
          <a:prstGeom prst="ellipse">
            <a:avLst/>
          </a:prstGeom>
          <a:solidFill>
            <a:srgbClr val="0D2C4B"/>
          </a:solidFill>
          <a:ln/>
        </p:spPr>
      </p:sp>
      <p:sp>
        <p:nvSpPr>
          <p:cNvPr id="41" name="Text 39"/>
          <p:cNvSpPr/>
          <p:nvPr/>
        </p:nvSpPr>
        <p:spPr>
          <a:xfrm>
            <a:off x="6355080" y="49743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42" name="Text 40"/>
          <p:cNvSpPr/>
          <p:nvPr/>
        </p:nvSpPr>
        <p:spPr>
          <a:xfrm>
            <a:off x="6976872" y="4910328"/>
            <a:ext cx="4617720" cy="32004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Data Privacy Regulation</a:t>
            </a:r>
            <a:endParaRPr lang="en-US" sz="1450" dirty="0"/>
          </a:p>
        </p:txBody>
      </p:sp>
      <p:sp>
        <p:nvSpPr>
          <p:cNvPr id="43" name="Text 41"/>
          <p:cNvSpPr/>
          <p:nvPr/>
        </p:nvSpPr>
        <p:spPr>
          <a:xfrm>
            <a:off x="6976872" y="5202936"/>
            <a:ext cx="4617720" cy="411480"/>
          </a:xfrm>
          <a:prstGeom prst="rect">
            <a:avLst/>
          </a:prstGeom>
          <a:noFill/>
          <a:ln/>
        </p:spPr>
        <p:txBody>
          <a:bodyPr wrap="square" lIns="0" tIns="0" rIns="0" bIns="0" rtlCol="0" anchor="ctr"/>
          <a:lstStyle/>
          <a:p>
            <a:pPr indent="0" marL="0">
              <a:lnSpc>
                <a:spcPts val="1300"/>
              </a:lnSpc>
              <a:buNone/>
            </a:pPr>
            <a:r>
              <a:rPr lang="en-US" sz="1050" dirty="0">
                <a:solidFill>
                  <a:srgbClr val="5B6B7C"/>
                </a:solidFill>
                <a:latin typeface="Calibri" pitchFamily="34" charset="0"/>
                <a:ea typeface="Calibri" pitchFamily="34" charset="-122"/>
                <a:cs typeface="Calibri" pitchFamily="34" charset="-120"/>
              </a:rPr>
              <a:t>GDPR and CCPA compared</a:t>
            </a:r>
            <a:endParaRPr lang="en-US" sz="1050" dirty="0"/>
          </a:p>
        </p:txBody>
      </p:sp>
      <p:sp>
        <p:nvSpPr>
          <p:cNvPr id="44" name="Text 4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INFORMATION TECHNOLOGY</a:t>
            </a:r>
            <a:endParaRPr lang="en-US" sz="900" dirty="0"/>
          </a:p>
        </p:txBody>
      </p:sp>
      <p:sp>
        <p:nvSpPr>
          <p:cNvPr id="45" name="Text 4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826"/>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63A5C">
              <a:alpha val="65000"/>
            </a:srgbClr>
          </a:solidFill>
          <a:ln/>
        </p:spPr>
      </p:sp>
      <p:sp>
        <p:nvSpPr>
          <p:cNvPr id="3" name="Shape 1"/>
          <p:cNvSpPr/>
          <p:nvPr/>
        </p:nvSpPr>
        <p:spPr>
          <a:xfrm>
            <a:off x="-1280160" y="4937760"/>
            <a:ext cx="3291840" cy="3291840"/>
          </a:xfrm>
          <a:prstGeom prst="ellipse">
            <a:avLst/>
          </a:prstGeom>
          <a:solidFill>
            <a:srgbClr val="12B5CB">
              <a:alpha val="18000"/>
            </a:srgbClr>
          </a:solidFill>
          <a:ln/>
        </p:spPr>
      </p:sp>
      <p:sp>
        <p:nvSpPr>
          <p:cNvPr id="4" name="Text 2"/>
          <p:cNvSpPr/>
          <p:nvPr/>
        </p:nvSpPr>
        <p:spPr>
          <a:xfrm>
            <a:off x="548640" y="1965960"/>
            <a:ext cx="3657600" cy="1463040"/>
          </a:xfrm>
          <a:prstGeom prst="rect">
            <a:avLst/>
          </a:prstGeom>
          <a:noFill/>
          <a:ln/>
        </p:spPr>
        <p:txBody>
          <a:bodyPr wrap="square" lIns="0" tIns="0" rIns="0" bIns="0" rtlCol="0" anchor="ctr"/>
          <a:lstStyle/>
          <a:p>
            <a:pPr indent="0" marL="0">
              <a:buNone/>
            </a:pPr>
            <a:r>
              <a:rPr lang="en-US" sz="9000" b="1" dirty="0">
                <a:solidFill>
                  <a:srgbClr val="12B5CB"/>
                </a:solidFill>
                <a:latin typeface="Cambria" pitchFamily="34" charset="0"/>
                <a:ea typeface="Cambria" pitchFamily="34" charset="-122"/>
                <a:cs typeface="Cambria" pitchFamily="34" charset="-120"/>
              </a:rPr>
              <a:t>01</a:t>
            </a:r>
            <a:endParaRPr lang="en-US" sz="9000" dirty="0"/>
          </a:p>
        </p:txBody>
      </p:sp>
      <p:sp>
        <p:nvSpPr>
          <p:cNvPr id="5" name="Text 3"/>
          <p:cNvSpPr/>
          <p:nvPr/>
        </p:nvSpPr>
        <p:spPr>
          <a:xfrm>
            <a:off x="548640" y="3429000"/>
            <a:ext cx="9601200" cy="1188720"/>
          </a:xfrm>
          <a:prstGeom prst="rect">
            <a:avLst/>
          </a:prstGeom>
          <a:noFill/>
          <a:ln/>
        </p:spPr>
        <p:txBody>
          <a:bodyPr wrap="square" lIns="0" tIns="0" rIns="0" bIns="0"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Foundations of Information Technology</a:t>
            </a:r>
            <a:endParaRPr lang="en-US" sz="3400" dirty="0"/>
          </a:p>
        </p:txBody>
      </p:sp>
      <p:sp>
        <p:nvSpPr>
          <p:cNvPr id="6" name="Text 4"/>
          <p:cNvSpPr/>
          <p:nvPr/>
        </p:nvSpPr>
        <p:spPr>
          <a:xfrm>
            <a:off x="548640" y="4526280"/>
            <a:ext cx="8412480" cy="731520"/>
          </a:xfrm>
          <a:prstGeom prst="rect">
            <a:avLst/>
          </a:prstGeom>
          <a:noFill/>
          <a:ln/>
        </p:spPr>
        <p:txBody>
          <a:bodyPr wrap="square" lIns="0" tIns="0" rIns="0" bIns="0" rtlCol="0" anchor="ctr"/>
          <a:lstStyle/>
          <a:p>
            <a:pPr indent="0" marL="0">
              <a:lnSpc>
                <a:spcPts val="1900"/>
              </a:lnSpc>
              <a:buNone/>
            </a:pPr>
            <a:r>
              <a:rPr lang="en-US" sz="1400" dirty="0">
                <a:solidFill>
                  <a:srgbClr val="9FB6C9"/>
                </a:solidFill>
                <a:latin typeface="Calibri" pitchFamily="34" charset="0"/>
                <a:ea typeface="Calibri" pitchFamily="34" charset="-122"/>
                <a:cs typeface="Calibri" pitchFamily="34" charset="-120"/>
              </a:rPr>
              <a:t>What IT is, how it's built, and the core systems every organization depends on.</a:t>
            </a:r>
            <a:endParaRPr lang="en-US" sz="1400" dirty="0"/>
          </a:p>
        </p:txBody>
      </p:sp>
      <p:sp>
        <p:nvSpPr>
          <p:cNvPr id="7" name="Text 5"/>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9FB6C9"/>
                </a:solidFill>
                <a:latin typeface="Calibri" pitchFamily="34" charset="0"/>
                <a:ea typeface="Calibri" pitchFamily="34" charset="-122"/>
                <a:cs typeface="Calibri" pitchFamily="34" charset="-120"/>
              </a:rPr>
              <a:t>FOUNDATIONS OF INFORMATION TECHNOLOGY</a:t>
            </a:r>
            <a:endParaRPr lang="en-US" sz="900" dirty="0"/>
          </a:p>
        </p:txBody>
      </p:sp>
      <p:sp>
        <p:nvSpPr>
          <p:cNvPr id="8" name="Text 6"/>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9FB6C9"/>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FOUNDATIONS OF IT</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What Is Information Technology?</a:t>
            </a:r>
            <a:endParaRPr lang="en-US" sz="2700" dirty="0"/>
          </a:p>
        </p:txBody>
      </p:sp>
      <p:sp>
        <p:nvSpPr>
          <p:cNvPr id="4" name="Shape 2"/>
          <p:cNvSpPr/>
          <p:nvPr/>
        </p:nvSpPr>
        <p:spPr>
          <a:xfrm>
            <a:off x="548640" y="1691640"/>
            <a:ext cx="5257800" cy="3291840"/>
          </a:xfrm>
          <a:prstGeom prst="roundRect">
            <a:avLst>
              <a:gd name="adj" fmla="val 2222"/>
            </a:avLst>
          </a:prstGeom>
          <a:solidFill>
            <a:srgbClr val="F2F6F9"/>
          </a:solidFill>
          <a:ln/>
        </p:spPr>
      </p:sp>
      <p:sp>
        <p:nvSpPr>
          <p:cNvPr id="5" name="Shape 3"/>
          <p:cNvSpPr/>
          <p:nvPr/>
        </p:nvSpPr>
        <p:spPr>
          <a:xfrm>
            <a:off x="548640" y="1691640"/>
            <a:ext cx="5257800" cy="566928"/>
          </a:xfrm>
          <a:prstGeom prst="roundRect">
            <a:avLst>
              <a:gd name="adj" fmla="val 12903"/>
            </a:avLst>
          </a:prstGeom>
          <a:solidFill>
            <a:srgbClr val="0D2C4B"/>
          </a:solidFill>
          <a:ln/>
        </p:spPr>
      </p:sp>
      <p:sp>
        <p:nvSpPr>
          <p:cNvPr id="6" name="Shape 4"/>
          <p:cNvSpPr/>
          <p:nvPr/>
        </p:nvSpPr>
        <p:spPr>
          <a:xfrm>
            <a:off x="548640" y="2011680"/>
            <a:ext cx="5257800" cy="246888"/>
          </a:xfrm>
          <a:prstGeom prst="rect">
            <a:avLst/>
          </a:prstGeom>
          <a:solidFill>
            <a:srgbClr val="0D2C4B"/>
          </a:solidFill>
          <a:ln/>
        </p:spPr>
      </p:sp>
      <p:sp>
        <p:nvSpPr>
          <p:cNvPr id="7" name="Text 5"/>
          <p:cNvSpPr/>
          <p:nvPr/>
        </p:nvSpPr>
        <p:spPr>
          <a:xfrm>
            <a:off x="822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Information Technology (IT)</a:t>
            </a:r>
            <a:endParaRPr lang="en-US" sz="1550" dirty="0"/>
          </a:p>
        </p:txBody>
      </p:sp>
      <p:sp>
        <p:nvSpPr>
          <p:cNvPr id="8" name="Text 6"/>
          <p:cNvSpPr/>
          <p:nvPr/>
        </p:nvSpPr>
        <p:spPr>
          <a:xfrm>
            <a:off x="822960" y="2468880"/>
            <a:ext cx="4709160" cy="2286000"/>
          </a:xfrm>
          <a:prstGeom prst="rect">
            <a:avLst/>
          </a:prstGeom>
          <a:noFill/>
          <a:ln/>
        </p:spPr>
        <p:txBody>
          <a:bodyPr wrap="square" lIns="0" tIns="0" rIns="0" bIns="0" rtlCol="0" anchor="ctr"/>
          <a:lstStyle/>
          <a:p>
            <a:pPr indent="0" marL="0">
              <a:lnSpc>
                <a:spcPts val="1700"/>
              </a:lnSpc>
              <a:buNone/>
            </a:pPr>
            <a:r>
              <a:rPr lang="en-US" sz="1250" dirty="0">
                <a:solidFill>
                  <a:srgbClr val="1C2B39"/>
                </a:solidFill>
                <a:latin typeface="Calibri" pitchFamily="34" charset="0"/>
                <a:ea typeface="Calibri" pitchFamily="34" charset="-122"/>
                <a:cs typeface="Calibri" pitchFamily="34" charset="-120"/>
              </a:rPr>
              <a:t>The use of computers, software, networks, and other digital systems to store, process, transmit, and manage information across an organization.</a:t>
            </a:r>
            <a:endParaRPr lang="en-US" sz="1250" dirty="0"/>
          </a:p>
        </p:txBody>
      </p:sp>
      <p:sp>
        <p:nvSpPr>
          <p:cNvPr id="9" name="Shape 7"/>
          <p:cNvSpPr/>
          <p:nvPr/>
        </p:nvSpPr>
        <p:spPr>
          <a:xfrm>
            <a:off x="6263640" y="1691640"/>
            <a:ext cx="5257800" cy="3291840"/>
          </a:xfrm>
          <a:prstGeom prst="roundRect">
            <a:avLst>
              <a:gd name="adj" fmla="val 2222"/>
            </a:avLst>
          </a:prstGeom>
          <a:solidFill>
            <a:srgbClr val="F2F6F9"/>
          </a:solidFill>
          <a:ln/>
        </p:spPr>
      </p:sp>
      <p:sp>
        <p:nvSpPr>
          <p:cNvPr id="10" name="Shape 8"/>
          <p:cNvSpPr/>
          <p:nvPr/>
        </p:nvSpPr>
        <p:spPr>
          <a:xfrm>
            <a:off x="6263640" y="1691640"/>
            <a:ext cx="5257800" cy="566928"/>
          </a:xfrm>
          <a:prstGeom prst="roundRect">
            <a:avLst>
              <a:gd name="adj" fmla="val 12903"/>
            </a:avLst>
          </a:prstGeom>
          <a:solidFill>
            <a:srgbClr val="0B8A9C"/>
          </a:solidFill>
          <a:ln/>
        </p:spPr>
      </p:sp>
      <p:sp>
        <p:nvSpPr>
          <p:cNvPr id="11" name="Shape 9"/>
          <p:cNvSpPr/>
          <p:nvPr/>
        </p:nvSpPr>
        <p:spPr>
          <a:xfrm>
            <a:off x="6263640" y="2011680"/>
            <a:ext cx="5257800" cy="246888"/>
          </a:xfrm>
          <a:prstGeom prst="rect">
            <a:avLst/>
          </a:prstGeom>
          <a:solidFill>
            <a:srgbClr val="0B8A9C"/>
          </a:solidFill>
          <a:ln/>
        </p:spPr>
      </p:sp>
      <p:sp>
        <p:nvSpPr>
          <p:cNvPr id="12" name="Text 10"/>
          <p:cNvSpPr/>
          <p:nvPr/>
        </p:nvSpPr>
        <p:spPr>
          <a:xfrm>
            <a:off x="6537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IT vs. Computer Science</a:t>
            </a:r>
            <a:endParaRPr lang="en-US" sz="1550" dirty="0"/>
          </a:p>
        </p:txBody>
      </p:sp>
      <p:sp>
        <p:nvSpPr>
          <p:cNvPr id="13" name="Shape 11"/>
          <p:cNvSpPr/>
          <p:nvPr/>
        </p:nvSpPr>
        <p:spPr>
          <a:xfrm>
            <a:off x="6537960" y="2523744"/>
            <a:ext cx="82296" cy="82296"/>
          </a:xfrm>
          <a:prstGeom prst="ellipse">
            <a:avLst/>
          </a:prstGeom>
          <a:solidFill>
            <a:srgbClr val="0B8A9C"/>
          </a:solidFill>
          <a:ln/>
        </p:spPr>
      </p:sp>
      <p:sp>
        <p:nvSpPr>
          <p:cNvPr id="14" name="Text 12"/>
          <p:cNvSpPr/>
          <p:nvPr/>
        </p:nvSpPr>
        <p:spPr>
          <a:xfrm>
            <a:off x="6739128" y="2414016"/>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Information Technology</a:t>
            </a:r>
            <a:endParaRPr lang="en-US" sz="1250" dirty="0"/>
          </a:p>
        </p:txBody>
      </p:sp>
      <p:sp>
        <p:nvSpPr>
          <p:cNvPr id="15" name="Text 13"/>
          <p:cNvSpPr/>
          <p:nvPr/>
        </p:nvSpPr>
        <p:spPr>
          <a:xfrm>
            <a:off x="6739128" y="2651760"/>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The use and management of computer systems, networks, and software to store, process, and share information.</a:t>
            </a:r>
            <a:endParaRPr lang="en-US" sz="1080" dirty="0"/>
          </a:p>
        </p:txBody>
      </p:sp>
      <p:sp>
        <p:nvSpPr>
          <p:cNvPr id="16" name="Shape 14"/>
          <p:cNvSpPr/>
          <p:nvPr/>
        </p:nvSpPr>
        <p:spPr>
          <a:xfrm>
            <a:off x="6537960" y="3182112"/>
            <a:ext cx="82296" cy="82296"/>
          </a:xfrm>
          <a:prstGeom prst="ellipse">
            <a:avLst/>
          </a:prstGeom>
          <a:solidFill>
            <a:srgbClr val="0B8A9C"/>
          </a:solidFill>
          <a:ln/>
        </p:spPr>
      </p:sp>
      <p:sp>
        <p:nvSpPr>
          <p:cNvPr id="17" name="Text 15"/>
          <p:cNvSpPr/>
          <p:nvPr/>
        </p:nvSpPr>
        <p:spPr>
          <a:xfrm>
            <a:off x="6739128" y="3072384"/>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Computer Science</a:t>
            </a:r>
            <a:endParaRPr lang="en-US" sz="1250" dirty="0"/>
          </a:p>
        </p:txBody>
      </p:sp>
      <p:sp>
        <p:nvSpPr>
          <p:cNvPr id="18" name="Text 16"/>
          <p:cNvSpPr/>
          <p:nvPr/>
        </p:nvSpPr>
        <p:spPr>
          <a:xfrm>
            <a:off x="6739128" y="3310128"/>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The study of computation, algorithms, and the design of computer systems and software.</a:t>
            </a:r>
            <a:endParaRPr lang="en-US" sz="1080" dirty="0"/>
          </a:p>
        </p:txBody>
      </p:sp>
      <p:sp>
        <p:nvSpPr>
          <p:cNvPr id="19" name="Text 17"/>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FOUNDATIONS OF IT</a:t>
            </a:r>
            <a:endParaRPr lang="en-US" sz="900" dirty="0"/>
          </a:p>
        </p:txBody>
      </p:sp>
      <p:sp>
        <p:nvSpPr>
          <p:cNvPr id="20" name="Text 18"/>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FOUNDATIONS OF IT</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Why Information Technology Matters</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Automation</a:t>
            </a:r>
            <a:endParaRPr lang="en-US" sz="1350" dirty="0"/>
          </a:p>
        </p:txBody>
      </p:sp>
      <p:sp>
        <p:nvSpPr>
          <p:cNvPr id="7" name="Text 5"/>
          <p:cNvSpPr/>
          <p:nvPr/>
        </p:nvSpPr>
        <p:spPr>
          <a:xfrm>
            <a:off x="1078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Automates repetitive tasks and operations, freeing people for higher-value work.</a:t>
            </a:r>
            <a:endParaRPr lang="en-US" sz="1150" dirty="0"/>
          </a:p>
        </p:txBody>
      </p:sp>
      <p:sp>
        <p:nvSpPr>
          <p:cNvPr id="8" name="Shape 6"/>
          <p:cNvSpPr/>
          <p:nvPr/>
        </p:nvSpPr>
        <p:spPr>
          <a:xfrm>
            <a:off x="548640" y="2642616"/>
            <a:ext cx="384048" cy="384048"/>
          </a:xfrm>
          <a:prstGeom prst="ellipse">
            <a:avLst/>
          </a:prstGeom>
          <a:solidFill>
            <a:srgbClr val="0D2C4B"/>
          </a:solidFill>
          <a:ln/>
        </p:spPr>
      </p:sp>
      <p:sp>
        <p:nvSpPr>
          <p:cNvPr id="9" name="Text 7"/>
          <p:cNvSpPr/>
          <p:nvPr/>
        </p:nvSpPr>
        <p:spPr>
          <a:xfrm>
            <a:off x="548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Efficient Communication</a:t>
            </a:r>
            <a:endParaRPr lang="en-US" sz="1350" dirty="0"/>
          </a:p>
        </p:txBody>
      </p:sp>
      <p:sp>
        <p:nvSpPr>
          <p:cNvPr id="11" name="Text 9"/>
          <p:cNvSpPr/>
          <p:nvPr/>
        </p:nvSpPr>
        <p:spPr>
          <a:xfrm>
            <a:off x="1078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Email, messaging, and video calls connect teams instantly across distance.</a:t>
            </a:r>
            <a:endParaRPr lang="en-US" sz="1150" dirty="0"/>
          </a:p>
        </p:txBody>
      </p:sp>
      <p:sp>
        <p:nvSpPr>
          <p:cNvPr id="12" name="Shape 10"/>
          <p:cNvSpPr/>
          <p:nvPr/>
        </p:nvSpPr>
        <p:spPr>
          <a:xfrm>
            <a:off x="548640" y="3694176"/>
            <a:ext cx="384048" cy="384048"/>
          </a:xfrm>
          <a:prstGeom prst="ellipse">
            <a:avLst/>
          </a:prstGeom>
          <a:solidFill>
            <a:srgbClr val="0D2C4B"/>
          </a:solidFill>
          <a:ln/>
        </p:spPr>
      </p:sp>
      <p:sp>
        <p:nvSpPr>
          <p:cNvPr id="13" name="Text 11"/>
          <p:cNvSpPr/>
          <p:nvPr/>
        </p:nvSpPr>
        <p:spPr>
          <a:xfrm>
            <a:off x="548640" y="3694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78992" y="363016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Data-Driven Decisions</a:t>
            </a:r>
            <a:endParaRPr lang="en-US" sz="1350" dirty="0"/>
          </a:p>
        </p:txBody>
      </p:sp>
      <p:sp>
        <p:nvSpPr>
          <p:cNvPr id="15" name="Text 13"/>
          <p:cNvSpPr/>
          <p:nvPr/>
        </p:nvSpPr>
        <p:spPr>
          <a:xfrm>
            <a:off x="1078992" y="390448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Storage and analysis of data supports faster, better decision-making.</a:t>
            </a:r>
            <a:endParaRPr lang="en-US" sz="1150" dirty="0"/>
          </a:p>
        </p:txBody>
      </p:sp>
      <p:sp>
        <p:nvSpPr>
          <p:cNvPr id="16" name="Shape 14"/>
          <p:cNvSpPr/>
          <p:nvPr/>
        </p:nvSpPr>
        <p:spPr>
          <a:xfrm>
            <a:off x="6263640" y="1591056"/>
            <a:ext cx="384048" cy="384048"/>
          </a:xfrm>
          <a:prstGeom prst="ellipse">
            <a:avLst/>
          </a:prstGeom>
          <a:solidFill>
            <a:srgbClr val="0D2C4B"/>
          </a:solidFill>
          <a:ln/>
        </p:spPr>
      </p:sp>
      <p:sp>
        <p:nvSpPr>
          <p:cNvPr id="17" name="Text 15"/>
          <p:cNvSpPr/>
          <p:nvPr/>
        </p:nvSpPr>
        <p:spPr>
          <a:xfrm>
            <a:off x="6263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6793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Global Connectivity</a:t>
            </a:r>
            <a:endParaRPr lang="en-US" sz="1350" dirty="0"/>
          </a:p>
        </p:txBody>
      </p:sp>
      <p:sp>
        <p:nvSpPr>
          <p:cNvPr id="19" name="Text 17"/>
          <p:cNvSpPr/>
          <p:nvPr/>
        </p:nvSpPr>
        <p:spPr>
          <a:xfrm>
            <a:off x="6793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The internet links people, markets, and organizations worldwide.</a:t>
            </a:r>
            <a:endParaRPr lang="en-US" sz="1150" dirty="0"/>
          </a:p>
        </p:txBody>
      </p:sp>
      <p:sp>
        <p:nvSpPr>
          <p:cNvPr id="20" name="Shape 18"/>
          <p:cNvSpPr/>
          <p:nvPr/>
        </p:nvSpPr>
        <p:spPr>
          <a:xfrm>
            <a:off x="6263640" y="2642616"/>
            <a:ext cx="384048" cy="384048"/>
          </a:xfrm>
          <a:prstGeom prst="ellipse">
            <a:avLst/>
          </a:prstGeom>
          <a:solidFill>
            <a:srgbClr val="0D2C4B"/>
          </a:solidFill>
          <a:ln/>
        </p:spPr>
      </p:sp>
      <p:sp>
        <p:nvSpPr>
          <p:cNvPr id="21" name="Text 19"/>
          <p:cNvSpPr/>
          <p:nvPr/>
        </p:nvSpPr>
        <p:spPr>
          <a:xfrm>
            <a:off x="6263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p:nvPr/>
        </p:nvSpPr>
        <p:spPr>
          <a:xfrm>
            <a:off x="6793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Innovation</a:t>
            </a:r>
            <a:endParaRPr lang="en-US" sz="1350" dirty="0"/>
          </a:p>
        </p:txBody>
      </p:sp>
      <p:sp>
        <p:nvSpPr>
          <p:cNvPr id="23" name="Text 21"/>
          <p:cNvSpPr/>
          <p:nvPr/>
        </p:nvSpPr>
        <p:spPr>
          <a:xfrm>
            <a:off x="6793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Drives progress in healthcare, finance, education, and entertainment.</a:t>
            </a:r>
            <a:endParaRPr lang="en-US" sz="1150" dirty="0"/>
          </a:p>
        </p:txBody>
      </p:sp>
      <p:sp>
        <p:nvSpPr>
          <p:cNvPr id="24"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FOUNDATIONS OF IT</a:t>
            </a:r>
            <a:endParaRPr lang="en-US" sz="900" dirty="0"/>
          </a:p>
        </p:txBody>
      </p:sp>
      <p:sp>
        <p:nvSpPr>
          <p:cNvPr id="25" name="Text 2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1826"/>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FOUNDATIONS OF IT</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Scale of the Global IT Market</a:t>
            </a:r>
            <a:endParaRPr lang="en-US" sz="2700" dirty="0"/>
          </a:p>
        </p:txBody>
      </p:sp>
      <p:sp>
        <p:nvSpPr>
          <p:cNvPr id="4" name="Text 2"/>
          <p:cNvSpPr/>
          <p:nvPr/>
        </p:nvSpPr>
        <p:spPr>
          <a:xfrm>
            <a:off x="548640" y="1536192"/>
            <a:ext cx="10607040" cy="457200"/>
          </a:xfrm>
          <a:prstGeom prst="rect">
            <a:avLst/>
          </a:prstGeom>
          <a:noFill/>
          <a:ln/>
        </p:spPr>
        <p:txBody>
          <a:bodyPr wrap="square" lIns="0" tIns="0" rIns="0" bIns="0" rtlCol="0" anchor="ctr"/>
          <a:lstStyle/>
          <a:p>
            <a:pPr indent="0" marL="0">
              <a:lnSpc>
                <a:spcPts val="1700"/>
              </a:lnSpc>
              <a:buNone/>
            </a:pPr>
            <a:r>
              <a:rPr lang="en-US" sz="1300" dirty="0">
                <a:solidFill>
                  <a:srgbClr val="9FB6C9"/>
                </a:solidFill>
                <a:latin typeface="Calibri" pitchFamily="34" charset="0"/>
                <a:ea typeface="Calibri" pitchFamily="34" charset="-122"/>
                <a:cs typeface="Calibri" pitchFamily="34" charset="-120"/>
              </a:rPr>
              <a:t>Technology investment continues to accelerate, led by AI infrastructure.</a:t>
            </a:r>
            <a:endParaRPr lang="en-US" sz="1300" dirty="0"/>
          </a:p>
        </p:txBody>
      </p:sp>
      <p:sp>
        <p:nvSpPr>
          <p:cNvPr id="5" name="Shape 3"/>
          <p:cNvSpPr/>
          <p:nvPr/>
        </p:nvSpPr>
        <p:spPr>
          <a:xfrm>
            <a:off x="548640" y="2331720"/>
            <a:ext cx="3454298" cy="3108960"/>
          </a:xfrm>
          <a:prstGeom prst="roundRect">
            <a:avLst>
              <a:gd name="adj" fmla="val 2353"/>
            </a:avLst>
          </a:prstGeom>
          <a:solidFill>
            <a:srgbClr val="16324F"/>
          </a:solidFill>
          <a:ln/>
        </p:spPr>
      </p:sp>
      <p:sp>
        <p:nvSpPr>
          <p:cNvPr id="6" name="Text 4"/>
          <p:cNvSpPr/>
          <p:nvPr/>
        </p:nvSpPr>
        <p:spPr>
          <a:xfrm>
            <a:off x="731520" y="2651760"/>
            <a:ext cx="3088538" cy="1005840"/>
          </a:xfrm>
          <a:prstGeom prst="rect">
            <a:avLst/>
          </a:prstGeom>
          <a:noFill/>
          <a:ln/>
        </p:spPr>
        <p:txBody>
          <a:bodyPr wrap="square" lIns="0" tIns="0" rIns="0" bIns="0" rtlCol="0" anchor="ctr"/>
          <a:lstStyle/>
          <a:p>
            <a:pPr algn="ctr" indent="0" marL="0">
              <a:buNone/>
            </a:pPr>
            <a:r>
              <a:rPr lang="en-US" sz="4000" b="1" dirty="0">
                <a:solidFill>
                  <a:srgbClr val="12B5CB"/>
                </a:solidFill>
                <a:latin typeface="Cambria" pitchFamily="34" charset="0"/>
                <a:ea typeface="Cambria" pitchFamily="34" charset="-122"/>
                <a:cs typeface="Cambria" pitchFamily="34" charset="-120"/>
              </a:rPr>
              <a:t>$6.31T</a:t>
            </a:r>
            <a:endParaRPr lang="en-US" sz="4000" dirty="0"/>
          </a:p>
        </p:txBody>
      </p:sp>
      <p:sp>
        <p:nvSpPr>
          <p:cNvPr id="7" name="Text 5"/>
          <p:cNvSpPr/>
          <p:nvPr/>
        </p:nvSpPr>
        <p:spPr>
          <a:xfrm>
            <a:off x="777240" y="3703320"/>
            <a:ext cx="2997098" cy="1371600"/>
          </a:xfrm>
          <a:prstGeom prst="rect">
            <a:avLst/>
          </a:prstGeom>
          <a:noFill/>
          <a:ln/>
        </p:spPr>
        <p:txBody>
          <a:bodyPr wrap="square" lIns="0" tIns="0" rIns="0" bIns="0" rtlCol="0" anchor="ctr"/>
          <a:lstStyle/>
          <a:p>
            <a:pPr algn="ctr" indent="0" marL="0">
              <a:lnSpc>
                <a:spcPts val="1600"/>
              </a:lnSpc>
              <a:buNone/>
            </a:pPr>
            <a:r>
              <a:rPr lang="en-US" sz="1250" dirty="0">
                <a:solidFill>
                  <a:srgbClr val="FFFFFF"/>
                </a:solidFill>
                <a:latin typeface="Calibri" pitchFamily="34" charset="0"/>
                <a:ea typeface="Calibri" pitchFamily="34" charset="-122"/>
                <a:cs typeface="Calibri" pitchFamily="34" charset="-120"/>
              </a:rPr>
              <a:t>Projected worldwide IT spending in 2026, up 13.5% year-over-year</a:t>
            </a:r>
            <a:endParaRPr lang="en-US" sz="1250" dirty="0"/>
          </a:p>
        </p:txBody>
      </p:sp>
      <p:sp>
        <p:nvSpPr>
          <p:cNvPr id="8" name="Shape 6"/>
          <p:cNvSpPr/>
          <p:nvPr/>
        </p:nvSpPr>
        <p:spPr>
          <a:xfrm>
            <a:off x="4368698" y="2331720"/>
            <a:ext cx="3454298" cy="3108960"/>
          </a:xfrm>
          <a:prstGeom prst="roundRect">
            <a:avLst>
              <a:gd name="adj" fmla="val 2353"/>
            </a:avLst>
          </a:prstGeom>
          <a:solidFill>
            <a:srgbClr val="16324F"/>
          </a:solidFill>
          <a:ln/>
        </p:spPr>
      </p:sp>
      <p:sp>
        <p:nvSpPr>
          <p:cNvPr id="9" name="Text 7"/>
          <p:cNvSpPr/>
          <p:nvPr/>
        </p:nvSpPr>
        <p:spPr>
          <a:xfrm>
            <a:off x="4551578" y="2651760"/>
            <a:ext cx="3088538" cy="1005840"/>
          </a:xfrm>
          <a:prstGeom prst="rect">
            <a:avLst/>
          </a:prstGeom>
          <a:noFill/>
          <a:ln/>
        </p:spPr>
        <p:txBody>
          <a:bodyPr wrap="square" lIns="0" tIns="0" rIns="0" bIns="0" rtlCol="0" anchor="ctr"/>
          <a:lstStyle/>
          <a:p>
            <a:pPr algn="ctr" indent="0" marL="0">
              <a:buNone/>
            </a:pPr>
            <a:r>
              <a:rPr lang="en-US" sz="4000" b="1" dirty="0">
                <a:solidFill>
                  <a:srgbClr val="12B5CB"/>
                </a:solidFill>
                <a:latin typeface="Cambria" pitchFamily="34" charset="0"/>
                <a:ea typeface="Cambria" pitchFamily="34" charset="-122"/>
                <a:cs typeface="Cambria" pitchFamily="34" charset="-120"/>
              </a:rPr>
              <a:t>55.8%</a:t>
            </a:r>
            <a:endParaRPr lang="en-US" sz="4000" dirty="0"/>
          </a:p>
        </p:txBody>
      </p:sp>
      <p:sp>
        <p:nvSpPr>
          <p:cNvPr id="10" name="Text 8"/>
          <p:cNvSpPr/>
          <p:nvPr/>
        </p:nvSpPr>
        <p:spPr>
          <a:xfrm>
            <a:off x="4597298" y="3703320"/>
            <a:ext cx="2997098" cy="1371600"/>
          </a:xfrm>
          <a:prstGeom prst="rect">
            <a:avLst/>
          </a:prstGeom>
          <a:noFill/>
          <a:ln/>
        </p:spPr>
        <p:txBody>
          <a:bodyPr wrap="square" lIns="0" tIns="0" rIns="0" bIns="0" rtlCol="0" anchor="ctr"/>
          <a:lstStyle/>
          <a:p>
            <a:pPr algn="ctr" indent="0" marL="0">
              <a:lnSpc>
                <a:spcPts val="1600"/>
              </a:lnSpc>
              <a:buNone/>
            </a:pPr>
            <a:r>
              <a:rPr lang="en-US" sz="1250" dirty="0">
                <a:solidFill>
                  <a:srgbClr val="FFFFFF"/>
                </a:solidFill>
                <a:latin typeface="Calibri" pitchFamily="34" charset="0"/>
                <a:ea typeface="Calibri" pitchFamily="34" charset="-122"/>
                <a:cs typeface="Calibri" pitchFamily="34" charset="-120"/>
              </a:rPr>
              <a:t>Growth in data center systems spending in 2026, the fastest-growing category</a:t>
            </a:r>
            <a:endParaRPr lang="en-US" sz="1250" dirty="0"/>
          </a:p>
        </p:txBody>
      </p:sp>
      <p:sp>
        <p:nvSpPr>
          <p:cNvPr id="11" name="Shape 9"/>
          <p:cNvSpPr/>
          <p:nvPr/>
        </p:nvSpPr>
        <p:spPr>
          <a:xfrm>
            <a:off x="8188757" y="2331720"/>
            <a:ext cx="3454298" cy="3108960"/>
          </a:xfrm>
          <a:prstGeom prst="roundRect">
            <a:avLst>
              <a:gd name="adj" fmla="val 2353"/>
            </a:avLst>
          </a:prstGeom>
          <a:solidFill>
            <a:srgbClr val="16324F"/>
          </a:solidFill>
          <a:ln/>
        </p:spPr>
      </p:sp>
      <p:sp>
        <p:nvSpPr>
          <p:cNvPr id="12" name="Text 10"/>
          <p:cNvSpPr/>
          <p:nvPr/>
        </p:nvSpPr>
        <p:spPr>
          <a:xfrm>
            <a:off x="8371637" y="2651760"/>
            <a:ext cx="3088538" cy="1005840"/>
          </a:xfrm>
          <a:prstGeom prst="rect">
            <a:avLst/>
          </a:prstGeom>
          <a:noFill/>
          <a:ln/>
        </p:spPr>
        <p:txBody>
          <a:bodyPr wrap="square" lIns="0" tIns="0" rIns="0" bIns="0" rtlCol="0" anchor="ctr"/>
          <a:lstStyle/>
          <a:p>
            <a:pPr algn="ctr" indent="0" marL="0">
              <a:buNone/>
            </a:pPr>
            <a:r>
              <a:rPr lang="en-US" sz="4000" b="1" dirty="0">
                <a:solidFill>
                  <a:srgbClr val="12B5CB"/>
                </a:solidFill>
                <a:latin typeface="Cambria" pitchFamily="34" charset="0"/>
                <a:ea typeface="Cambria" pitchFamily="34" charset="-122"/>
                <a:cs typeface="Cambria" pitchFamily="34" charset="-120"/>
              </a:rPr>
              <a:t>$1.87T</a:t>
            </a:r>
            <a:endParaRPr lang="en-US" sz="4000" dirty="0"/>
          </a:p>
        </p:txBody>
      </p:sp>
      <p:sp>
        <p:nvSpPr>
          <p:cNvPr id="13" name="Text 11"/>
          <p:cNvSpPr/>
          <p:nvPr/>
        </p:nvSpPr>
        <p:spPr>
          <a:xfrm>
            <a:off x="8417357" y="3703320"/>
            <a:ext cx="2997098" cy="1371600"/>
          </a:xfrm>
          <a:prstGeom prst="rect">
            <a:avLst/>
          </a:prstGeom>
          <a:noFill/>
          <a:ln/>
        </p:spPr>
        <p:txBody>
          <a:bodyPr wrap="square" lIns="0" tIns="0" rIns="0" bIns="0" rtlCol="0" anchor="ctr"/>
          <a:lstStyle/>
          <a:p>
            <a:pPr algn="ctr" indent="0" marL="0">
              <a:lnSpc>
                <a:spcPts val="1600"/>
              </a:lnSpc>
              <a:buNone/>
            </a:pPr>
            <a:r>
              <a:rPr lang="en-US" sz="1250" dirty="0">
                <a:solidFill>
                  <a:srgbClr val="FFFFFF"/>
                </a:solidFill>
                <a:latin typeface="Calibri" pitchFamily="34" charset="0"/>
                <a:ea typeface="Calibri" pitchFamily="34" charset="-122"/>
                <a:cs typeface="Calibri" pitchFamily="34" charset="-120"/>
              </a:rPr>
              <a:t>Spending on IT services in 2026 — the single largest category</a:t>
            </a:r>
            <a:endParaRPr lang="en-US" sz="1250" dirty="0"/>
          </a:p>
        </p:txBody>
      </p:sp>
      <p:sp>
        <p:nvSpPr>
          <p:cNvPr id="14" name="Text 12"/>
          <p:cNvSpPr/>
          <p:nvPr/>
        </p:nvSpPr>
        <p:spPr>
          <a:xfrm>
            <a:off x="548640" y="5605272"/>
            <a:ext cx="10607040" cy="320040"/>
          </a:xfrm>
          <a:prstGeom prst="rect">
            <a:avLst/>
          </a:prstGeom>
          <a:noFill/>
          <a:ln/>
        </p:spPr>
        <p:txBody>
          <a:bodyPr wrap="square" lIns="0" tIns="0" rIns="0" bIns="0" rtlCol="0" anchor="ctr"/>
          <a:lstStyle/>
          <a:p>
            <a:pPr indent="0" marL="0">
              <a:buNone/>
            </a:pPr>
            <a:r>
              <a:rPr lang="en-US" sz="950" i="1" dirty="0">
                <a:solidFill>
                  <a:srgbClr val="9FB6C9"/>
                </a:solidFill>
                <a:latin typeface="Calibri" pitchFamily="34" charset="0"/>
                <a:ea typeface="Calibri" pitchFamily="34" charset="-122"/>
                <a:cs typeface="Calibri" pitchFamily="34" charset="-120"/>
              </a:rPr>
              <a:t>Source: Gartner, Worldwide IT Spending Forecast, April 2026.</a:t>
            </a:r>
            <a:endParaRPr lang="en-US" sz="950" dirty="0"/>
          </a:p>
        </p:txBody>
      </p:sp>
      <p:sp>
        <p:nvSpPr>
          <p:cNvPr id="15" name="Text 13"/>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9FB6C9"/>
                </a:solidFill>
                <a:latin typeface="Calibri" pitchFamily="34" charset="0"/>
                <a:ea typeface="Calibri" pitchFamily="34" charset="-122"/>
                <a:cs typeface="Calibri" pitchFamily="34" charset="-120"/>
              </a:rPr>
              <a:t>FOUNDATIONS OF IT</a:t>
            </a:r>
            <a:endParaRPr lang="en-US" sz="900" dirty="0"/>
          </a:p>
        </p:txBody>
      </p:sp>
      <p:sp>
        <p:nvSpPr>
          <p:cNvPr id="16" name="Text 14"/>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9FB6C9"/>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FOUNDATIONS OF IT</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Core Components of IT</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Hardware</a:t>
            </a:r>
            <a:endParaRPr lang="en-US" sz="1350" dirty="0"/>
          </a:p>
        </p:txBody>
      </p:sp>
      <p:sp>
        <p:nvSpPr>
          <p:cNvPr id="7" name="Text 5"/>
          <p:cNvSpPr/>
          <p:nvPr/>
        </p:nvSpPr>
        <p:spPr>
          <a:xfrm>
            <a:off x="1078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Physical devices — computers, servers, routers, and peripherals.</a:t>
            </a:r>
            <a:endParaRPr lang="en-US" sz="1150" dirty="0"/>
          </a:p>
        </p:txBody>
      </p:sp>
      <p:sp>
        <p:nvSpPr>
          <p:cNvPr id="8" name="Shape 6"/>
          <p:cNvSpPr/>
          <p:nvPr/>
        </p:nvSpPr>
        <p:spPr>
          <a:xfrm>
            <a:off x="548640" y="2642616"/>
            <a:ext cx="384048" cy="384048"/>
          </a:xfrm>
          <a:prstGeom prst="ellipse">
            <a:avLst/>
          </a:prstGeom>
          <a:solidFill>
            <a:srgbClr val="0D2C4B"/>
          </a:solidFill>
          <a:ln/>
        </p:spPr>
      </p:sp>
      <p:sp>
        <p:nvSpPr>
          <p:cNvPr id="9" name="Text 7"/>
          <p:cNvSpPr/>
          <p:nvPr/>
        </p:nvSpPr>
        <p:spPr>
          <a:xfrm>
            <a:off x="548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Software</a:t>
            </a:r>
            <a:endParaRPr lang="en-US" sz="1350" dirty="0"/>
          </a:p>
        </p:txBody>
      </p:sp>
      <p:sp>
        <p:nvSpPr>
          <p:cNvPr id="11" name="Text 9"/>
          <p:cNvSpPr/>
          <p:nvPr/>
        </p:nvSpPr>
        <p:spPr>
          <a:xfrm>
            <a:off x="1078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Programs and operating systems that run on hardware.</a:t>
            </a:r>
            <a:endParaRPr lang="en-US" sz="1150" dirty="0"/>
          </a:p>
        </p:txBody>
      </p:sp>
      <p:sp>
        <p:nvSpPr>
          <p:cNvPr id="12" name="Shape 10"/>
          <p:cNvSpPr/>
          <p:nvPr/>
        </p:nvSpPr>
        <p:spPr>
          <a:xfrm>
            <a:off x="548640" y="3694176"/>
            <a:ext cx="384048" cy="384048"/>
          </a:xfrm>
          <a:prstGeom prst="ellipse">
            <a:avLst/>
          </a:prstGeom>
          <a:solidFill>
            <a:srgbClr val="0D2C4B"/>
          </a:solidFill>
          <a:ln/>
        </p:spPr>
      </p:sp>
      <p:sp>
        <p:nvSpPr>
          <p:cNvPr id="13" name="Text 11"/>
          <p:cNvSpPr/>
          <p:nvPr/>
        </p:nvSpPr>
        <p:spPr>
          <a:xfrm>
            <a:off x="548640" y="3694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78992" y="363016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Networking</a:t>
            </a:r>
            <a:endParaRPr lang="en-US" sz="1350" dirty="0"/>
          </a:p>
        </p:txBody>
      </p:sp>
      <p:sp>
        <p:nvSpPr>
          <p:cNvPr id="15" name="Text 13"/>
          <p:cNvSpPr/>
          <p:nvPr/>
        </p:nvSpPr>
        <p:spPr>
          <a:xfrm>
            <a:off x="1078992" y="390448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Connects systems for data sharing (Internet, LAN, WAN).</a:t>
            </a:r>
            <a:endParaRPr lang="en-US" sz="1150" dirty="0"/>
          </a:p>
        </p:txBody>
      </p:sp>
      <p:sp>
        <p:nvSpPr>
          <p:cNvPr id="16" name="Shape 14"/>
          <p:cNvSpPr/>
          <p:nvPr/>
        </p:nvSpPr>
        <p:spPr>
          <a:xfrm>
            <a:off x="6263640" y="1591056"/>
            <a:ext cx="384048" cy="384048"/>
          </a:xfrm>
          <a:prstGeom prst="ellipse">
            <a:avLst/>
          </a:prstGeom>
          <a:solidFill>
            <a:srgbClr val="0D2C4B"/>
          </a:solidFill>
          <a:ln/>
        </p:spPr>
      </p:sp>
      <p:sp>
        <p:nvSpPr>
          <p:cNvPr id="17" name="Text 15"/>
          <p:cNvSpPr/>
          <p:nvPr/>
        </p:nvSpPr>
        <p:spPr>
          <a:xfrm>
            <a:off x="6263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6793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Data</a:t>
            </a:r>
            <a:endParaRPr lang="en-US" sz="1350" dirty="0"/>
          </a:p>
        </p:txBody>
      </p:sp>
      <p:sp>
        <p:nvSpPr>
          <p:cNvPr id="19" name="Text 17"/>
          <p:cNvSpPr/>
          <p:nvPr/>
        </p:nvSpPr>
        <p:spPr>
          <a:xfrm>
            <a:off x="6793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The raw facts that are processed into meaningful information.</a:t>
            </a:r>
            <a:endParaRPr lang="en-US" sz="1150" dirty="0"/>
          </a:p>
        </p:txBody>
      </p:sp>
      <p:sp>
        <p:nvSpPr>
          <p:cNvPr id="20" name="Shape 18"/>
          <p:cNvSpPr/>
          <p:nvPr/>
        </p:nvSpPr>
        <p:spPr>
          <a:xfrm>
            <a:off x="6263640" y="2642616"/>
            <a:ext cx="384048" cy="384048"/>
          </a:xfrm>
          <a:prstGeom prst="ellipse">
            <a:avLst/>
          </a:prstGeom>
          <a:solidFill>
            <a:srgbClr val="0D2C4B"/>
          </a:solidFill>
          <a:ln/>
        </p:spPr>
      </p:sp>
      <p:sp>
        <p:nvSpPr>
          <p:cNvPr id="21" name="Text 19"/>
          <p:cNvSpPr/>
          <p:nvPr/>
        </p:nvSpPr>
        <p:spPr>
          <a:xfrm>
            <a:off x="6263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p:nvPr/>
        </p:nvSpPr>
        <p:spPr>
          <a:xfrm>
            <a:off x="6793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People &amp; Processes</a:t>
            </a:r>
            <a:endParaRPr lang="en-US" sz="1350" dirty="0"/>
          </a:p>
        </p:txBody>
      </p:sp>
      <p:sp>
        <p:nvSpPr>
          <p:cNvPr id="23" name="Text 21"/>
          <p:cNvSpPr/>
          <p:nvPr/>
        </p:nvSpPr>
        <p:spPr>
          <a:xfrm>
            <a:off x="6793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Users, IT professionals, and workflows that manage systems.</a:t>
            </a:r>
            <a:endParaRPr lang="en-US" sz="1150" dirty="0"/>
          </a:p>
        </p:txBody>
      </p:sp>
      <p:sp>
        <p:nvSpPr>
          <p:cNvPr id="24"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FOUNDATIONS OF IT</a:t>
            </a:r>
            <a:endParaRPr lang="en-US" sz="900" dirty="0"/>
          </a:p>
        </p:txBody>
      </p:sp>
      <p:sp>
        <p:nvSpPr>
          <p:cNvPr id="25" name="Text 2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FOUNDATIONS OF IT</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Computer Hardware</a:t>
            </a:r>
            <a:endParaRPr lang="en-US" sz="2700" dirty="0"/>
          </a:p>
        </p:txBody>
      </p:sp>
      <p:sp>
        <p:nvSpPr>
          <p:cNvPr id="4" name="Shape 2"/>
          <p:cNvSpPr/>
          <p:nvPr/>
        </p:nvSpPr>
        <p:spPr>
          <a:xfrm>
            <a:off x="548640" y="1691640"/>
            <a:ext cx="5257800" cy="3291840"/>
          </a:xfrm>
          <a:prstGeom prst="roundRect">
            <a:avLst>
              <a:gd name="adj" fmla="val 2222"/>
            </a:avLst>
          </a:prstGeom>
          <a:solidFill>
            <a:srgbClr val="F2F6F9"/>
          </a:solidFill>
          <a:ln/>
        </p:spPr>
      </p:sp>
      <p:sp>
        <p:nvSpPr>
          <p:cNvPr id="5" name="Shape 3"/>
          <p:cNvSpPr/>
          <p:nvPr/>
        </p:nvSpPr>
        <p:spPr>
          <a:xfrm>
            <a:off x="548640" y="1691640"/>
            <a:ext cx="5257800" cy="566928"/>
          </a:xfrm>
          <a:prstGeom prst="roundRect">
            <a:avLst>
              <a:gd name="adj" fmla="val 12903"/>
            </a:avLst>
          </a:prstGeom>
          <a:solidFill>
            <a:srgbClr val="0D2C4B"/>
          </a:solidFill>
          <a:ln/>
        </p:spPr>
      </p:sp>
      <p:sp>
        <p:nvSpPr>
          <p:cNvPr id="6" name="Shape 4"/>
          <p:cNvSpPr/>
          <p:nvPr/>
        </p:nvSpPr>
        <p:spPr>
          <a:xfrm>
            <a:off x="548640" y="2011680"/>
            <a:ext cx="5257800" cy="246888"/>
          </a:xfrm>
          <a:prstGeom prst="rect">
            <a:avLst/>
          </a:prstGeom>
          <a:solidFill>
            <a:srgbClr val="0D2C4B"/>
          </a:solidFill>
          <a:ln/>
        </p:spPr>
      </p:sp>
      <p:sp>
        <p:nvSpPr>
          <p:cNvPr id="7" name="Text 5"/>
          <p:cNvSpPr/>
          <p:nvPr/>
        </p:nvSpPr>
        <p:spPr>
          <a:xfrm>
            <a:off x="822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Input &amp; Output Devices</a:t>
            </a:r>
            <a:endParaRPr lang="en-US" sz="1550" dirty="0"/>
          </a:p>
        </p:txBody>
      </p:sp>
      <p:sp>
        <p:nvSpPr>
          <p:cNvPr id="8" name="Shape 6"/>
          <p:cNvSpPr/>
          <p:nvPr/>
        </p:nvSpPr>
        <p:spPr>
          <a:xfrm>
            <a:off x="822960" y="2523744"/>
            <a:ext cx="82296" cy="82296"/>
          </a:xfrm>
          <a:prstGeom prst="ellipse">
            <a:avLst/>
          </a:prstGeom>
          <a:solidFill>
            <a:srgbClr val="0D2C4B"/>
          </a:solidFill>
          <a:ln/>
        </p:spPr>
      </p:sp>
      <p:sp>
        <p:nvSpPr>
          <p:cNvPr id="9" name="Text 7"/>
          <p:cNvSpPr/>
          <p:nvPr/>
        </p:nvSpPr>
        <p:spPr>
          <a:xfrm>
            <a:off x="1024128" y="2414016"/>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Input devices</a:t>
            </a:r>
            <a:endParaRPr lang="en-US" sz="1250" dirty="0"/>
          </a:p>
        </p:txBody>
      </p:sp>
      <p:sp>
        <p:nvSpPr>
          <p:cNvPr id="10" name="Text 8"/>
          <p:cNvSpPr/>
          <p:nvPr/>
        </p:nvSpPr>
        <p:spPr>
          <a:xfrm>
            <a:off x="1024128" y="2651760"/>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Keyboard, mouse, scanner.</a:t>
            </a:r>
            <a:endParaRPr lang="en-US" sz="1080" dirty="0"/>
          </a:p>
        </p:txBody>
      </p:sp>
      <p:sp>
        <p:nvSpPr>
          <p:cNvPr id="11" name="Shape 9"/>
          <p:cNvSpPr/>
          <p:nvPr/>
        </p:nvSpPr>
        <p:spPr>
          <a:xfrm>
            <a:off x="822960" y="3182112"/>
            <a:ext cx="82296" cy="82296"/>
          </a:xfrm>
          <a:prstGeom prst="ellipse">
            <a:avLst/>
          </a:prstGeom>
          <a:solidFill>
            <a:srgbClr val="0D2C4B"/>
          </a:solidFill>
          <a:ln/>
        </p:spPr>
      </p:sp>
      <p:sp>
        <p:nvSpPr>
          <p:cNvPr id="12" name="Text 10"/>
          <p:cNvSpPr/>
          <p:nvPr/>
        </p:nvSpPr>
        <p:spPr>
          <a:xfrm>
            <a:off x="1024128" y="3072384"/>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Output devices</a:t>
            </a:r>
            <a:endParaRPr lang="en-US" sz="1250" dirty="0"/>
          </a:p>
        </p:txBody>
      </p:sp>
      <p:sp>
        <p:nvSpPr>
          <p:cNvPr id="13" name="Text 11"/>
          <p:cNvSpPr/>
          <p:nvPr/>
        </p:nvSpPr>
        <p:spPr>
          <a:xfrm>
            <a:off x="1024128" y="3310128"/>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Monitor, printer, speakers.</a:t>
            </a:r>
            <a:endParaRPr lang="en-US" sz="1080" dirty="0"/>
          </a:p>
        </p:txBody>
      </p:sp>
      <p:sp>
        <p:nvSpPr>
          <p:cNvPr id="14" name="Shape 12"/>
          <p:cNvSpPr/>
          <p:nvPr/>
        </p:nvSpPr>
        <p:spPr>
          <a:xfrm>
            <a:off x="6263640" y="1691640"/>
            <a:ext cx="5257800" cy="3291840"/>
          </a:xfrm>
          <a:prstGeom prst="roundRect">
            <a:avLst>
              <a:gd name="adj" fmla="val 2222"/>
            </a:avLst>
          </a:prstGeom>
          <a:solidFill>
            <a:srgbClr val="F2F6F9"/>
          </a:solidFill>
          <a:ln/>
        </p:spPr>
      </p:sp>
      <p:sp>
        <p:nvSpPr>
          <p:cNvPr id="15" name="Shape 13"/>
          <p:cNvSpPr/>
          <p:nvPr/>
        </p:nvSpPr>
        <p:spPr>
          <a:xfrm>
            <a:off x="6263640" y="1691640"/>
            <a:ext cx="5257800" cy="566928"/>
          </a:xfrm>
          <a:prstGeom prst="roundRect">
            <a:avLst>
              <a:gd name="adj" fmla="val 12903"/>
            </a:avLst>
          </a:prstGeom>
          <a:solidFill>
            <a:srgbClr val="0B8A9C"/>
          </a:solidFill>
          <a:ln/>
        </p:spPr>
      </p:sp>
      <p:sp>
        <p:nvSpPr>
          <p:cNvPr id="16" name="Shape 14"/>
          <p:cNvSpPr/>
          <p:nvPr/>
        </p:nvSpPr>
        <p:spPr>
          <a:xfrm>
            <a:off x="6263640" y="2011680"/>
            <a:ext cx="5257800" cy="246888"/>
          </a:xfrm>
          <a:prstGeom prst="rect">
            <a:avLst/>
          </a:prstGeom>
          <a:solidFill>
            <a:srgbClr val="0B8A9C"/>
          </a:solidFill>
          <a:ln/>
        </p:spPr>
      </p:sp>
      <p:sp>
        <p:nvSpPr>
          <p:cNvPr id="17" name="Text 15"/>
          <p:cNvSpPr/>
          <p:nvPr/>
        </p:nvSpPr>
        <p:spPr>
          <a:xfrm>
            <a:off x="6537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Processing, Memory &amp; Storage</a:t>
            </a:r>
            <a:endParaRPr lang="en-US" sz="1550" dirty="0"/>
          </a:p>
        </p:txBody>
      </p:sp>
      <p:sp>
        <p:nvSpPr>
          <p:cNvPr id="18" name="Shape 16"/>
          <p:cNvSpPr/>
          <p:nvPr/>
        </p:nvSpPr>
        <p:spPr>
          <a:xfrm>
            <a:off x="6537960" y="2523744"/>
            <a:ext cx="82296" cy="82296"/>
          </a:xfrm>
          <a:prstGeom prst="ellipse">
            <a:avLst/>
          </a:prstGeom>
          <a:solidFill>
            <a:srgbClr val="0B8A9C"/>
          </a:solidFill>
          <a:ln/>
        </p:spPr>
      </p:sp>
      <p:sp>
        <p:nvSpPr>
          <p:cNvPr id="19" name="Text 17"/>
          <p:cNvSpPr/>
          <p:nvPr/>
        </p:nvSpPr>
        <p:spPr>
          <a:xfrm>
            <a:off x="6739128" y="2414016"/>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CPU</a:t>
            </a:r>
            <a:endParaRPr lang="en-US" sz="1250" dirty="0"/>
          </a:p>
        </p:txBody>
      </p:sp>
      <p:sp>
        <p:nvSpPr>
          <p:cNvPr id="20" name="Text 18"/>
          <p:cNvSpPr/>
          <p:nvPr/>
        </p:nvSpPr>
        <p:spPr>
          <a:xfrm>
            <a:off x="6739128" y="2651760"/>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The “brain” of the computer — Control Unit + ALU.</a:t>
            </a:r>
            <a:endParaRPr lang="en-US" sz="1080" dirty="0"/>
          </a:p>
        </p:txBody>
      </p:sp>
      <p:sp>
        <p:nvSpPr>
          <p:cNvPr id="21" name="Shape 19"/>
          <p:cNvSpPr/>
          <p:nvPr/>
        </p:nvSpPr>
        <p:spPr>
          <a:xfrm>
            <a:off x="6537960" y="3182112"/>
            <a:ext cx="82296" cy="82296"/>
          </a:xfrm>
          <a:prstGeom prst="ellipse">
            <a:avLst/>
          </a:prstGeom>
          <a:solidFill>
            <a:srgbClr val="0B8A9C"/>
          </a:solidFill>
          <a:ln/>
        </p:spPr>
      </p:sp>
      <p:sp>
        <p:nvSpPr>
          <p:cNvPr id="22" name="Text 20"/>
          <p:cNvSpPr/>
          <p:nvPr/>
        </p:nvSpPr>
        <p:spPr>
          <a:xfrm>
            <a:off x="6739128" y="3072384"/>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Memory</a:t>
            </a:r>
            <a:endParaRPr lang="en-US" sz="1250" dirty="0"/>
          </a:p>
        </p:txBody>
      </p:sp>
      <p:sp>
        <p:nvSpPr>
          <p:cNvPr id="23" name="Text 21"/>
          <p:cNvSpPr/>
          <p:nvPr/>
        </p:nvSpPr>
        <p:spPr>
          <a:xfrm>
            <a:off x="6739128" y="3310128"/>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RAM (volatile) and ROM (non-volatile).</a:t>
            </a:r>
            <a:endParaRPr lang="en-US" sz="1080" dirty="0"/>
          </a:p>
        </p:txBody>
      </p:sp>
      <p:sp>
        <p:nvSpPr>
          <p:cNvPr id="24" name="Shape 22"/>
          <p:cNvSpPr/>
          <p:nvPr/>
        </p:nvSpPr>
        <p:spPr>
          <a:xfrm>
            <a:off x="6537960" y="3840480"/>
            <a:ext cx="82296" cy="82296"/>
          </a:xfrm>
          <a:prstGeom prst="ellipse">
            <a:avLst/>
          </a:prstGeom>
          <a:solidFill>
            <a:srgbClr val="0B8A9C"/>
          </a:solidFill>
          <a:ln/>
        </p:spPr>
      </p:sp>
      <p:sp>
        <p:nvSpPr>
          <p:cNvPr id="25" name="Text 23"/>
          <p:cNvSpPr/>
          <p:nvPr/>
        </p:nvSpPr>
        <p:spPr>
          <a:xfrm>
            <a:off x="6739128" y="3730752"/>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Storage</a:t>
            </a:r>
            <a:endParaRPr lang="en-US" sz="1250" dirty="0"/>
          </a:p>
        </p:txBody>
      </p:sp>
      <p:sp>
        <p:nvSpPr>
          <p:cNvPr id="26" name="Text 24"/>
          <p:cNvSpPr/>
          <p:nvPr/>
        </p:nvSpPr>
        <p:spPr>
          <a:xfrm>
            <a:off x="6739128" y="3968496"/>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Hard disks, SSDs, and optical drives.</a:t>
            </a:r>
            <a:endParaRPr lang="en-US" sz="1080" dirty="0"/>
          </a:p>
        </p:txBody>
      </p:sp>
      <p:sp>
        <p:nvSpPr>
          <p:cNvPr id="27" name="Text 25"/>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FOUNDATIONS OF IT</a:t>
            </a:r>
            <a:endParaRPr lang="en-US" sz="900" dirty="0"/>
          </a:p>
        </p:txBody>
      </p:sp>
      <p:sp>
        <p:nvSpPr>
          <p:cNvPr id="28" name="Text 26"/>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FOUNDATIONS OF IT</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Computer Software</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System Software</a:t>
            </a:r>
            <a:endParaRPr lang="en-US" sz="1350" dirty="0"/>
          </a:p>
        </p:txBody>
      </p:sp>
      <p:sp>
        <p:nvSpPr>
          <p:cNvPr id="7" name="Text 5"/>
          <p:cNvSpPr/>
          <p:nvPr/>
        </p:nvSpPr>
        <p:spPr>
          <a:xfrm>
            <a:off x="1078992" y="180136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Operating systems that manage hardware and provide the platform for other software — Windows, Linux, macOS.</a:t>
            </a:r>
            <a:endParaRPr lang="en-US" sz="1150" dirty="0"/>
          </a:p>
        </p:txBody>
      </p:sp>
      <p:sp>
        <p:nvSpPr>
          <p:cNvPr id="8" name="Shape 6"/>
          <p:cNvSpPr/>
          <p:nvPr/>
        </p:nvSpPr>
        <p:spPr>
          <a:xfrm>
            <a:off x="548640" y="2551176"/>
            <a:ext cx="384048" cy="384048"/>
          </a:xfrm>
          <a:prstGeom prst="ellipse">
            <a:avLst/>
          </a:prstGeom>
          <a:solidFill>
            <a:srgbClr val="0D2C4B"/>
          </a:solidFill>
          <a:ln/>
        </p:spPr>
      </p:sp>
      <p:sp>
        <p:nvSpPr>
          <p:cNvPr id="9" name="Text 7"/>
          <p:cNvSpPr/>
          <p:nvPr/>
        </p:nvSpPr>
        <p:spPr>
          <a:xfrm>
            <a:off x="548640" y="2551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48716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Application Software</a:t>
            </a:r>
            <a:endParaRPr lang="en-US" sz="1350" dirty="0"/>
          </a:p>
        </p:txBody>
      </p:sp>
      <p:sp>
        <p:nvSpPr>
          <p:cNvPr id="11" name="Text 9"/>
          <p:cNvSpPr/>
          <p:nvPr/>
        </p:nvSpPr>
        <p:spPr>
          <a:xfrm>
            <a:off x="1078992" y="276148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Tools built for end users to accomplish tasks — MS Office, browsers, databases.</a:t>
            </a:r>
            <a:endParaRPr lang="en-US" sz="1150" dirty="0"/>
          </a:p>
        </p:txBody>
      </p:sp>
      <p:sp>
        <p:nvSpPr>
          <p:cNvPr id="12" name="Shape 10"/>
          <p:cNvSpPr/>
          <p:nvPr/>
        </p:nvSpPr>
        <p:spPr>
          <a:xfrm>
            <a:off x="548640" y="3511296"/>
            <a:ext cx="384048" cy="384048"/>
          </a:xfrm>
          <a:prstGeom prst="ellipse">
            <a:avLst/>
          </a:prstGeom>
          <a:solidFill>
            <a:srgbClr val="0D2C4B"/>
          </a:solidFill>
          <a:ln/>
        </p:spPr>
      </p:sp>
      <p:sp>
        <p:nvSpPr>
          <p:cNvPr id="13" name="Text 11"/>
          <p:cNvSpPr/>
          <p:nvPr/>
        </p:nvSpPr>
        <p:spPr>
          <a:xfrm>
            <a:off x="548640" y="35112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78992" y="344728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Utility Software</a:t>
            </a:r>
            <a:endParaRPr lang="en-US" sz="1350" dirty="0"/>
          </a:p>
        </p:txBody>
      </p:sp>
      <p:sp>
        <p:nvSpPr>
          <p:cNvPr id="15" name="Text 13"/>
          <p:cNvSpPr/>
          <p:nvPr/>
        </p:nvSpPr>
        <p:spPr>
          <a:xfrm>
            <a:off x="1078992" y="372160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Supports system health and maintenance — file management, antivirus, backup tools.</a:t>
            </a:r>
            <a:endParaRPr lang="en-US" sz="1150" dirty="0"/>
          </a:p>
        </p:txBody>
      </p:sp>
      <p:sp>
        <p:nvSpPr>
          <p:cNvPr id="16" name="Text 14"/>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FOUNDATIONS OF IT</a:t>
            </a:r>
            <a:endParaRPr lang="en-US" sz="900" dirty="0"/>
          </a:p>
        </p:txBody>
      </p:sp>
      <p:sp>
        <p:nvSpPr>
          <p:cNvPr id="17" name="Text 15"/>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FOUNDATIONS OF IT</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Networking and the Internet</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What Networks Do</a:t>
            </a:r>
            <a:endParaRPr lang="en-US" sz="1350" dirty="0"/>
          </a:p>
        </p:txBody>
      </p:sp>
      <p:sp>
        <p:nvSpPr>
          <p:cNvPr id="7" name="Text 5"/>
          <p:cNvSpPr/>
          <p:nvPr/>
        </p:nvSpPr>
        <p:spPr>
          <a:xfrm>
            <a:off x="1078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Computer networks connect devices so they can share data and resources.</a:t>
            </a:r>
            <a:endParaRPr lang="en-US" sz="1150" dirty="0"/>
          </a:p>
        </p:txBody>
      </p:sp>
      <p:sp>
        <p:nvSpPr>
          <p:cNvPr id="8" name="Shape 6"/>
          <p:cNvSpPr/>
          <p:nvPr/>
        </p:nvSpPr>
        <p:spPr>
          <a:xfrm>
            <a:off x="548640" y="2642616"/>
            <a:ext cx="384048" cy="384048"/>
          </a:xfrm>
          <a:prstGeom prst="ellipse">
            <a:avLst/>
          </a:prstGeom>
          <a:solidFill>
            <a:srgbClr val="0D2C4B"/>
          </a:solidFill>
          <a:ln/>
        </p:spPr>
      </p:sp>
      <p:sp>
        <p:nvSpPr>
          <p:cNvPr id="9" name="Text 7"/>
          <p:cNvSpPr/>
          <p:nvPr/>
        </p:nvSpPr>
        <p:spPr>
          <a:xfrm>
            <a:off x="548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Types of Networks</a:t>
            </a:r>
            <a:endParaRPr lang="en-US" sz="1350" dirty="0"/>
          </a:p>
        </p:txBody>
      </p:sp>
      <p:sp>
        <p:nvSpPr>
          <p:cNvPr id="11" name="Text 9"/>
          <p:cNvSpPr/>
          <p:nvPr/>
        </p:nvSpPr>
        <p:spPr>
          <a:xfrm>
            <a:off x="1078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LAN (Local), MAN (Metropolitan), WAN (Wide Area), and PAN (Personal).</a:t>
            </a:r>
            <a:endParaRPr lang="en-US" sz="1150" dirty="0"/>
          </a:p>
        </p:txBody>
      </p:sp>
      <p:sp>
        <p:nvSpPr>
          <p:cNvPr id="12" name="Shape 10"/>
          <p:cNvSpPr/>
          <p:nvPr/>
        </p:nvSpPr>
        <p:spPr>
          <a:xfrm>
            <a:off x="6263640" y="1591056"/>
            <a:ext cx="384048" cy="384048"/>
          </a:xfrm>
          <a:prstGeom prst="ellipse">
            <a:avLst/>
          </a:prstGeom>
          <a:solidFill>
            <a:srgbClr val="0D2C4B"/>
          </a:solidFill>
          <a:ln/>
        </p:spPr>
      </p:sp>
      <p:sp>
        <p:nvSpPr>
          <p:cNvPr id="13" name="Text 11"/>
          <p:cNvSpPr/>
          <p:nvPr/>
        </p:nvSpPr>
        <p:spPr>
          <a:xfrm>
            <a:off x="6263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6793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The Internet</a:t>
            </a:r>
            <a:endParaRPr lang="en-US" sz="1350" dirty="0"/>
          </a:p>
        </p:txBody>
      </p:sp>
      <p:sp>
        <p:nvSpPr>
          <p:cNvPr id="15" name="Text 13"/>
          <p:cNvSpPr/>
          <p:nvPr/>
        </p:nvSpPr>
        <p:spPr>
          <a:xfrm>
            <a:off x="6793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A global network enabling email, web browsing, and real-time communication.</a:t>
            </a:r>
            <a:endParaRPr lang="en-US" sz="1150" dirty="0"/>
          </a:p>
        </p:txBody>
      </p:sp>
      <p:sp>
        <p:nvSpPr>
          <p:cNvPr id="16" name="Shape 14"/>
          <p:cNvSpPr/>
          <p:nvPr/>
        </p:nvSpPr>
        <p:spPr>
          <a:xfrm>
            <a:off x="6263640" y="2642616"/>
            <a:ext cx="384048" cy="384048"/>
          </a:xfrm>
          <a:prstGeom prst="ellipse">
            <a:avLst/>
          </a:prstGeom>
          <a:solidFill>
            <a:srgbClr val="0D2C4B"/>
          </a:solidFill>
          <a:ln/>
        </p:spPr>
      </p:sp>
      <p:sp>
        <p:nvSpPr>
          <p:cNvPr id="17" name="Text 15"/>
          <p:cNvSpPr/>
          <p:nvPr/>
        </p:nvSpPr>
        <p:spPr>
          <a:xfrm>
            <a:off x="6263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6793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Network Devices</a:t>
            </a:r>
            <a:endParaRPr lang="en-US" sz="1350" dirty="0"/>
          </a:p>
        </p:txBody>
      </p:sp>
      <p:sp>
        <p:nvSpPr>
          <p:cNvPr id="19" name="Text 17"/>
          <p:cNvSpPr/>
          <p:nvPr/>
        </p:nvSpPr>
        <p:spPr>
          <a:xfrm>
            <a:off x="6793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Router, switch, hub, modem, and access point connect and direct traffic.</a:t>
            </a:r>
            <a:endParaRPr lang="en-US" sz="1150" dirty="0"/>
          </a:p>
        </p:txBody>
      </p:sp>
      <p:sp>
        <p:nvSpPr>
          <p:cNvPr id="20" name="Text 18"/>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FOUNDATIONS OF IT</a:t>
            </a:r>
            <a:endParaRPr lang="en-US" sz="900" dirty="0"/>
          </a:p>
        </p:txBody>
      </p:sp>
      <p:sp>
        <p:nvSpPr>
          <p:cNvPr id="21" name="Text 19"/>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FOUNDATIONS OF IT</a:t>
            </a:r>
            <a:endParaRPr lang="en-US" sz="1150" dirty="0"/>
          </a:p>
        </p:txBody>
      </p:sp>
      <p:sp>
        <p:nvSpPr>
          <p:cNvPr id="3" name="Text 1"/>
          <p:cNvSpPr/>
          <p:nvPr/>
        </p:nvSpPr>
        <p:spPr>
          <a:xfrm>
            <a:off x="548640" y="868680"/>
            <a:ext cx="10607040" cy="548640"/>
          </a:xfrm>
          <a:prstGeom prst="rect">
            <a:avLst/>
          </a:prstGeom>
          <a:noFill/>
          <a:ln/>
        </p:spPr>
        <p:txBody>
          <a:bodyPr wrap="square" lIns="0" tIns="0" rIns="0" bIns="0" rtlCol="0" anchor="ctr"/>
          <a:lstStyle/>
          <a:p>
            <a:pPr indent="0" marL="0">
              <a:buNone/>
            </a:pPr>
            <a:r>
              <a:rPr lang="en-US" sz="2500" b="1" dirty="0">
                <a:solidFill>
                  <a:srgbClr val="0D2C4B"/>
                </a:solidFill>
                <a:latin typeface="Cambria" pitchFamily="34" charset="0"/>
                <a:ea typeface="Cambria" pitchFamily="34" charset="-122"/>
                <a:cs typeface="Cambria" pitchFamily="34" charset="-120"/>
              </a:rPr>
              <a:t>Types of Computer Networks</a:t>
            </a:r>
            <a:endParaRPr lang="en-US" sz="2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2743200"/>
        </p:xfrm>
        <a:graphic>
          <a:graphicData uri="http://schemas.openxmlformats.org/drawingml/2006/table">
            <a:tbl>
              <a:tblPr/>
              <a:tblGrid>
                <a:gridCol w="3566160"/>
                <a:gridCol w="3108960"/>
                <a:gridCol w="4389120"/>
              </a:tblGrid>
              <a:tr h="54864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Network Type</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Typical Range</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Common Use Case</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r>
              <a:tr h="54864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PAN — Personal Area Network</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Within a few meters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Bluetooth devices, wearables, personal gadgets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r h="54864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LAN — Local Area Network</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A single building or campus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Office, home, or school networks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r>
              <a:tr h="54864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MAN — Metropolitan Area Network</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A city or large campus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Connecting multiple LANs across a city</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r h="54864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WAN — Wide Area Network</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Countries or continents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The Internet; corporate networks across regions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r>
            </a:tbl>
          </a:graphicData>
        </a:graphic>
      </p:graphicFrame>
      <p:sp>
        <p:nvSpPr>
          <p:cNvPr id="5" name="Text 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FOUNDATIONS OF IT</a:t>
            </a:r>
            <a:endParaRPr lang="en-US" sz="900" dirty="0"/>
          </a:p>
        </p:txBody>
      </p:sp>
      <p:sp>
        <p:nvSpPr>
          <p:cNvPr id="6" name="Text 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FOUNDATIONS OF IT</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Database Management Systems (DBMS)</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Database</a:t>
            </a:r>
            <a:endParaRPr lang="en-US" sz="1350" dirty="0"/>
          </a:p>
        </p:txBody>
      </p:sp>
      <p:sp>
        <p:nvSpPr>
          <p:cNvPr id="7" name="Text 5"/>
          <p:cNvSpPr/>
          <p:nvPr/>
        </p:nvSpPr>
        <p:spPr>
          <a:xfrm>
            <a:off x="1078992" y="1801368"/>
            <a:ext cx="10332720" cy="658368"/>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Structured data organized for quick access and management.</a:t>
            </a:r>
            <a:endParaRPr lang="en-US" sz="1150" dirty="0"/>
          </a:p>
        </p:txBody>
      </p:sp>
      <p:sp>
        <p:nvSpPr>
          <p:cNvPr id="8" name="Shape 6"/>
          <p:cNvSpPr/>
          <p:nvPr/>
        </p:nvSpPr>
        <p:spPr>
          <a:xfrm>
            <a:off x="548640" y="2523744"/>
            <a:ext cx="384048" cy="384048"/>
          </a:xfrm>
          <a:prstGeom prst="ellipse">
            <a:avLst/>
          </a:prstGeom>
          <a:solidFill>
            <a:srgbClr val="0D2C4B"/>
          </a:solidFill>
          <a:ln/>
        </p:spPr>
      </p:sp>
      <p:sp>
        <p:nvSpPr>
          <p:cNvPr id="9" name="Text 7"/>
          <p:cNvSpPr/>
          <p:nvPr/>
        </p:nvSpPr>
        <p:spPr>
          <a:xfrm>
            <a:off x="548640" y="25237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459736"/>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DBMS Examples</a:t>
            </a:r>
            <a:endParaRPr lang="en-US" sz="1350" dirty="0"/>
          </a:p>
        </p:txBody>
      </p:sp>
      <p:sp>
        <p:nvSpPr>
          <p:cNvPr id="11" name="Text 9"/>
          <p:cNvSpPr/>
          <p:nvPr/>
        </p:nvSpPr>
        <p:spPr>
          <a:xfrm>
            <a:off x="1078992" y="2734056"/>
            <a:ext cx="10332720" cy="658368"/>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MySQL, Oracle, and SQL Server are widely used platforms.</a:t>
            </a:r>
            <a:endParaRPr lang="en-US" sz="1150" dirty="0"/>
          </a:p>
        </p:txBody>
      </p:sp>
      <p:sp>
        <p:nvSpPr>
          <p:cNvPr id="12" name="Shape 10"/>
          <p:cNvSpPr/>
          <p:nvPr/>
        </p:nvSpPr>
        <p:spPr>
          <a:xfrm>
            <a:off x="548640" y="3456432"/>
            <a:ext cx="384048" cy="384048"/>
          </a:xfrm>
          <a:prstGeom prst="ellipse">
            <a:avLst/>
          </a:prstGeom>
          <a:solidFill>
            <a:srgbClr val="0D2C4B"/>
          </a:solidFill>
          <a:ln/>
        </p:spPr>
      </p:sp>
      <p:sp>
        <p:nvSpPr>
          <p:cNvPr id="13" name="Text 11"/>
          <p:cNvSpPr/>
          <p:nvPr/>
        </p:nvSpPr>
        <p:spPr>
          <a:xfrm>
            <a:off x="548640" y="34564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78992" y="3392424"/>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SQL</a:t>
            </a:r>
            <a:endParaRPr lang="en-US" sz="1350" dirty="0"/>
          </a:p>
        </p:txBody>
      </p:sp>
      <p:sp>
        <p:nvSpPr>
          <p:cNvPr id="15" name="Text 13"/>
          <p:cNvSpPr/>
          <p:nvPr/>
        </p:nvSpPr>
        <p:spPr>
          <a:xfrm>
            <a:off x="1078992" y="3666744"/>
            <a:ext cx="10332720" cy="658368"/>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Structured Query Language — the standard for managing relational databases.</a:t>
            </a:r>
            <a:endParaRPr lang="en-US" sz="1150" dirty="0"/>
          </a:p>
        </p:txBody>
      </p:sp>
      <p:sp>
        <p:nvSpPr>
          <p:cNvPr id="16" name="Shape 14"/>
          <p:cNvSpPr/>
          <p:nvPr/>
        </p:nvSpPr>
        <p:spPr>
          <a:xfrm>
            <a:off x="548640" y="4389120"/>
            <a:ext cx="384048" cy="384048"/>
          </a:xfrm>
          <a:prstGeom prst="ellipse">
            <a:avLst/>
          </a:prstGeom>
          <a:solidFill>
            <a:srgbClr val="0D2C4B"/>
          </a:solidFill>
          <a:ln/>
        </p:spPr>
      </p:sp>
      <p:sp>
        <p:nvSpPr>
          <p:cNvPr id="17" name="Text 15"/>
          <p:cNvSpPr/>
          <p:nvPr/>
        </p:nvSpPr>
        <p:spPr>
          <a:xfrm>
            <a:off x="548640" y="43891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1078992" y="4325112"/>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Importance</a:t>
            </a:r>
            <a:endParaRPr lang="en-US" sz="1350" dirty="0"/>
          </a:p>
        </p:txBody>
      </p:sp>
      <p:sp>
        <p:nvSpPr>
          <p:cNvPr id="19" name="Text 17"/>
          <p:cNvSpPr/>
          <p:nvPr/>
        </p:nvSpPr>
        <p:spPr>
          <a:xfrm>
            <a:off x="1078992" y="4599432"/>
            <a:ext cx="10332720" cy="658368"/>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Underpins data integrity, security, and scalability.</a:t>
            </a:r>
            <a:endParaRPr lang="en-US" sz="1150" dirty="0"/>
          </a:p>
        </p:txBody>
      </p:sp>
      <p:sp>
        <p:nvSpPr>
          <p:cNvPr id="20" name="Text 18"/>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FOUNDATIONS OF IT</a:t>
            </a:r>
            <a:endParaRPr lang="en-US" sz="900" dirty="0"/>
          </a:p>
        </p:txBody>
      </p:sp>
      <p:sp>
        <p:nvSpPr>
          <p:cNvPr id="21" name="Text 19"/>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FOUNDATIONS OF IT</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Information Security and Cybersecurity</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Purpose</a:t>
            </a:r>
            <a:endParaRPr lang="en-US" sz="1350" dirty="0"/>
          </a:p>
        </p:txBody>
      </p:sp>
      <p:sp>
        <p:nvSpPr>
          <p:cNvPr id="7" name="Text 5"/>
          <p:cNvSpPr/>
          <p:nvPr/>
        </p:nvSpPr>
        <p:spPr>
          <a:xfrm>
            <a:off x="1078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Protects data and systems from unauthorized access or damage.</a:t>
            </a:r>
            <a:endParaRPr lang="en-US" sz="1150" dirty="0"/>
          </a:p>
        </p:txBody>
      </p:sp>
      <p:sp>
        <p:nvSpPr>
          <p:cNvPr id="8" name="Shape 6"/>
          <p:cNvSpPr/>
          <p:nvPr/>
        </p:nvSpPr>
        <p:spPr>
          <a:xfrm>
            <a:off x="548640" y="2642616"/>
            <a:ext cx="384048" cy="384048"/>
          </a:xfrm>
          <a:prstGeom prst="ellipse">
            <a:avLst/>
          </a:prstGeom>
          <a:solidFill>
            <a:srgbClr val="0D2C4B"/>
          </a:solidFill>
          <a:ln/>
        </p:spPr>
      </p:sp>
      <p:sp>
        <p:nvSpPr>
          <p:cNvPr id="9" name="Text 7"/>
          <p:cNvSpPr/>
          <p:nvPr/>
        </p:nvSpPr>
        <p:spPr>
          <a:xfrm>
            <a:off x="548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Threats</a:t>
            </a:r>
            <a:endParaRPr lang="en-US" sz="1350" dirty="0"/>
          </a:p>
        </p:txBody>
      </p:sp>
      <p:sp>
        <p:nvSpPr>
          <p:cNvPr id="11" name="Text 9"/>
          <p:cNvSpPr/>
          <p:nvPr/>
        </p:nvSpPr>
        <p:spPr>
          <a:xfrm>
            <a:off x="1078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Viruses, malware, phishing, and ransomware.</a:t>
            </a:r>
            <a:endParaRPr lang="en-US" sz="1150" dirty="0"/>
          </a:p>
        </p:txBody>
      </p:sp>
      <p:sp>
        <p:nvSpPr>
          <p:cNvPr id="12" name="Shape 10"/>
          <p:cNvSpPr/>
          <p:nvPr/>
        </p:nvSpPr>
        <p:spPr>
          <a:xfrm>
            <a:off x="6263640" y="1591056"/>
            <a:ext cx="384048" cy="384048"/>
          </a:xfrm>
          <a:prstGeom prst="ellipse">
            <a:avLst/>
          </a:prstGeom>
          <a:solidFill>
            <a:srgbClr val="0D2C4B"/>
          </a:solidFill>
          <a:ln/>
        </p:spPr>
      </p:sp>
      <p:sp>
        <p:nvSpPr>
          <p:cNvPr id="13" name="Text 11"/>
          <p:cNvSpPr/>
          <p:nvPr/>
        </p:nvSpPr>
        <p:spPr>
          <a:xfrm>
            <a:off x="6263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6793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Security Measures</a:t>
            </a:r>
            <a:endParaRPr lang="en-US" sz="1350" dirty="0"/>
          </a:p>
        </p:txBody>
      </p:sp>
      <p:sp>
        <p:nvSpPr>
          <p:cNvPr id="15" name="Text 13"/>
          <p:cNvSpPr/>
          <p:nvPr/>
        </p:nvSpPr>
        <p:spPr>
          <a:xfrm>
            <a:off x="6793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Firewalls, encryption, and authentication.</a:t>
            </a:r>
            <a:endParaRPr lang="en-US" sz="1150" dirty="0"/>
          </a:p>
        </p:txBody>
      </p:sp>
      <p:sp>
        <p:nvSpPr>
          <p:cNvPr id="16" name="Shape 14"/>
          <p:cNvSpPr/>
          <p:nvPr/>
        </p:nvSpPr>
        <p:spPr>
          <a:xfrm>
            <a:off x="6263640" y="2642616"/>
            <a:ext cx="384048" cy="384048"/>
          </a:xfrm>
          <a:prstGeom prst="ellipse">
            <a:avLst/>
          </a:prstGeom>
          <a:solidFill>
            <a:srgbClr val="0D2C4B"/>
          </a:solidFill>
          <a:ln/>
        </p:spPr>
      </p:sp>
      <p:sp>
        <p:nvSpPr>
          <p:cNvPr id="17" name="Text 15"/>
          <p:cNvSpPr/>
          <p:nvPr/>
        </p:nvSpPr>
        <p:spPr>
          <a:xfrm>
            <a:off x="6263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6793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Policies</a:t>
            </a:r>
            <a:endParaRPr lang="en-US" sz="1350" dirty="0"/>
          </a:p>
        </p:txBody>
      </p:sp>
      <p:sp>
        <p:nvSpPr>
          <p:cNvPr id="19" name="Text 17"/>
          <p:cNvSpPr/>
          <p:nvPr/>
        </p:nvSpPr>
        <p:spPr>
          <a:xfrm>
            <a:off x="6793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Data backup, user training, and network monitoring.</a:t>
            </a:r>
            <a:endParaRPr lang="en-US" sz="1150" dirty="0"/>
          </a:p>
        </p:txBody>
      </p:sp>
      <p:sp>
        <p:nvSpPr>
          <p:cNvPr id="20" name="Text 18"/>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FOUNDATIONS OF IT</a:t>
            </a:r>
            <a:endParaRPr lang="en-US" sz="900" dirty="0"/>
          </a:p>
        </p:txBody>
      </p:sp>
      <p:sp>
        <p:nvSpPr>
          <p:cNvPr id="21" name="Text 19"/>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1826"/>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FOUNDATIONS OF IT</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Cost of Cybercrime</a:t>
            </a:r>
            <a:endParaRPr lang="en-US" sz="2700" dirty="0"/>
          </a:p>
        </p:txBody>
      </p:sp>
      <p:sp>
        <p:nvSpPr>
          <p:cNvPr id="4" name="Text 2"/>
          <p:cNvSpPr/>
          <p:nvPr/>
        </p:nvSpPr>
        <p:spPr>
          <a:xfrm>
            <a:off x="548640" y="1536192"/>
            <a:ext cx="10607040" cy="457200"/>
          </a:xfrm>
          <a:prstGeom prst="rect">
            <a:avLst/>
          </a:prstGeom>
          <a:noFill/>
          <a:ln/>
        </p:spPr>
        <p:txBody>
          <a:bodyPr wrap="square" lIns="0" tIns="0" rIns="0" bIns="0" rtlCol="0" anchor="ctr"/>
          <a:lstStyle/>
          <a:p>
            <a:pPr indent="0" marL="0">
              <a:lnSpc>
                <a:spcPts val="1700"/>
              </a:lnSpc>
              <a:buNone/>
            </a:pPr>
            <a:r>
              <a:rPr lang="en-US" sz="1300" dirty="0">
                <a:solidFill>
                  <a:srgbClr val="9FB6C9"/>
                </a:solidFill>
                <a:latin typeface="Calibri" pitchFamily="34" charset="0"/>
                <a:ea typeface="Calibri" pitchFamily="34" charset="-122"/>
                <a:cs typeface="Calibri" pitchFamily="34" charset="-120"/>
              </a:rPr>
              <a:t>Security is no longer optional — the financial stakes keep growing.</a:t>
            </a:r>
            <a:endParaRPr lang="en-US" sz="1300" dirty="0"/>
          </a:p>
        </p:txBody>
      </p:sp>
      <p:sp>
        <p:nvSpPr>
          <p:cNvPr id="5" name="Shape 3"/>
          <p:cNvSpPr/>
          <p:nvPr/>
        </p:nvSpPr>
        <p:spPr>
          <a:xfrm>
            <a:off x="548640" y="2331720"/>
            <a:ext cx="3454298" cy="3108960"/>
          </a:xfrm>
          <a:prstGeom prst="roundRect">
            <a:avLst>
              <a:gd name="adj" fmla="val 2353"/>
            </a:avLst>
          </a:prstGeom>
          <a:solidFill>
            <a:srgbClr val="16324F"/>
          </a:solidFill>
          <a:ln/>
        </p:spPr>
      </p:sp>
      <p:sp>
        <p:nvSpPr>
          <p:cNvPr id="6" name="Text 4"/>
          <p:cNvSpPr/>
          <p:nvPr/>
        </p:nvSpPr>
        <p:spPr>
          <a:xfrm>
            <a:off x="731520" y="2651760"/>
            <a:ext cx="3088538" cy="1005840"/>
          </a:xfrm>
          <a:prstGeom prst="rect">
            <a:avLst/>
          </a:prstGeom>
          <a:noFill/>
          <a:ln/>
        </p:spPr>
        <p:txBody>
          <a:bodyPr wrap="square" lIns="0" tIns="0" rIns="0" bIns="0" rtlCol="0" anchor="ctr"/>
          <a:lstStyle/>
          <a:p>
            <a:pPr algn="ctr" indent="0" marL="0">
              <a:buNone/>
            </a:pPr>
            <a:r>
              <a:rPr lang="en-US" sz="4000" b="1" dirty="0">
                <a:solidFill>
                  <a:srgbClr val="12B5CB"/>
                </a:solidFill>
                <a:latin typeface="Cambria" pitchFamily="34" charset="0"/>
                <a:ea typeface="Cambria" pitchFamily="34" charset="-122"/>
                <a:cs typeface="Cambria" pitchFamily="34" charset="-120"/>
              </a:rPr>
              <a:t>$10.5T</a:t>
            </a:r>
            <a:endParaRPr lang="en-US" sz="4000" dirty="0"/>
          </a:p>
        </p:txBody>
      </p:sp>
      <p:sp>
        <p:nvSpPr>
          <p:cNvPr id="7" name="Text 5"/>
          <p:cNvSpPr/>
          <p:nvPr/>
        </p:nvSpPr>
        <p:spPr>
          <a:xfrm>
            <a:off x="777240" y="3703320"/>
            <a:ext cx="2997098" cy="1371600"/>
          </a:xfrm>
          <a:prstGeom prst="rect">
            <a:avLst/>
          </a:prstGeom>
          <a:noFill/>
          <a:ln/>
        </p:spPr>
        <p:txBody>
          <a:bodyPr wrap="square" lIns="0" tIns="0" rIns="0" bIns="0" rtlCol="0" anchor="ctr"/>
          <a:lstStyle/>
          <a:p>
            <a:pPr algn="ctr" indent="0" marL="0">
              <a:lnSpc>
                <a:spcPts val="1600"/>
              </a:lnSpc>
              <a:buNone/>
            </a:pPr>
            <a:r>
              <a:rPr lang="en-US" sz="1250" dirty="0">
                <a:solidFill>
                  <a:srgbClr val="FFFFFF"/>
                </a:solidFill>
                <a:latin typeface="Calibri" pitchFamily="34" charset="0"/>
                <a:ea typeface="Calibri" pitchFamily="34" charset="-122"/>
                <a:cs typeface="Calibri" pitchFamily="34" charset="-120"/>
              </a:rPr>
              <a:t>Estimated annual global cost of cybercrime in 2026</a:t>
            </a:r>
            <a:endParaRPr lang="en-US" sz="1250" dirty="0"/>
          </a:p>
        </p:txBody>
      </p:sp>
      <p:sp>
        <p:nvSpPr>
          <p:cNvPr id="8" name="Shape 6"/>
          <p:cNvSpPr/>
          <p:nvPr/>
        </p:nvSpPr>
        <p:spPr>
          <a:xfrm>
            <a:off x="4368698" y="2331720"/>
            <a:ext cx="3454298" cy="3108960"/>
          </a:xfrm>
          <a:prstGeom prst="roundRect">
            <a:avLst>
              <a:gd name="adj" fmla="val 2353"/>
            </a:avLst>
          </a:prstGeom>
          <a:solidFill>
            <a:srgbClr val="16324F"/>
          </a:solidFill>
          <a:ln/>
        </p:spPr>
      </p:sp>
      <p:sp>
        <p:nvSpPr>
          <p:cNvPr id="9" name="Text 7"/>
          <p:cNvSpPr/>
          <p:nvPr/>
        </p:nvSpPr>
        <p:spPr>
          <a:xfrm>
            <a:off x="4551578" y="2651760"/>
            <a:ext cx="3088538" cy="1005840"/>
          </a:xfrm>
          <a:prstGeom prst="rect">
            <a:avLst/>
          </a:prstGeom>
          <a:noFill/>
          <a:ln/>
        </p:spPr>
        <p:txBody>
          <a:bodyPr wrap="square" lIns="0" tIns="0" rIns="0" bIns="0" rtlCol="0" anchor="ctr"/>
          <a:lstStyle/>
          <a:p>
            <a:pPr algn="ctr" indent="0" marL="0">
              <a:buNone/>
            </a:pPr>
            <a:r>
              <a:rPr lang="en-US" sz="4000" b="1" dirty="0">
                <a:solidFill>
                  <a:srgbClr val="12B5CB"/>
                </a:solidFill>
                <a:latin typeface="Cambria" pitchFamily="34" charset="0"/>
                <a:ea typeface="Cambria" pitchFamily="34" charset="-122"/>
                <a:cs typeface="Cambria" pitchFamily="34" charset="-120"/>
              </a:rPr>
              <a:t>$4.4M</a:t>
            </a:r>
            <a:endParaRPr lang="en-US" sz="4000" dirty="0"/>
          </a:p>
        </p:txBody>
      </p:sp>
      <p:sp>
        <p:nvSpPr>
          <p:cNvPr id="10" name="Text 8"/>
          <p:cNvSpPr/>
          <p:nvPr/>
        </p:nvSpPr>
        <p:spPr>
          <a:xfrm>
            <a:off x="4597298" y="3703320"/>
            <a:ext cx="2997098" cy="1371600"/>
          </a:xfrm>
          <a:prstGeom prst="rect">
            <a:avLst/>
          </a:prstGeom>
          <a:noFill/>
          <a:ln/>
        </p:spPr>
        <p:txBody>
          <a:bodyPr wrap="square" lIns="0" tIns="0" rIns="0" bIns="0" rtlCol="0" anchor="ctr"/>
          <a:lstStyle/>
          <a:p>
            <a:pPr algn="ctr" indent="0" marL="0">
              <a:lnSpc>
                <a:spcPts val="1600"/>
              </a:lnSpc>
              <a:buNone/>
            </a:pPr>
            <a:r>
              <a:rPr lang="en-US" sz="1250" dirty="0">
                <a:solidFill>
                  <a:srgbClr val="FFFFFF"/>
                </a:solidFill>
                <a:latin typeface="Calibri" pitchFamily="34" charset="0"/>
                <a:ea typeface="Calibri" pitchFamily="34" charset="-122"/>
                <a:cs typeface="Calibri" pitchFamily="34" charset="-120"/>
              </a:rPr>
              <a:t>Average cost of a single corporate data breach</a:t>
            </a:r>
            <a:endParaRPr lang="en-US" sz="1250" dirty="0"/>
          </a:p>
        </p:txBody>
      </p:sp>
      <p:sp>
        <p:nvSpPr>
          <p:cNvPr id="11" name="Shape 9"/>
          <p:cNvSpPr/>
          <p:nvPr/>
        </p:nvSpPr>
        <p:spPr>
          <a:xfrm>
            <a:off x="8188757" y="2331720"/>
            <a:ext cx="3454298" cy="3108960"/>
          </a:xfrm>
          <a:prstGeom prst="roundRect">
            <a:avLst>
              <a:gd name="adj" fmla="val 2353"/>
            </a:avLst>
          </a:prstGeom>
          <a:solidFill>
            <a:srgbClr val="16324F"/>
          </a:solidFill>
          <a:ln/>
        </p:spPr>
      </p:sp>
      <p:sp>
        <p:nvSpPr>
          <p:cNvPr id="12" name="Text 10"/>
          <p:cNvSpPr/>
          <p:nvPr/>
        </p:nvSpPr>
        <p:spPr>
          <a:xfrm>
            <a:off x="8371637" y="2651760"/>
            <a:ext cx="3088538" cy="1005840"/>
          </a:xfrm>
          <a:prstGeom prst="rect">
            <a:avLst/>
          </a:prstGeom>
          <a:noFill/>
          <a:ln/>
        </p:spPr>
        <p:txBody>
          <a:bodyPr wrap="square" lIns="0" tIns="0" rIns="0" bIns="0" rtlCol="0" anchor="ctr"/>
          <a:lstStyle/>
          <a:p>
            <a:pPr algn="ctr" indent="0" marL="0">
              <a:buNone/>
            </a:pPr>
            <a:r>
              <a:rPr lang="en-US" sz="4000" b="1" dirty="0">
                <a:solidFill>
                  <a:srgbClr val="12B5CB"/>
                </a:solidFill>
                <a:latin typeface="Cambria" pitchFamily="34" charset="0"/>
                <a:ea typeface="Cambria" pitchFamily="34" charset="-122"/>
                <a:cs typeface="Cambria" pitchFamily="34" charset="-120"/>
              </a:rPr>
              <a:t>277 days</a:t>
            </a:r>
            <a:endParaRPr lang="en-US" sz="4000" dirty="0"/>
          </a:p>
        </p:txBody>
      </p:sp>
      <p:sp>
        <p:nvSpPr>
          <p:cNvPr id="13" name="Text 11"/>
          <p:cNvSpPr/>
          <p:nvPr/>
        </p:nvSpPr>
        <p:spPr>
          <a:xfrm>
            <a:off x="8417357" y="3703320"/>
            <a:ext cx="2997098" cy="1371600"/>
          </a:xfrm>
          <a:prstGeom prst="rect">
            <a:avLst/>
          </a:prstGeom>
          <a:noFill/>
          <a:ln/>
        </p:spPr>
        <p:txBody>
          <a:bodyPr wrap="square" lIns="0" tIns="0" rIns="0" bIns="0" rtlCol="0" anchor="ctr"/>
          <a:lstStyle/>
          <a:p>
            <a:pPr algn="ctr" indent="0" marL="0">
              <a:lnSpc>
                <a:spcPts val="1600"/>
              </a:lnSpc>
              <a:buNone/>
            </a:pPr>
            <a:r>
              <a:rPr lang="en-US" sz="1250" dirty="0">
                <a:solidFill>
                  <a:srgbClr val="FFFFFF"/>
                </a:solidFill>
                <a:latin typeface="Calibri" pitchFamily="34" charset="0"/>
                <a:ea typeface="Calibri" pitchFamily="34" charset="-122"/>
                <a:cs typeface="Calibri" pitchFamily="34" charset="-120"/>
              </a:rPr>
              <a:t>Average time to identify and contain a breach</a:t>
            </a:r>
            <a:endParaRPr lang="en-US" sz="1250" dirty="0"/>
          </a:p>
        </p:txBody>
      </p:sp>
      <p:sp>
        <p:nvSpPr>
          <p:cNvPr id="14" name="Text 12"/>
          <p:cNvSpPr/>
          <p:nvPr/>
        </p:nvSpPr>
        <p:spPr>
          <a:xfrm>
            <a:off x="548640" y="5605272"/>
            <a:ext cx="10607040" cy="320040"/>
          </a:xfrm>
          <a:prstGeom prst="rect">
            <a:avLst/>
          </a:prstGeom>
          <a:noFill/>
          <a:ln/>
        </p:spPr>
        <p:txBody>
          <a:bodyPr wrap="square" lIns="0" tIns="0" rIns="0" bIns="0" rtlCol="0" anchor="ctr"/>
          <a:lstStyle/>
          <a:p>
            <a:pPr indent="0" marL="0">
              <a:buNone/>
            </a:pPr>
            <a:r>
              <a:rPr lang="en-US" sz="950" i="1" dirty="0">
                <a:solidFill>
                  <a:srgbClr val="9FB6C9"/>
                </a:solidFill>
                <a:latin typeface="Calibri" pitchFamily="34" charset="0"/>
                <a:ea typeface="Calibri" pitchFamily="34" charset="-122"/>
                <a:cs typeface="Calibri" pitchFamily="34" charset="-120"/>
              </a:rPr>
              <a:t>Source: Cybersecurity Ventures; IBM Cost of a Data Breach Report, 2026.</a:t>
            </a:r>
            <a:endParaRPr lang="en-US" sz="950" dirty="0"/>
          </a:p>
        </p:txBody>
      </p:sp>
      <p:sp>
        <p:nvSpPr>
          <p:cNvPr id="15" name="Text 13"/>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9FB6C9"/>
                </a:solidFill>
                <a:latin typeface="Calibri" pitchFamily="34" charset="0"/>
                <a:ea typeface="Calibri" pitchFamily="34" charset="-122"/>
                <a:cs typeface="Calibri" pitchFamily="34" charset="-120"/>
              </a:rPr>
              <a:t>FOUNDATIONS OF IT</a:t>
            </a:r>
            <a:endParaRPr lang="en-US" sz="900" dirty="0"/>
          </a:p>
        </p:txBody>
      </p:sp>
      <p:sp>
        <p:nvSpPr>
          <p:cNvPr id="16" name="Text 14"/>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9FB6C9"/>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FOUNDATIONS OF IT</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Cloud Computing</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What It Provides</a:t>
            </a:r>
            <a:endParaRPr lang="en-US" sz="1350" dirty="0"/>
          </a:p>
        </p:txBody>
      </p:sp>
      <p:sp>
        <p:nvSpPr>
          <p:cNvPr id="7" name="Text 5"/>
          <p:cNvSpPr/>
          <p:nvPr/>
        </p:nvSpPr>
        <p:spPr>
          <a:xfrm>
            <a:off x="1078992" y="1801368"/>
            <a:ext cx="10332720" cy="658368"/>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Computing services — servers, storage, and databases — delivered over the Internet.</a:t>
            </a:r>
            <a:endParaRPr lang="en-US" sz="1150" dirty="0"/>
          </a:p>
        </p:txBody>
      </p:sp>
      <p:sp>
        <p:nvSpPr>
          <p:cNvPr id="8" name="Shape 6"/>
          <p:cNvSpPr/>
          <p:nvPr/>
        </p:nvSpPr>
        <p:spPr>
          <a:xfrm>
            <a:off x="548640" y="2523744"/>
            <a:ext cx="384048" cy="384048"/>
          </a:xfrm>
          <a:prstGeom prst="ellipse">
            <a:avLst/>
          </a:prstGeom>
          <a:solidFill>
            <a:srgbClr val="0D2C4B"/>
          </a:solidFill>
          <a:ln/>
        </p:spPr>
      </p:sp>
      <p:sp>
        <p:nvSpPr>
          <p:cNvPr id="9" name="Text 7"/>
          <p:cNvSpPr/>
          <p:nvPr/>
        </p:nvSpPr>
        <p:spPr>
          <a:xfrm>
            <a:off x="548640" y="25237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459736"/>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Service Models</a:t>
            </a:r>
            <a:endParaRPr lang="en-US" sz="1350" dirty="0"/>
          </a:p>
        </p:txBody>
      </p:sp>
      <p:sp>
        <p:nvSpPr>
          <p:cNvPr id="11" name="Text 9"/>
          <p:cNvSpPr/>
          <p:nvPr/>
        </p:nvSpPr>
        <p:spPr>
          <a:xfrm>
            <a:off x="1078992" y="2734056"/>
            <a:ext cx="10332720" cy="658368"/>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IaaS, PaaS, and SaaS cover infrastructure, platforms, and full applications.</a:t>
            </a:r>
            <a:endParaRPr lang="en-US" sz="1150" dirty="0"/>
          </a:p>
        </p:txBody>
      </p:sp>
      <p:sp>
        <p:nvSpPr>
          <p:cNvPr id="12" name="Shape 10"/>
          <p:cNvSpPr/>
          <p:nvPr/>
        </p:nvSpPr>
        <p:spPr>
          <a:xfrm>
            <a:off x="548640" y="3456432"/>
            <a:ext cx="384048" cy="384048"/>
          </a:xfrm>
          <a:prstGeom prst="ellipse">
            <a:avLst/>
          </a:prstGeom>
          <a:solidFill>
            <a:srgbClr val="0D2C4B"/>
          </a:solidFill>
          <a:ln/>
        </p:spPr>
      </p:sp>
      <p:sp>
        <p:nvSpPr>
          <p:cNvPr id="13" name="Text 11"/>
          <p:cNvSpPr/>
          <p:nvPr/>
        </p:nvSpPr>
        <p:spPr>
          <a:xfrm>
            <a:off x="548640" y="34564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78992" y="3392424"/>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Benefits</a:t>
            </a:r>
            <a:endParaRPr lang="en-US" sz="1350" dirty="0"/>
          </a:p>
        </p:txBody>
      </p:sp>
      <p:sp>
        <p:nvSpPr>
          <p:cNvPr id="15" name="Text 13"/>
          <p:cNvSpPr/>
          <p:nvPr/>
        </p:nvSpPr>
        <p:spPr>
          <a:xfrm>
            <a:off x="1078992" y="3666744"/>
            <a:ext cx="10332720" cy="658368"/>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Scalability, cost-efficiency, and accessibility from anywhere.</a:t>
            </a:r>
            <a:endParaRPr lang="en-US" sz="1150" dirty="0"/>
          </a:p>
        </p:txBody>
      </p:sp>
      <p:sp>
        <p:nvSpPr>
          <p:cNvPr id="16" name="Shape 14"/>
          <p:cNvSpPr/>
          <p:nvPr/>
        </p:nvSpPr>
        <p:spPr>
          <a:xfrm>
            <a:off x="548640" y="4389120"/>
            <a:ext cx="384048" cy="384048"/>
          </a:xfrm>
          <a:prstGeom prst="ellipse">
            <a:avLst/>
          </a:prstGeom>
          <a:solidFill>
            <a:srgbClr val="0D2C4B"/>
          </a:solidFill>
          <a:ln/>
        </p:spPr>
      </p:sp>
      <p:sp>
        <p:nvSpPr>
          <p:cNvPr id="17" name="Text 15"/>
          <p:cNvSpPr/>
          <p:nvPr/>
        </p:nvSpPr>
        <p:spPr>
          <a:xfrm>
            <a:off x="548640" y="43891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1078992" y="4325112"/>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Leading Providers</a:t>
            </a:r>
            <a:endParaRPr lang="en-US" sz="1350" dirty="0"/>
          </a:p>
        </p:txBody>
      </p:sp>
      <p:sp>
        <p:nvSpPr>
          <p:cNvPr id="19" name="Text 17"/>
          <p:cNvSpPr/>
          <p:nvPr/>
        </p:nvSpPr>
        <p:spPr>
          <a:xfrm>
            <a:off x="1078992" y="4599432"/>
            <a:ext cx="10332720" cy="658368"/>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Amazon Web Services, Microsoft Azure, and Google Cloud.</a:t>
            </a:r>
            <a:endParaRPr lang="en-US" sz="1150" dirty="0"/>
          </a:p>
        </p:txBody>
      </p:sp>
      <p:sp>
        <p:nvSpPr>
          <p:cNvPr id="20" name="Text 18"/>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FOUNDATIONS OF IT</a:t>
            </a:r>
            <a:endParaRPr lang="en-US" sz="900" dirty="0"/>
          </a:p>
        </p:txBody>
      </p:sp>
      <p:sp>
        <p:nvSpPr>
          <p:cNvPr id="21" name="Text 19"/>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1826"/>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FOUNDATIONS OF IT</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Cloud Market Landscape</a:t>
            </a:r>
            <a:endParaRPr lang="en-US" sz="2700" dirty="0"/>
          </a:p>
        </p:txBody>
      </p:sp>
      <p:sp>
        <p:nvSpPr>
          <p:cNvPr id="4" name="Text 2"/>
          <p:cNvSpPr/>
          <p:nvPr/>
        </p:nvSpPr>
        <p:spPr>
          <a:xfrm>
            <a:off x="548640" y="1536192"/>
            <a:ext cx="10607040" cy="457200"/>
          </a:xfrm>
          <a:prstGeom prst="rect">
            <a:avLst/>
          </a:prstGeom>
          <a:noFill/>
          <a:ln/>
        </p:spPr>
        <p:txBody>
          <a:bodyPr wrap="square" lIns="0" tIns="0" rIns="0" bIns="0" rtlCol="0" anchor="ctr"/>
          <a:lstStyle/>
          <a:p>
            <a:pPr indent="0" marL="0">
              <a:lnSpc>
                <a:spcPts val="1700"/>
              </a:lnSpc>
              <a:buNone/>
            </a:pPr>
            <a:r>
              <a:rPr lang="en-US" sz="1300" dirty="0">
                <a:solidFill>
                  <a:srgbClr val="9FB6C9"/>
                </a:solidFill>
                <a:latin typeface="Calibri" pitchFamily="34" charset="0"/>
                <a:ea typeface="Calibri" pitchFamily="34" charset="-122"/>
                <a:cs typeface="Calibri" pitchFamily="34" charset="-120"/>
              </a:rPr>
              <a:t>Three hyperscalers dominate global cloud infrastructure spending.</a:t>
            </a:r>
            <a:endParaRPr lang="en-US" sz="1300" dirty="0"/>
          </a:p>
        </p:txBody>
      </p:sp>
      <p:sp>
        <p:nvSpPr>
          <p:cNvPr id="5" name="Shape 3"/>
          <p:cNvSpPr/>
          <p:nvPr/>
        </p:nvSpPr>
        <p:spPr>
          <a:xfrm>
            <a:off x="548640" y="2331720"/>
            <a:ext cx="3454298" cy="3108960"/>
          </a:xfrm>
          <a:prstGeom prst="roundRect">
            <a:avLst>
              <a:gd name="adj" fmla="val 2353"/>
            </a:avLst>
          </a:prstGeom>
          <a:solidFill>
            <a:srgbClr val="16324F"/>
          </a:solidFill>
          <a:ln/>
        </p:spPr>
      </p:sp>
      <p:sp>
        <p:nvSpPr>
          <p:cNvPr id="6" name="Text 4"/>
          <p:cNvSpPr/>
          <p:nvPr/>
        </p:nvSpPr>
        <p:spPr>
          <a:xfrm>
            <a:off x="731520" y="2651760"/>
            <a:ext cx="3088538" cy="1005840"/>
          </a:xfrm>
          <a:prstGeom prst="rect">
            <a:avLst/>
          </a:prstGeom>
          <a:noFill/>
          <a:ln/>
        </p:spPr>
        <p:txBody>
          <a:bodyPr wrap="square" lIns="0" tIns="0" rIns="0" bIns="0" rtlCol="0" anchor="ctr"/>
          <a:lstStyle/>
          <a:p>
            <a:pPr algn="ctr" indent="0" marL="0">
              <a:buNone/>
            </a:pPr>
            <a:r>
              <a:rPr lang="en-US" sz="4000" b="1" dirty="0">
                <a:solidFill>
                  <a:srgbClr val="12B5CB"/>
                </a:solidFill>
                <a:latin typeface="Cambria" pitchFamily="34" charset="0"/>
                <a:ea typeface="Cambria" pitchFamily="34" charset="-122"/>
                <a:cs typeface="Cambria" pitchFamily="34" charset="-120"/>
              </a:rPr>
              <a:t>28%</a:t>
            </a:r>
            <a:endParaRPr lang="en-US" sz="4000" dirty="0"/>
          </a:p>
        </p:txBody>
      </p:sp>
      <p:sp>
        <p:nvSpPr>
          <p:cNvPr id="7" name="Text 5"/>
          <p:cNvSpPr/>
          <p:nvPr/>
        </p:nvSpPr>
        <p:spPr>
          <a:xfrm>
            <a:off x="777240" y="3703320"/>
            <a:ext cx="2997098" cy="1371600"/>
          </a:xfrm>
          <a:prstGeom prst="rect">
            <a:avLst/>
          </a:prstGeom>
          <a:noFill/>
          <a:ln/>
        </p:spPr>
        <p:txBody>
          <a:bodyPr wrap="square" lIns="0" tIns="0" rIns="0" bIns="0" rtlCol="0" anchor="ctr"/>
          <a:lstStyle/>
          <a:p>
            <a:pPr algn="ctr" indent="0" marL="0">
              <a:lnSpc>
                <a:spcPts val="1600"/>
              </a:lnSpc>
              <a:buNone/>
            </a:pPr>
            <a:r>
              <a:rPr lang="en-US" sz="1250" dirty="0">
                <a:solidFill>
                  <a:srgbClr val="FFFFFF"/>
                </a:solidFill>
                <a:latin typeface="Calibri" pitchFamily="34" charset="0"/>
                <a:ea typeface="Calibri" pitchFamily="34" charset="-122"/>
                <a:cs typeface="Calibri" pitchFamily="34" charset="-120"/>
              </a:rPr>
              <a:t>Amazon Web Services — global cloud infrastructure share</a:t>
            </a:r>
            <a:endParaRPr lang="en-US" sz="1250" dirty="0"/>
          </a:p>
        </p:txBody>
      </p:sp>
      <p:sp>
        <p:nvSpPr>
          <p:cNvPr id="8" name="Shape 6"/>
          <p:cNvSpPr/>
          <p:nvPr/>
        </p:nvSpPr>
        <p:spPr>
          <a:xfrm>
            <a:off x="4368698" y="2331720"/>
            <a:ext cx="3454298" cy="3108960"/>
          </a:xfrm>
          <a:prstGeom prst="roundRect">
            <a:avLst>
              <a:gd name="adj" fmla="val 2353"/>
            </a:avLst>
          </a:prstGeom>
          <a:solidFill>
            <a:srgbClr val="16324F"/>
          </a:solidFill>
          <a:ln/>
        </p:spPr>
      </p:sp>
      <p:sp>
        <p:nvSpPr>
          <p:cNvPr id="9" name="Text 7"/>
          <p:cNvSpPr/>
          <p:nvPr/>
        </p:nvSpPr>
        <p:spPr>
          <a:xfrm>
            <a:off x="4551578" y="2651760"/>
            <a:ext cx="3088538" cy="1005840"/>
          </a:xfrm>
          <a:prstGeom prst="rect">
            <a:avLst/>
          </a:prstGeom>
          <a:noFill/>
          <a:ln/>
        </p:spPr>
        <p:txBody>
          <a:bodyPr wrap="square" lIns="0" tIns="0" rIns="0" bIns="0" rtlCol="0" anchor="ctr"/>
          <a:lstStyle/>
          <a:p>
            <a:pPr algn="ctr" indent="0" marL="0">
              <a:buNone/>
            </a:pPr>
            <a:r>
              <a:rPr lang="en-US" sz="4000" b="1" dirty="0">
                <a:solidFill>
                  <a:srgbClr val="12B5CB"/>
                </a:solidFill>
                <a:latin typeface="Cambria" pitchFamily="34" charset="0"/>
                <a:ea typeface="Cambria" pitchFamily="34" charset="-122"/>
                <a:cs typeface="Cambria" pitchFamily="34" charset="-120"/>
              </a:rPr>
              <a:t>21%</a:t>
            </a:r>
            <a:endParaRPr lang="en-US" sz="4000" dirty="0"/>
          </a:p>
        </p:txBody>
      </p:sp>
      <p:sp>
        <p:nvSpPr>
          <p:cNvPr id="10" name="Text 8"/>
          <p:cNvSpPr/>
          <p:nvPr/>
        </p:nvSpPr>
        <p:spPr>
          <a:xfrm>
            <a:off x="4597298" y="3703320"/>
            <a:ext cx="2997098" cy="1371600"/>
          </a:xfrm>
          <a:prstGeom prst="rect">
            <a:avLst/>
          </a:prstGeom>
          <a:noFill/>
          <a:ln/>
        </p:spPr>
        <p:txBody>
          <a:bodyPr wrap="square" lIns="0" tIns="0" rIns="0" bIns="0" rtlCol="0" anchor="ctr"/>
          <a:lstStyle/>
          <a:p>
            <a:pPr algn="ctr" indent="0" marL="0">
              <a:lnSpc>
                <a:spcPts val="1600"/>
              </a:lnSpc>
              <a:buNone/>
            </a:pPr>
            <a:r>
              <a:rPr lang="en-US" sz="1250" dirty="0">
                <a:solidFill>
                  <a:srgbClr val="FFFFFF"/>
                </a:solidFill>
                <a:latin typeface="Calibri" pitchFamily="34" charset="0"/>
                <a:ea typeface="Calibri" pitchFamily="34" charset="-122"/>
                <a:cs typeface="Calibri" pitchFamily="34" charset="-120"/>
              </a:rPr>
              <a:t>Microsoft Azure — global cloud infrastructure share</a:t>
            </a:r>
            <a:endParaRPr lang="en-US" sz="1250" dirty="0"/>
          </a:p>
        </p:txBody>
      </p:sp>
      <p:sp>
        <p:nvSpPr>
          <p:cNvPr id="11" name="Shape 9"/>
          <p:cNvSpPr/>
          <p:nvPr/>
        </p:nvSpPr>
        <p:spPr>
          <a:xfrm>
            <a:off x="8188757" y="2331720"/>
            <a:ext cx="3454298" cy="3108960"/>
          </a:xfrm>
          <a:prstGeom prst="roundRect">
            <a:avLst>
              <a:gd name="adj" fmla="val 2353"/>
            </a:avLst>
          </a:prstGeom>
          <a:solidFill>
            <a:srgbClr val="16324F"/>
          </a:solidFill>
          <a:ln/>
        </p:spPr>
      </p:sp>
      <p:sp>
        <p:nvSpPr>
          <p:cNvPr id="12" name="Text 10"/>
          <p:cNvSpPr/>
          <p:nvPr/>
        </p:nvSpPr>
        <p:spPr>
          <a:xfrm>
            <a:off x="8371637" y="2651760"/>
            <a:ext cx="3088538" cy="1005840"/>
          </a:xfrm>
          <a:prstGeom prst="rect">
            <a:avLst/>
          </a:prstGeom>
          <a:noFill/>
          <a:ln/>
        </p:spPr>
        <p:txBody>
          <a:bodyPr wrap="square" lIns="0" tIns="0" rIns="0" bIns="0" rtlCol="0" anchor="ctr"/>
          <a:lstStyle/>
          <a:p>
            <a:pPr algn="ctr" indent="0" marL="0">
              <a:buNone/>
            </a:pPr>
            <a:r>
              <a:rPr lang="en-US" sz="4000" b="1" dirty="0">
                <a:solidFill>
                  <a:srgbClr val="12B5CB"/>
                </a:solidFill>
                <a:latin typeface="Cambria" pitchFamily="34" charset="0"/>
                <a:ea typeface="Cambria" pitchFamily="34" charset="-122"/>
                <a:cs typeface="Cambria" pitchFamily="34" charset="-120"/>
              </a:rPr>
              <a:t>14%</a:t>
            </a:r>
            <a:endParaRPr lang="en-US" sz="4000" dirty="0"/>
          </a:p>
        </p:txBody>
      </p:sp>
      <p:sp>
        <p:nvSpPr>
          <p:cNvPr id="13" name="Text 11"/>
          <p:cNvSpPr/>
          <p:nvPr/>
        </p:nvSpPr>
        <p:spPr>
          <a:xfrm>
            <a:off x="8417357" y="3703320"/>
            <a:ext cx="2997098" cy="1371600"/>
          </a:xfrm>
          <a:prstGeom prst="rect">
            <a:avLst/>
          </a:prstGeom>
          <a:noFill/>
          <a:ln/>
        </p:spPr>
        <p:txBody>
          <a:bodyPr wrap="square" lIns="0" tIns="0" rIns="0" bIns="0" rtlCol="0" anchor="ctr"/>
          <a:lstStyle/>
          <a:p>
            <a:pPr algn="ctr" indent="0" marL="0">
              <a:lnSpc>
                <a:spcPts val="1600"/>
              </a:lnSpc>
              <a:buNone/>
            </a:pPr>
            <a:r>
              <a:rPr lang="en-US" sz="1250" dirty="0">
                <a:solidFill>
                  <a:srgbClr val="FFFFFF"/>
                </a:solidFill>
                <a:latin typeface="Calibri" pitchFamily="34" charset="0"/>
                <a:ea typeface="Calibri" pitchFamily="34" charset="-122"/>
                <a:cs typeface="Calibri" pitchFamily="34" charset="-120"/>
              </a:rPr>
              <a:t>Google Cloud — global cloud infrastructure share</a:t>
            </a:r>
            <a:endParaRPr lang="en-US" sz="1250" dirty="0"/>
          </a:p>
        </p:txBody>
      </p:sp>
      <p:sp>
        <p:nvSpPr>
          <p:cNvPr id="14" name="Text 12"/>
          <p:cNvSpPr/>
          <p:nvPr/>
        </p:nvSpPr>
        <p:spPr>
          <a:xfrm>
            <a:off x="548640" y="5605272"/>
            <a:ext cx="10607040" cy="320040"/>
          </a:xfrm>
          <a:prstGeom prst="rect">
            <a:avLst/>
          </a:prstGeom>
          <a:noFill/>
          <a:ln/>
        </p:spPr>
        <p:txBody>
          <a:bodyPr wrap="square" lIns="0" tIns="0" rIns="0" bIns="0" rtlCol="0" anchor="ctr"/>
          <a:lstStyle/>
          <a:p>
            <a:pPr indent="0" marL="0">
              <a:buNone/>
            </a:pPr>
            <a:r>
              <a:rPr lang="en-US" sz="950" i="1" dirty="0">
                <a:solidFill>
                  <a:srgbClr val="9FB6C9"/>
                </a:solidFill>
                <a:latin typeface="Calibri" pitchFamily="34" charset="0"/>
                <a:ea typeface="Calibri" pitchFamily="34" charset="-122"/>
                <a:cs typeface="Calibri" pitchFamily="34" charset="-120"/>
              </a:rPr>
              <a:t>Source: Synergy Research Group, Q1 2026. Public cloud end-user spending is forecast at $850B in 2026 (Gartner).</a:t>
            </a:r>
            <a:endParaRPr lang="en-US" sz="950" dirty="0"/>
          </a:p>
        </p:txBody>
      </p:sp>
      <p:sp>
        <p:nvSpPr>
          <p:cNvPr id="15" name="Text 13"/>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9FB6C9"/>
                </a:solidFill>
                <a:latin typeface="Calibri" pitchFamily="34" charset="0"/>
                <a:ea typeface="Calibri" pitchFamily="34" charset="-122"/>
                <a:cs typeface="Calibri" pitchFamily="34" charset="-120"/>
              </a:rPr>
              <a:t>FOUNDATIONS OF IT</a:t>
            </a:r>
            <a:endParaRPr lang="en-US" sz="900" dirty="0"/>
          </a:p>
        </p:txBody>
      </p:sp>
      <p:sp>
        <p:nvSpPr>
          <p:cNvPr id="16" name="Text 14"/>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9FB6C9"/>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FOUNDATIONS OF IT</a:t>
            </a:r>
            <a:endParaRPr lang="en-US" sz="1150" dirty="0"/>
          </a:p>
        </p:txBody>
      </p:sp>
      <p:sp>
        <p:nvSpPr>
          <p:cNvPr id="3" name="Text 1"/>
          <p:cNvSpPr/>
          <p:nvPr/>
        </p:nvSpPr>
        <p:spPr>
          <a:xfrm>
            <a:off x="548640" y="868680"/>
            <a:ext cx="10607040" cy="54864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Emerging IT Technologies</a:t>
            </a:r>
            <a:endParaRPr lang="en-US" sz="2700" dirty="0"/>
          </a:p>
        </p:txBody>
      </p:sp>
      <p:sp>
        <p:nvSpPr>
          <p:cNvPr id="4" name="Shape 2"/>
          <p:cNvSpPr/>
          <p:nvPr/>
        </p:nvSpPr>
        <p:spPr>
          <a:xfrm>
            <a:off x="548640" y="1508760"/>
            <a:ext cx="5364328" cy="2263140"/>
          </a:xfrm>
          <a:prstGeom prst="roundRect">
            <a:avLst>
              <a:gd name="adj" fmla="val 3232"/>
            </a:avLst>
          </a:prstGeom>
          <a:solidFill>
            <a:srgbClr val="F2F6F9"/>
          </a:solidFill>
          <a:ln/>
        </p:spPr>
      </p:sp>
      <p:sp>
        <p:nvSpPr>
          <p:cNvPr id="5" name="Shape 3"/>
          <p:cNvSpPr/>
          <p:nvPr/>
        </p:nvSpPr>
        <p:spPr>
          <a:xfrm>
            <a:off x="777240" y="1737360"/>
            <a:ext cx="384048" cy="384048"/>
          </a:xfrm>
          <a:prstGeom prst="ellipse">
            <a:avLst/>
          </a:prstGeom>
          <a:solidFill>
            <a:srgbClr val="0D2C4B"/>
          </a:solidFill>
          <a:ln/>
        </p:spPr>
      </p:sp>
      <p:sp>
        <p:nvSpPr>
          <p:cNvPr id="6" name="Text 4"/>
          <p:cNvSpPr/>
          <p:nvPr/>
        </p:nvSpPr>
        <p:spPr>
          <a:xfrm>
            <a:off x="777240" y="17373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a:t>
            </a:r>
            <a:endParaRPr lang="en-US" sz="1200" dirty="0"/>
          </a:p>
        </p:txBody>
      </p:sp>
      <p:sp>
        <p:nvSpPr>
          <p:cNvPr id="7" name="Text 5"/>
          <p:cNvSpPr/>
          <p:nvPr/>
        </p:nvSpPr>
        <p:spPr>
          <a:xfrm>
            <a:off x="1298448" y="17282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Artificial Intelligence</a:t>
            </a:r>
            <a:endParaRPr lang="en-US" sz="1450" dirty="0"/>
          </a:p>
        </p:txBody>
      </p:sp>
      <p:sp>
        <p:nvSpPr>
          <p:cNvPr id="8" name="Text 6"/>
          <p:cNvSpPr/>
          <p:nvPr/>
        </p:nvSpPr>
        <p:spPr>
          <a:xfrm>
            <a:off x="777240" y="22585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Machine learning, automation, and natural language processing power smarter systems and decisions.</a:t>
            </a:r>
            <a:endParaRPr lang="en-US" sz="1080" dirty="0"/>
          </a:p>
        </p:txBody>
      </p:sp>
      <p:sp>
        <p:nvSpPr>
          <p:cNvPr id="9" name="Shape 7"/>
          <p:cNvSpPr/>
          <p:nvPr/>
        </p:nvSpPr>
        <p:spPr>
          <a:xfrm>
            <a:off x="6278728" y="1508760"/>
            <a:ext cx="5364328" cy="2263140"/>
          </a:xfrm>
          <a:prstGeom prst="roundRect">
            <a:avLst>
              <a:gd name="adj" fmla="val 3232"/>
            </a:avLst>
          </a:prstGeom>
          <a:solidFill>
            <a:srgbClr val="F2F6F9"/>
          </a:solidFill>
          <a:ln/>
        </p:spPr>
      </p:sp>
      <p:sp>
        <p:nvSpPr>
          <p:cNvPr id="10" name="Shape 8"/>
          <p:cNvSpPr/>
          <p:nvPr/>
        </p:nvSpPr>
        <p:spPr>
          <a:xfrm>
            <a:off x="6507328" y="1737360"/>
            <a:ext cx="384048" cy="384048"/>
          </a:xfrm>
          <a:prstGeom prst="ellipse">
            <a:avLst/>
          </a:prstGeom>
          <a:solidFill>
            <a:srgbClr val="0B8A9C"/>
          </a:solidFill>
          <a:ln/>
        </p:spPr>
      </p:sp>
      <p:sp>
        <p:nvSpPr>
          <p:cNvPr id="11" name="Text 9"/>
          <p:cNvSpPr/>
          <p:nvPr/>
        </p:nvSpPr>
        <p:spPr>
          <a:xfrm>
            <a:off x="6507328" y="17373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IoT</a:t>
            </a:r>
            <a:endParaRPr lang="en-US" sz="1200" dirty="0"/>
          </a:p>
        </p:txBody>
      </p:sp>
      <p:sp>
        <p:nvSpPr>
          <p:cNvPr id="12" name="Text 10"/>
          <p:cNvSpPr/>
          <p:nvPr/>
        </p:nvSpPr>
        <p:spPr>
          <a:xfrm>
            <a:off x="7028536" y="17282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Internet of Things</a:t>
            </a:r>
            <a:endParaRPr lang="en-US" sz="1450" dirty="0"/>
          </a:p>
        </p:txBody>
      </p:sp>
      <p:sp>
        <p:nvSpPr>
          <p:cNvPr id="13" name="Text 11"/>
          <p:cNvSpPr/>
          <p:nvPr/>
        </p:nvSpPr>
        <p:spPr>
          <a:xfrm>
            <a:off x="6507328" y="22585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Smart devices connected via the Internet, sharing data in real time across homes, cities, and factories.</a:t>
            </a:r>
            <a:endParaRPr lang="en-US" sz="1080" dirty="0"/>
          </a:p>
        </p:txBody>
      </p:sp>
      <p:sp>
        <p:nvSpPr>
          <p:cNvPr id="14" name="Shape 12"/>
          <p:cNvSpPr/>
          <p:nvPr/>
        </p:nvSpPr>
        <p:spPr>
          <a:xfrm>
            <a:off x="548640" y="4137660"/>
            <a:ext cx="5364328" cy="2263140"/>
          </a:xfrm>
          <a:prstGeom prst="roundRect">
            <a:avLst>
              <a:gd name="adj" fmla="val 3232"/>
            </a:avLst>
          </a:prstGeom>
          <a:solidFill>
            <a:srgbClr val="F2F6F9"/>
          </a:solidFill>
          <a:ln/>
        </p:spPr>
      </p:sp>
      <p:sp>
        <p:nvSpPr>
          <p:cNvPr id="15" name="Shape 13"/>
          <p:cNvSpPr/>
          <p:nvPr/>
        </p:nvSpPr>
        <p:spPr>
          <a:xfrm>
            <a:off x="777240" y="4366260"/>
            <a:ext cx="384048" cy="384048"/>
          </a:xfrm>
          <a:prstGeom prst="ellipse">
            <a:avLst/>
          </a:prstGeom>
          <a:solidFill>
            <a:srgbClr val="E8934C"/>
          </a:solidFill>
          <a:ln/>
        </p:spPr>
      </p:sp>
      <p:sp>
        <p:nvSpPr>
          <p:cNvPr id="16" name="Text 14"/>
          <p:cNvSpPr/>
          <p:nvPr/>
        </p:nvSpPr>
        <p:spPr>
          <a:xfrm>
            <a:off x="777240" y="43662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BC</a:t>
            </a:r>
            <a:endParaRPr lang="en-US" sz="1200" dirty="0"/>
          </a:p>
        </p:txBody>
      </p:sp>
      <p:sp>
        <p:nvSpPr>
          <p:cNvPr id="17" name="Text 15"/>
          <p:cNvSpPr/>
          <p:nvPr/>
        </p:nvSpPr>
        <p:spPr>
          <a:xfrm>
            <a:off x="1298448" y="43571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Blockchain</a:t>
            </a:r>
            <a:endParaRPr lang="en-US" sz="1450" dirty="0"/>
          </a:p>
        </p:txBody>
      </p:sp>
      <p:sp>
        <p:nvSpPr>
          <p:cNvPr id="18" name="Text 16"/>
          <p:cNvSpPr/>
          <p:nvPr/>
        </p:nvSpPr>
        <p:spPr>
          <a:xfrm>
            <a:off x="777240" y="48874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A secure, decentralized ledger that records transactions transparently without a central authority.</a:t>
            </a:r>
            <a:endParaRPr lang="en-US" sz="1080" dirty="0"/>
          </a:p>
        </p:txBody>
      </p:sp>
      <p:sp>
        <p:nvSpPr>
          <p:cNvPr id="19" name="Shape 17"/>
          <p:cNvSpPr/>
          <p:nvPr/>
        </p:nvSpPr>
        <p:spPr>
          <a:xfrm>
            <a:off x="6278728" y="4137660"/>
            <a:ext cx="5364328" cy="2263140"/>
          </a:xfrm>
          <a:prstGeom prst="roundRect">
            <a:avLst>
              <a:gd name="adj" fmla="val 3232"/>
            </a:avLst>
          </a:prstGeom>
          <a:solidFill>
            <a:srgbClr val="F2F6F9"/>
          </a:solidFill>
          <a:ln/>
        </p:spPr>
      </p:sp>
      <p:sp>
        <p:nvSpPr>
          <p:cNvPr id="20" name="Shape 18"/>
          <p:cNvSpPr/>
          <p:nvPr/>
        </p:nvSpPr>
        <p:spPr>
          <a:xfrm>
            <a:off x="6507328" y="4366260"/>
            <a:ext cx="384048" cy="384048"/>
          </a:xfrm>
          <a:prstGeom prst="ellipse">
            <a:avLst/>
          </a:prstGeom>
          <a:solidFill>
            <a:srgbClr val="C85A46"/>
          </a:solidFill>
          <a:ln/>
        </p:spPr>
      </p:sp>
      <p:sp>
        <p:nvSpPr>
          <p:cNvPr id="21" name="Text 19"/>
          <p:cNvSpPr/>
          <p:nvPr/>
        </p:nvSpPr>
        <p:spPr>
          <a:xfrm>
            <a:off x="6507328" y="43662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BD</a:t>
            </a:r>
            <a:endParaRPr lang="en-US" sz="1200" dirty="0"/>
          </a:p>
        </p:txBody>
      </p:sp>
      <p:sp>
        <p:nvSpPr>
          <p:cNvPr id="22" name="Text 20"/>
          <p:cNvSpPr/>
          <p:nvPr/>
        </p:nvSpPr>
        <p:spPr>
          <a:xfrm>
            <a:off x="7028536" y="43571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Big Data</a:t>
            </a:r>
            <a:endParaRPr lang="en-US" sz="1450" dirty="0"/>
          </a:p>
        </p:txBody>
      </p:sp>
      <p:sp>
        <p:nvSpPr>
          <p:cNvPr id="23" name="Text 21"/>
          <p:cNvSpPr/>
          <p:nvPr/>
        </p:nvSpPr>
        <p:spPr>
          <a:xfrm>
            <a:off x="6507328" y="48874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Analysis of massive, fast-moving datasets to uncover patterns and insights at scale.</a:t>
            </a:r>
            <a:endParaRPr lang="en-US" sz="1080" dirty="0"/>
          </a:p>
        </p:txBody>
      </p:sp>
      <p:sp>
        <p:nvSpPr>
          <p:cNvPr id="24"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FOUNDATIONS OF IT</a:t>
            </a:r>
            <a:endParaRPr lang="en-US" sz="900" dirty="0"/>
          </a:p>
        </p:txBody>
      </p:sp>
      <p:sp>
        <p:nvSpPr>
          <p:cNvPr id="25" name="Text 2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FOUNDATIONS OF IT</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IT Applications in Business &amp; Society</a:t>
            </a:r>
            <a:endParaRPr lang="en-US" sz="2700" dirty="0"/>
          </a:p>
        </p:txBody>
      </p:sp>
      <p:sp>
        <p:nvSpPr>
          <p:cNvPr id="4" name="Shape 2"/>
          <p:cNvSpPr/>
          <p:nvPr/>
        </p:nvSpPr>
        <p:spPr>
          <a:xfrm>
            <a:off x="548640" y="1691640"/>
            <a:ext cx="5257800" cy="3383280"/>
          </a:xfrm>
          <a:prstGeom prst="roundRect">
            <a:avLst>
              <a:gd name="adj" fmla="val 2162"/>
            </a:avLst>
          </a:prstGeom>
          <a:solidFill>
            <a:srgbClr val="F2F6F9"/>
          </a:solidFill>
          <a:ln/>
        </p:spPr>
      </p:sp>
      <p:sp>
        <p:nvSpPr>
          <p:cNvPr id="5" name="Shape 3"/>
          <p:cNvSpPr/>
          <p:nvPr/>
        </p:nvSpPr>
        <p:spPr>
          <a:xfrm>
            <a:off x="548640" y="1691640"/>
            <a:ext cx="5257800" cy="566928"/>
          </a:xfrm>
          <a:prstGeom prst="roundRect">
            <a:avLst>
              <a:gd name="adj" fmla="val 12903"/>
            </a:avLst>
          </a:prstGeom>
          <a:solidFill>
            <a:srgbClr val="0D2C4B"/>
          </a:solidFill>
          <a:ln/>
        </p:spPr>
      </p:sp>
      <p:sp>
        <p:nvSpPr>
          <p:cNvPr id="6" name="Shape 4"/>
          <p:cNvSpPr/>
          <p:nvPr/>
        </p:nvSpPr>
        <p:spPr>
          <a:xfrm>
            <a:off x="548640" y="2011680"/>
            <a:ext cx="5257800" cy="246888"/>
          </a:xfrm>
          <a:prstGeom prst="rect">
            <a:avLst/>
          </a:prstGeom>
          <a:solidFill>
            <a:srgbClr val="0D2C4B"/>
          </a:solidFill>
          <a:ln/>
        </p:spPr>
      </p:sp>
      <p:sp>
        <p:nvSpPr>
          <p:cNvPr id="7" name="Text 5"/>
          <p:cNvSpPr/>
          <p:nvPr/>
        </p:nvSpPr>
        <p:spPr>
          <a:xfrm>
            <a:off x="822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In Business</a:t>
            </a:r>
            <a:endParaRPr lang="en-US" sz="1550" dirty="0"/>
          </a:p>
        </p:txBody>
      </p:sp>
      <p:sp>
        <p:nvSpPr>
          <p:cNvPr id="8" name="Shape 6"/>
          <p:cNvSpPr/>
          <p:nvPr/>
        </p:nvSpPr>
        <p:spPr>
          <a:xfrm>
            <a:off x="822960" y="2523744"/>
            <a:ext cx="82296" cy="82296"/>
          </a:xfrm>
          <a:prstGeom prst="ellipse">
            <a:avLst/>
          </a:prstGeom>
          <a:solidFill>
            <a:srgbClr val="0D2C4B"/>
          </a:solidFill>
          <a:ln/>
        </p:spPr>
      </p:sp>
      <p:sp>
        <p:nvSpPr>
          <p:cNvPr id="9" name="Text 7"/>
          <p:cNvSpPr/>
          <p:nvPr/>
        </p:nvSpPr>
        <p:spPr>
          <a:xfrm>
            <a:off x="1024128" y="2395728"/>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E-commerce and digital marketing</a:t>
            </a:r>
            <a:endParaRPr lang="en-US" sz="1200" dirty="0"/>
          </a:p>
        </p:txBody>
      </p:sp>
      <p:sp>
        <p:nvSpPr>
          <p:cNvPr id="10" name="Shape 8"/>
          <p:cNvSpPr/>
          <p:nvPr/>
        </p:nvSpPr>
        <p:spPr>
          <a:xfrm>
            <a:off x="822960" y="2944368"/>
            <a:ext cx="82296" cy="82296"/>
          </a:xfrm>
          <a:prstGeom prst="ellipse">
            <a:avLst/>
          </a:prstGeom>
          <a:solidFill>
            <a:srgbClr val="0D2C4B"/>
          </a:solidFill>
          <a:ln/>
        </p:spPr>
      </p:sp>
      <p:sp>
        <p:nvSpPr>
          <p:cNvPr id="11" name="Text 9"/>
          <p:cNvSpPr/>
          <p:nvPr/>
        </p:nvSpPr>
        <p:spPr>
          <a:xfrm>
            <a:off x="1024128" y="2816352"/>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Enterprise Resource Planning (ERP)</a:t>
            </a:r>
            <a:endParaRPr lang="en-US" sz="1200" dirty="0"/>
          </a:p>
        </p:txBody>
      </p:sp>
      <p:sp>
        <p:nvSpPr>
          <p:cNvPr id="12" name="Shape 10"/>
          <p:cNvSpPr/>
          <p:nvPr/>
        </p:nvSpPr>
        <p:spPr>
          <a:xfrm>
            <a:off x="822960" y="3364992"/>
            <a:ext cx="82296" cy="82296"/>
          </a:xfrm>
          <a:prstGeom prst="ellipse">
            <a:avLst/>
          </a:prstGeom>
          <a:solidFill>
            <a:srgbClr val="0D2C4B"/>
          </a:solidFill>
          <a:ln/>
        </p:spPr>
      </p:sp>
      <p:sp>
        <p:nvSpPr>
          <p:cNvPr id="13" name="Text 11"/>
          <p:cNvSpPr/>
          <p:nvPr/>
        </p:nvSpPr>
        <p:spPr>
          <a:xfrm>
            <a:off x="1024128" y="3236976"/>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Customer Relationship Management (CRM)</a:t>
            </a:r>
            <a:endParaRPr lang="en-US" sz="1200" dirty="0"/>
          </a:p>
        </p:txBody>
      </p:sp>
      <p:sp>
        <p:nvSpPr>
          <p:cNvPr id="14" name="Shape 12"/>
          <p:cNvSpPr/>
          <p:nvPr/>
        </p:nvSpPr>
        <p:spPr>
          <a:xfrm>
            <a:off x="822960" y="3785616"/>
            <a:ext cx="82296" cy="82296"/>
          </a:xfrm>
          <a:prstGeom prst="ellipse">
            <a:avLst/>
          </a:prstGeom>
          <a:solidFill>
            <a:srgbClr val="0D2C4B"/>
          </a:solidFill>
          <a:ln/>
        </p:spPr>
      </p:sp>
      <p:sp>
        <p:nvSpPr>
          <p:cNvPr id="15" name="Text 13"/>
          <p:cNvSpPr/>
          <p:nvPr/>
        </p:nvSpPr>
        <p:spPr>
          <a:xfrm>
            <a:off x="1024128" y="3657600"/>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Business intelligence and analytics</a:t>
            </a:r>
            <a:endParaRPr lang="en-US" sz="1200" dirty="0"/>
          </a:p>
        </p:txBody>
      </p:sp>
      <p:sp>
        <p:nvSpPr>
          <p:cNvPr id="16" name="Shape 14"/>
          <p:cNvSpPr/>
          <p:nvPr/>
        </p:nvSpPr>
        <p:spPr>
          <a:xfrm>
            <a:off x="822960" y="4206240"/>
            <a:ext cx="82296" cy="82296"/>
          </a:xfrm>
          <a:prstGeom prst="ellipse">
            <a:avLst/>
          </a:prstGeom>
          <a:solidFill>
            <a:srgbClr val="0D2C4B"/>
          </a:solidFill>
          <a:ln/>
        </p:spPr>
      </p:sp>
      <p:sp>
        <p:nvSpPr>
          <p:cNvPr id="17" name="Text 15"/>
          <p:cNvSpPr/>
          <p:nvPr/>
        </p:nvSpPr>
        <p:spPr>
          <a:xfrm>
            <a:off x="1024128" y="4078224"/>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Remote work and collaboration tools</a:t>
            </a:r>
            <a:endParaRPr lang="en-US" sz="1200" dirty="0"/>
          </a:p>
        </p:txBody>
      </p:sp>
      <p:sp>
        <p:nvSpPr>
          <p:cNvPr id="18" name="Shape 16"/>
          <p:cNvSpPr/>
          <p:nvPr/>
        </p:nvSpPr>
        <p:spPr>
          <a:xfrm>
            <a:off x="6263640" y="1691640"/>
            <a:ext cx="5257800" cy="3383280"/>
          </a:xfrm>
          <a:prstGeom prst="roundRect">
            <a:avLst>
              <a:gd name="adj" fmla="val 2162"/>
            </a:avLst>
          </a:prstGeom>
          <a:solidFill>
            <a:srgbClr val="F2F6F9"/>
          </a:solidFill>
          <a:ln/>
        </p:spPr>
      </p:sp>
      <p:sp>
        <p:nvSpPr>
          <p:cNvPr id="19" name="Shape 17"/>
          <p:cNvSpPr/>
          <p:nvPr/>
        </p:nvSpPr>
        <p:spPr>
          <a:xfrm>
            <a:off x="6263640" y="1691640"/>
            <a:ext cx="5257800" cy="566928"/>
          </a:xfrm>
          <a:prstGeom prst="roundRect">
            <a:avLst>
              <a:gd name="adj" fmla="val 12903"/>
            </a:avLst>
          </a:prstGeom>
          <a:solidFill>
            <a:srgbClr val="0B8A9C"/>
          </a:solidFill>
          <a:ln/>
        </p:spPr>
      </p:sp>
      <p:sp>
        <p:nvSpPr>
          <p:cNvPr id="20" name="Shape 18"/>
          <p:cNvSpPr/>
          <p:nvPr/>
        </p:nvSpPr>
        <p:spPr>
          <a:xfrm>
            <a:off x="6263640" y="2011680"/>
            <a:ext cx="5257800" cy="246888"/>
          </a:xfrm>
          <a:prstGeom prst="rect">
            <a:avLst/>
          </a:prstGeom>
          <a:solidFill>
            <a:srgbClr val="0B8A9C"/>
          </a:solidFill>
          <a:ln/>
        </p:spPr>
      </p:sp>
      <p:sp>
        <p:nvSpPr>
          <p:cNvPr id="21" name="Text 19"/>
          <p:cNvSpPr/>
          <p:nvPr/>
        </p:nvSpPr>
        <p:spPr>
          <a:xfrm>
            <a:off x="6537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In Education &amp; Society</a:t>
            </a:r>
            <a:endParaRPr lang="en-US" sz="1550" dirty="0"/>
          </a:p>
        </p:txBody>
      </p:sp>
      <p:sp>
        <p:nvSpPr>
          <p:cNvPr id="22" name="Shape 20"/>
          <p:cNvSpPr/>
          <p:nvPr/>
        </p:nvSpPr>
        <p:spPr>
          <a:xfrm>
            <a:off x="6537960" y="2523744"/>
            <a:ext cx="82296" cy="82296"/>
          </a:xfrm>
          <a:prstGeom prst="ellipse">
            <a:avLst/>
          </a:prstGeom>
          <a:solidFill>
            <a:srgbClr val="0B8A9C"/>
          </a:solidFill>
          <a:ln/>
        </p:spPr>
      </p:sp>
      <p:sp>
        <p:nvSpPr>
          <p:cNvPr id="23" name="Text 21"/>
          <p:cNvSpPr/>
          <p:nvPr/>
        </p:nvSpPr>
        <p:spPr>
          <a:xfrm>
            <a:off x="6739128" y="2395728"/>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E-learning platforms and virtual classrooms</a:t>
            </a:r>
            <a:endParaRPr lang="en-US" sz="1200" dirty="0"/>
          </a:p>
        </p:txBody>
      </p:sp>
      <p:sp>
        <p:nvSpPr>
          <p:cNvPr id="24" name="Shape 22"/>
          <p:cNvSpPr/>
          <p:nvPr/>
        </p:nvSpPr>
        <p:spPr>
          <a:xfrm>
            <a:off x="6537960" y="2944368"/>
            <a:ext cx="82296" cy="82296"/>
          </a:xfrm>
          <a:prstGeom prst="ellipse">
            <a:avLst/>
          </a:prstGeom>
          <a:solidFill>
            <a:srgbClr val="0B8A9C"/>
          </a:solidFill>
          <a:ln/>
        </p:spPr>
      </p:sp>
      <p:sp>
        <p:nvSpPr>
          <p:cNvPr id="25" name="Text 23"/>
          <p:cNvSpPr/>
          <p:nvPr/>
        </p:nvSpPr>
        <p:spPr>
          <a:xfrm>
            <a:off x="6739128" y="2816352"/>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Digital libraries and research tools</a:t>
            </a:r>
            <a:endParaRPr lang="en-US" sz="1200" dirty="0"/>
          </a:p>
        </p:txBody>
      </p:sp>
      <p:sp>
        <p:nvSpPr>
          <p:cNvPr id="26" name="Shape 24"/>
          <p:cNvSpPr/>
          <p:nvPr/>
        </p:nvSpPr>
        <p:spPr>
          <a:xfrm>
            <a:off x="6537960" y="3364992"/>
            <a:ext cx="82296" cy="82296"/>
          </a:xfrm>
          <a:prstGeom prst="ellipse">
            <a:avLst/>
          </a:prstGeom>
          <a:solidFill>
            <a:srgbClr val="0B8A9C"/>
          </a:solidFill>
          <a:ln/>
        </p:spPr>
      </p:sp>
      <p:sp>
        <p:nvSpPr>
          <p:cNvPr id="27" name="Text 25"/>
          <p:cNvSpPr/>
          <p:nvPr/>
        </p:nvSpPr>
        <p:spPr>
          <a:xfrm>
            <a:off x="6739128" y="3236976"/>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Social media and digital communication</a:t>
            </a:r>
            <a:endParaRPr lang="en-US" sz="1200" dirty="0"/>
          </a:p>
        </p:txBody>
      </p:sp>
      <p:sp>
        <p:nvSpPr>
          <p:cNvPr id="28" name="Shape 26"/>
          <p:cNvSpPr/>
          <p:nvPr/>
        </p:nvSpPr>
        <p:spPr>
          <a:xfrm>
            <a:off x="6537960" y="3785616"/>
            <a:ext cx="82296" cy="82296"/>
          </a:xfrm>
          <a:prstGeom prst="ellipse">
            <a:avLst/>
          </a:prstGeom>
          <a:solidFill>
            <a:srgbClr val="0B8A9C"/>
          </a:solidFill>
          <a:ln/>
        </p:spPr>
      </p:sp>
      <p:sp>
        <p:nvSpPr>
          <p:cNvPr id="29" name="Text 27"/>
          <p:cNvSpPr/>
          <p:nvPr/>
        </p:nvSpPr>
        <p:spPr>
          <a:xfrm>
            <a:off x="6739128" y="3657600"/>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IT's impact on social awareness and global connectivity</a:t>
            </a:r>
            <a:endParaRPr lang="en-US" sz="1200" dirty="0"/>
          </a:p>
        </p:txBody>
      </p:sp>
      <p:sp>
        <p:nvSpPr>
          <p:cNvPr id="30" name="Text 28"/>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FOUNDATIONS OF IT</a:t>
            </a:r>
            <a:endParaRPr lang="en-US" sz="900" dirty="0"/>
          </a:p>
        </p:txBody>
      </p:sp>
      <p:sp>
        <p:nvSpPr>
          <p:cNvPr id="31" name="Text 29"/>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81826"/>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63A5C">
              <a:alpha val="65000"/>
            </a:srgbClr>
          </a:solidFill>
          <a:ln/>
        </p:spPr>
      </p:sp>
      <p:sp>
        <p:nvSpPr>
          <p:cNvPr id="3" name="Shape 1"/>
          <p:cNvSpPr/>
          <p:nvPr/>
        </p:nvSpPr>
        <p:spPr>
          <a:xfrm>
            <a:off x="-1280160" y="4937760"/>
            <a:ext cx="3291840" cy="3291840"/>
          </a:xfrm>
          <a:prstGeom prst="ellipse">
            <a:avLst/>
          </a:prstGeom>
          <a:solidFill>
            <a:srgbClr val="12B5CB">
              <a:alpha val="18000"/>
            </a:srgbClr>
          </a:solidFill>
          <a:ln/>
        </p:spPr>
      </p:sp>
      <p:sp>
        <p:nvSpPr>
          <p:cNvPr id="4" name="Text 2"/>
          <p:cNvSpPr/>
          <p:nvPr/>
        </p:nvSpPr>
        <p:spPr>
          <a:xfrm>
            <a:off x="548640" y="1965960"/>
            <a:ext cx="3657600" cy="1463040"/>
          </a:xfrm>
          <a:prstGeom prst="rect">
            <a:avLst/>
          </a:prstGeom>
          <a:noFill/>
          <a:ln/>
        </p:spPr>
        <p:txBody>
          <a:bodyPr wrap="square" lIns="0" tIns="0" rIns="0" bIns="0" rtlCol="0" anchor="ctr"/>
          <a:lstStyle/>
          <a:p>
            <a:pPr indent="0" marL="0">
              <a:buNone/>
            </a:pPr>
            <a:r>
              <a:rPr lang="en-US" sz="9000" b="1" dirty="0">
                <a:solidFill>
                  <a:srgbClr val="12B5CB"/>
                </a:solidFill>
                <a:latin typeface="Cambria" pitchFamily="34" charset="0"/>
                <a:ea typeface="Cambria" pitchFamily="34" charset="-122"/>
                <a:cs typeface="Cambria" pitchFamily="34" charset="-120"/>
              </a:rPr>
              <a:t>02</a:t>
            </a:r>
            <a:endParaRPr lang="en-US" sz="9000" dirty="0"/>
          </a:p>
        </p:txBody>
      </p:sp>
      <p:sp>
        <p:nvSpPr>
          <p:cNvPr id="5" name="Text 3"/>
          <p:cNvSpPr/>
          <p:nvPr/>
        </p:nvSpPr>
        <p:spPr>
          <a:xfrm>
            <a:off x="548640" y="3429000"/>
            <a:ext cx="9601200" cy="1188720"/>
          </a:xfrm>
          <a:prstGeom prst="rect">
            <a:avLst/>
          </a:prstGeom>
          <a:noFill/>
          <a:ln/>
        </p:spPr>
        <p:txBody>
          <a:bodyPr wrap="square" lIns="0" tIns="0" rIns="0" bIns="0"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IT in Modern Business</a:t>
            </a:r>
            <a:endParaRPr lang="en-US" sz="3400" dirty="0"/>
          </a:p>
        </p:txBody>
      </p:sp>
      <p:sp>
        <p:nvSpPr>
          <p:cNvPr id="6" name="Text 4"/>
          <p:cNvSpPr/>
          <p:nvPr/>
        </p:nvSpPr>
        <p:spPr>
          <a:xfrm>
            <a:off x="548640" y="4526280"/>
            <a:ext cx="8412480" cy="731520"/>
          </a:xfrm>
          <a:prstGeom prst="rect">
            <a:avLst/>
          </a:prstGeom>
          <a:noFill/>
          <a:ln/>
        </p:spPr>
        <p:txBody>
          <a:bodyPr wrap="square" lIns="0" tIns="0" rIns="0" bIns="0" rtlCol="0" anchor="ctr"/>
          <a:lstStyle/>
          <a:p>
            <a:pPr indent="0" marL="0">
              <a:lnSpc>
                <a:spcPts val="1900"/>
              </a:lnSpc>
              <a:buNone/>
            </a:pPr>
            <a:r>
              <a:rPr lang="en-US" sz="1400" dirty="0">
                <a:solidFill>
                  <a:srgbClr val="9FB6C9"/>
                </a:solidFill>
                <a:latin typeface="Calibri" pitchFamily="34" charset="0"/>
                <a:ea typeface="Calibri" pitchFamily="34" charset="-122"/>
                <a:cs typeface="Calibri" pitchFamily="34" charset="-120"/>
              </a:rPr>
              <a:t>How technology reshapes operations, communication, and competitiveness.</a:t>
            </a:r>
            <a:endParaRPr lang="en-US" sz="1400" dirty="0"/>
          </a:p>
        </p:txBody>
      </p:sp>
      <p:sp>
        <p:nvSpPr>
          <p:cNvPr id="7" name="Text 5"/>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9FB6C9"/>
                </a:solidFill>
                <a:latin typeface="Calibri" pitchFamily="34" charset="0"/>
                <a:ea typeface="Calibri" pitchFamily="34" charset="-122"/>
                <a:cs typeface="Calibri" pitchFamily="34" charset="-120"/>
              </a:rPr>
              <a:t>IT IN MODERN BUSINESS</a:t>
            </a:r>
            <a:endParaRPr lang="en-US" sz="900" dirty="0"/>
          </a:p>
        </p:txBody>
      </p:sp>
      <p:sp>
        <p:nvSpPr>
          <p:cNvPr id="8" name="Text 6"/>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9FB6C9"/>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18320" y="-914400"/>
            <a:ext cx="3840480" cy="3840480"/>
          </a:xfrm>
          <a:prstGeom prst="ellipse">
            <a:avLst/>
          </a:prstGeom>
          <a:solidFill>
            <a:srgbClr val="F2F6F9"/>
          </a:solidFill>
          <a:ln/>
        </p:spPr>
      </p:sp>
      <p:sp>
        <p:nvSpPr>
          <p:cNvPr id="3" name="Shape 1"/>
          <p:cNvSpPr/>
          <p:nvPr/>
        </p:nvSpPr>
        <p:spPr>
          <a:xfrm>
            <a:off x="10424160" y="91440"/>
            <a:ext cx="1828800" cy="1828800"/>
          </a:xfrm>
          <a:prstGeom prst="ellipse">
            <a:avLst/>
          </a:prstGeom>
          <a:solidFill>
            <a:srgbClr val="12B5CB">
              <a:alpha val="15000"/>
            </a:srgbClr>
          </a:solidFill>
          <a:ln/>
        </p:spPr>
      </p:sp>
      <p:sp>
        <p:nvSpPr>
          <p:cNvPr id="4" name="Text 2"/>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IT IN MODERN BUSINESS</a:t>
            </a:r>
            <a:endParaRPr lang="en-US" sz="1150" dirty="0"/>
          </a:p>
        </p:txBody>
      </p:sp>
      <p:sp>
        <p:nvSpPr>
          <p:cNvPr id="5" name="Text 3"/>
          <p:cNvSpPr/>
          <p:nvPr/>
        </p:nvSpPr>
        <p:spPr>
          <a:xfrm>
            <a:off x="548640" y="960120"/>
            <a:ext cx="9692640" cy="1005840"/>
          </a:xfrm>
          <a:prstGeom prst="rect">
            <a:avLst/>
          </a:prstGeom>
          <a:noFill/>
          <a:ln/>
        </p:spPr>
        <p:txBody>
          <a:bodyPr wrap="square" lIns="0" tIns="0" rIns="0" bIns="0" rtlCol="0" anchor="ctr"/>
          <a:lstStyle/>
          <a:p>
            <a:pPr indent="0" marL="0">
              <a:lnSpc>
                <a:spcPts val="3400"/>
              </a:lnSpc>
              <a:buNone/>
            </a:pPr>
            <a:r>
              <a:rPr lang="en-US" sz="3000" b="1" dirty="0">
                <a:solidFill>
                  <a:srgbClr val="0D2C4B"/>
                </a:solidFill>
                <a:latin typeface="Cambria" pitchFamily="34" charset="0"/>
                <a:ea typeface="Cambria" pitchFamily="34" charset="-122"/>
                <a:cs typeface="Cambria" pitchFamily="34" charset="-120"/>
              </a:rPr>
              <a:t>The Role of IT in Modern Business</a:t>
            </a:r>
            <a:endParaRPr lang="en-US" sz="3000" dirty="0"/>
          </a:p>
        </p:txBody>
      </p:sp>
      <p:sp>
        <p:nvSpPr>
          <p:cNvPr id="6" name="Text 4"/>
          <p:cNvSpPr/>
          <p:nvPr/>
        </p:nvSpPr>
        <p:spPr>
          <a:xfrm>
            <a:off x="548640" y="2148840"/>
            <a:ext cx="9509760" cy="2377440"/>
          </a:xfrm>
          <a:prstGeom prst="rect">
            <a:avLst/>
          </a:prstGeom>
          <a:noFill/>
          <a:ln/>
        </p:spPr>
        <p:txBody>
          <a:bodyPr wrap="square" lIns="0" tIns="0" rIns="0" bIns="0" rtlCol="0" anchor="ctr"/>
          <a:lstStyle/>
          <a:p>
            <a:pPr indent="0" marL="0">
              <a:lnSpc>
                <a:spcPts val="2500"/>
              </a:lnSpc>
              <a:buNone/>
            </a:pPr>
            <a:r>
              <a:rPr lang="en-US" sz="1600" dirty="0">
                <a:solidFill>
                  <a:srgbClr val="1C2B39"/>
                </a:solidFill>
                <a:latin typeface="Calibri" pitchFamily="34" charset="0"/>
                <a:ea typeface="Calibri" pitchFamily="34" charset="-122"/>
                <a:cs typeface="Calibri" pitchFamily="34" charset="-120"/>
              </a:rPr>
              <a:t>Information Technology plays a vital role in transforming how businesses operate, communicate, and compete in today's digital world. It supports every aspect of modern business — from daily operations to strategic decision-making.</a:t>
            </a:r>
            <a:endParaRPr lang="en-US" sz="1600" dirty="0"/>
          </a:p>
        </p:txBody>
      </p:sp>
      <p:sp>
        <p:nvSpPr>
          <p:cNvPr id="7" name="Shape 5"/>
          <p:cNvSpPr/>
          <p:nvPr/>
        </p:nvSpPr>
        <p:spPr>
          <a:xfrm>
            <a:off x="548640" y="4892040"/>
            <a:ext cx="1252728" cy="384048"/>
          </a:xfrm>
          <a:prstGeom prst="roundRect">
            <a:avLst>
              <a:gd name="adj" fmla="val 50000"/>
            </a:avLst>
          </a:prstGeom>
          <a:solidFill>
            <a:srgbClr val="F2F6F9"/>
          </a:solidFill>
          <a:ln w="12700">
            <a:solidFill>
              <a:srgbClr val="DCE6ED"/>
            </a:solidFill>
            <a:prstDash val="solid"/>
          </a:ln>
        </p:spPr>
      </p:sp>
      <p:sp>
        <p:nvSpPr>
          <p:cNvPr id="8" name="Text 6"/>
          <p:cNvSpPr/>
          <p:nvPr/>
        </p:nvSpPr>
        <p:spPr>
          <a:xfrm>
            <a:off x="548640" y="4892040"/>
            <a:ext cx="1252728"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Operations</a:t>
            </a:r>
            <a:endParaRPr lang="en-US" sz="1150" dirty="0"/>
          </a:p>
        </p:txBody>
      </p:sp>
      <p:sp>
        <p:nvSpPr>
          <p:cNvPr id="9" name="Shape 7"/>
          <p:cNvSpPr/>
          <p:nvPr/>
        </p:nvSpPr>
        <p:spPr>
          <a:xfrm>
            <a:off x="2002536" y="4892040"/>
            <a:ext cx="1060704" cy="384048"/>
          </a:xfrm>
          <a:prstGeom prst="roundRect">
            <a:avLst>
              <a:gd name="adj" fmla="val 50000"/>
            </a:avLst>
          </a:prstGeom>
          <a:solidFill>
            <a:srgbClr val="F2F6F9"/>
          </a:solidFill>
          <a:ln w="12700">
            <a:solidFill>
              <a:srgbClr val="DCE6ED"/>
            </a:solidFill>
            <a:prstDash val="solid"/>
          </a:ln>
        </p:spPr>
      </p:sp>
      <p:sp>
        <p:nvSpPr>
          <p:cNvPr id="10" name="Text 8"/>
          <p:cNvSpPr/>
          <p:nvPr/>
        </p:nvSpPr>
        <p:spPr>
          <a:xfrm>
            <a:off x="2002536" y="4892040"/>
            <a:ext cx="1060704"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Strategy</a:t>
            </a:r>
            <a:endParaRPr lang="en-US" sz="1150" dirty="0"/>
          </a:p>
        </p:txBody>
      </p:sp>
      <p:sp>
        <p:nvSpPr>
          <p:cNvPr id="11" name="Shape 9"/>
          <p:cNvSpPr/>
          <p:nvPr/>
        </p:nvSpPr>
        <p:spPr>
          <a:xfrm>
            <a:off x="3264408" y="4892040"/>
            <a:ext cx="1732788" cy="384048"/>
          </a:xfrm>
          <a:prstGeom prst="roundRect">
            <a:avLst>
              <a:gd name="adj" fmla="val 50000"/>
            </a:avLst>
          </a:prstGeom>
          <a:solidFill>
            <a:srgbClr val="F2F6F9"/>
          </a:solidFill>
          <a:ln w="12700">
            <a:solidFill>
              <a:srgbClr val="DCE6ED"/>
            </a:solidFill>
            <a:prstDash val="solid"/>
          </a:ln>
        </p:spPr>
      </p:sp>
      <p:sp>
        <p:nvSpPr>
          <p:cNvPr id="12" name="Text 10"/>
          <p:cNvSpPr/>
          <p:nvPr/>
        </p:nvSpPr>
        <p:spPr>
          <a:xfrm>
            <a:off x="3264408" y="4892040"/>
            <a:ext cx="1732788"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Competitiveness</a:t>
            </a:r>
            <a:endParaRPr lang="en-US" sz="1150" dirty="0"/>
          </a:p>
        </p:txBody>
      </p:sp>
      <p:sp>
        <p:nvSpPr>
          <p:cNvPr id="13" name="Shape 11"/>
          <p:cNvSpPr/>
          <p:nvPr/>
        </p:nvSpPr>
        <p:spPr>
          <a:xfrm>
            <a:off x="5198364" y="4892040"/>
            <a:ext cx="1540764" cy="384048"/>
          </a:xfrm>
          <a:prstGeom prst="roundRect">
            <a:avLst>
              <a:gd name="adj" fmla="val 50000"/>
            </a:avLst>
          </a:prstGeom>
          <a:solidFill>
            <a:srgbClr val="F2F6F9"/>
          </a:solidFill>
          <a:ln w="12700">
            <a:solidFill>
              <a:srgbClr val="DCE6ED"/>
            </a:solidFill>
            <a:prstDash val="solid"/>
          </a:ln>
        </p:spPr>
      </p:sp>
      <p:sp>
        <p:nvSpPr>
          <p:cNvPr id="14" name="Text 12"/>
          <p:cNvSpPr/>
          <p:nvPr/>
        </p:nvSpPr>
        <p:spPr>
          <a:xfrm>
            <a:off x="5198364" y="4892040"/>
            <a:ext cx="1540764"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Communication</a:t>
            </a:r>
            <a:endParaRPr lang="en-US" sz="1150" dirty="0"/>
          </a:p>
        </p:txBody>
      </p:sp>
      <p:sp>
        <p:nvSpPr>
          <p:cNvPr id="15" name="Text 13"/>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IT IN MODERN BUSINESS</a:t>
            </a:r>
            <a:endParaRPr lang="en-US" sz="900" dirty="0"/>
          </a:p>
        </p:txBody>
      </p:sp>
      <p:sp>
        <p:nvSpPr>
          <p:cNvPr id="16" name="Text 14"/>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IT IN MODERN BUSINESS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Key Roles of IT I</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Increased Efficiency</a:t>
            </a:r>
            <a:endParaRPr lang="en-US" sz="1350" dirty="0"/>
          </a:p>
        </p:txBody>
      </p:sp>
      <p:sp>
        <p:nvSpPr>
          <p:cNvPr id="7" name="Text 5"/>
          <p:cNvSpPr/>
          <p:nvPr/>
        </p:nvSpPr>
        <p:spPr>
          <a:xfrm>
            <a:off x="1078992" y="180136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IT automates repetitive tasks, reduces manual labor, and minimizes errors, boosting productivity and consistency across departments.</a:t>
            </a:r>
            <a:endParaRPr lang="en-US" sz="1150" dirty="0"/>
          </a:p>
        </p:txBody>
      </p:sp>
      <p:sp>
        <p:nvSpPr>
          <p:cNvPr id="8" name="Shape 6"/>
          <p:cNvSpPr/>
          <p:nvPr/>
        </p:nvSpPr>
        <p:spPr>
          <a:xfrm>
            <a:off x="548640" y="2551176"/>
            <a:ext cx="384048" cy="384048"/>
          </a:xfrm>
          <a:prstGeom prst="ellipse">
            <a:avLst/>
          </a:prstGeom>
          <a:solidFill>
            <a:srgbClr val="0D2C4B"/>
          </a:solidFill>
          <a:ln/>
        </p:spPr>
      </p:sp>
      <p:sp>
        <p:nvSpPr>
          <p:cNvPr id="9" name="Text 7"/>
          <p:cNvSpPr/>
          <p:nvPr/>
        </p:nvSpPr>
        <p:spPr>
          <a:xfrm>
            <a:off x="548640" y="2551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48716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Improved Communication</a:t>
            </a:r>
            <a:endParaRPr lang="en-US" sz="1350" dirty="0"/>
          </a:p>
        </p:txBody>
      </p:sp>
      <p:sp>
        <p:nvSpPr>
          <p:cNvPr id="11" name="Text 9"/>
          <p:cNvSpPr/>
          <p:nvPr/>
        </p:nvSpPr>
        <p:spPr>
          <a:xfrm>
            <a:off x="1078992" y="276148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Email, instant messaging, and video conferencing enable real-time collaboration among employees, clients, and partners.</a:t>
            </a:r>
            <a:endParaRPr lang="en-US" sz="1150" dirty="0"/>
          </a:p>
        </p:txBody>
      </p:sp>
      <p:sp>
        <p:nvSpPr>
          <p:cNvPr id="12" name="Shape 10"/>
          <p:cNvSpPr/>
          <p:nvPr/>
        </p:nvSpPr>
        <p:spPr>
          <a:xfrm>
            <a:off x="548640" y="3511296"/>
            <a:ext cx="384048" cy="384048"/>
          </a:xfrm>
          <a:prstGeom prst="ellipse">
            <a:avLst/>
          </a:prstGeom>
          <a:solidFill>
            <a:srgbClr val="0D2C4B"/>
          </a:solidFill>
          <a:ln/>
        </p:spPr>
      </p:sp>
      <p:sp>
        <p:nvSpPr>
          <p:cNvPr id="13" name="Text 11"/>
          <p:cNvSpPr/>
          <p:nvPr/>
        </p:nvSpPr>
        <p:spPr>
          <a:xfrm>
            <a:off x="548640" y="35112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78992" y="344728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Data-Driven Decision-Making</a:t>
            </a:r>
            <a:endParaRPr lang="en-US" sz="1350" dirty="0"/>
          </a:p>
        </p:txBody>
      </p:sp>
      <p:sp>
        <p:nvSpPr>
          <p:cNvPr id="15" name="Text 13"/>
          <p:cNvSpPr/>
          <p:nvPr/>
        </p:nvSpPr>
        <p:spPr>
          <a:xfrm>
            <a:off x="1078992" y="372160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Advanced analytics tools let businesses collect, analyze, and interpret data for strategic planning and performance monitoring.</a:t>
            </a:r>
            <a:endParaRPr lang="en-US" sz="1150" dirty="0"/>
          </a:p>
        </p:txBody>
      </p:sp>
      <p:sp>
        <p:nvSpPr>
          <p:cNvPr id="16" name="Text 14"/>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IT IN MODERN BUSINESS</a:t>
            </a:r>
            <a:endParaRPr lang="en-US" sz="900" dirty="0"/>
          </a:p>
        </p:txBody>
      </p:sp>
      <p:sp>
        <p:nvSpPr>
          <p:cNvPr id="17" name="Text 15"/>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IT IN MODERN BUSINESS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Key Roles of IT II</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Innovation &amp; Competitiveness</a:t>
            </a:r>
            <a:endParaRPr lang="en-US" sz="1350" dirty="0"/>
          </a:p>
        </p:txBody>
      </p:sp>
      <p:sp>
        <p:nvSpPr>
          <p:cNvPr id="7" name="Text 5"/>
          <p:cNvSpPr/>
          <p:nvPr/>
        </p:nvSpPr>
        <p:spPr>
          <a:xfrm>
            <a:off x="1078992" y="180136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IT provides platforms for R&amp;D, helping companies create innovative products and gain a competitive edge.</a:t>
            </a:r>
            <a:endParaRPr lang="en-US" sz="1150" dirty="0"/>
          </a:p>
        </p:txBody>
      </p:sp>
      <p:sp>
        <p:nvSpPr>
          <p:cNvPr id="8" name="Shape 6"/>
          <p:cNvSpPr/>
          <p:nvPr/>
        </p:nvSpPr>
        <p:spPr>
          <a:xfrm>
            <a:off x="548640" y="2551176"/>
            <a:ext cx="384048" cy="384048"/>
          </a:xfrm>
          <a:prstGeom prst="ellipse">
            <a:avLst/>
          </a:prstGeom>
          <a:solidFill>
            <a:srgbClr val="0D2C4B"/>
          </a:solidFill>
          <a:ln/>
        </p:spPr>
      </p:sp>
      <p:sp>
        <p:nvSpPr>
          <p:cNvPr id="9" name="Text 7"/>
          <p:cNvSpPr/>
          <p:nvPr/>
        </p:nvSpPr>
        <p:spPr>
          <a:xfrm>
            <a:off x="548640" y="2551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48716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Supply Chain Optimization</a:t>
            </a:r>
            <a:endParaRPr lang="en-US" sz="1350" dirty="0"/>
          </a:p>
        </p:txBody>
      </p:sp>
      <p:sp>
        <p:nvSpPr>
          <p:cNvPr id="11" name="Text 9"/>
          <p:cNvSpPr/>
          <p:nvPr/>
        </p:nvSpPr>
        <p:spPr>
          <a:xfrm>
            <a:off x="1078992" y="276148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Software tracks inventory, manages logistics, and improves demand forecasting to reduce costs and ensure timely delivery.</a:t>
            </a:r>
            <a:endParaRPr lang="en-US" sz="1150" dirty="0"/>
          </a:p>
        </p:txBody>
      </p:sp>
      <p:sp>
        <p:nvSpPr>
          <p:cNvPr id="12" name="Shape 10"/>
          <p:cNvSpPr/>
          <p:nvPr/>
        </p:nvSpPr>
        <p:spPr>
          <a:xfrm>
            <a:off x="548640" y="3511296"/>
            <a:ext cx="384048" cy="384048"/>
          </a:xfrm>
          <a:prstGeom prst="ellipse">
            <a:avLst/>
          </a:prstGeom>
          <a:solidFill>
            <a:srgbClr val="0D2C4B"/>
          </a:solidFill>
          <a:ln/>
        </p:spPr>
      </p:sp>
      <p:sp>
        <p:nvSpPr>
          <p:cNvPr id="13" name="Text 11"/>
          <p:cNvSpPr/>
          <p:nvPr/>
        </p:nvSpPr>
        <p:spPr>
          <a:xfrm>
            <a:off x="548640" y="35112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78992" y="344728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Enhanced Customer Experience</a:t>
            </a:r>
            <a:endParaRPr lang="en-US" sz="1350" dirty="0"/>
          </a:p>
        </p:txBody>
      </p:sp>
      <p:sp>
        <p:nvSpPr>
          <p:cNvPr id="15" name="Text 13"/>
          <p:cNvSpPr/>
          <p:nvPr/>
        </p:nvSpPr>
        <p:spPr>
          <a:xfrm>
            <a:off x="1078992" y="372160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CRM systems track customer information and preferences, while chatbots provide instant service.</a:t>
            </a:r>
            <a:endParaRPr lang="en-US" sz="1150" dirty="0"/>
          </a:p>
        </p:txBody>
      </p:sp>
      <p:sp>
        <p:nvSpPr>
          <p:cNvPr id="16" name="Text 14"/>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IT IN MODERN BUSINESS</a:t>
            </a:r>
            <a:endParaRPr lang="en-US" sz="900" dirty="0"/>
          </a:p>
        </p:txBody>
      </p:sp>
      <p:sp>
        <p:nvSpPr>
          <p:cNvPr id="17" name="Text 15"/>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IT IN MODERN BUSINESS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Key Roles of IT III</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Cybersecurity</a:t>
            </a:r>
            <a:endParaRPr lang="en-US" sz="1350" dirty="0"/>
          </a:p>
        </p:txBody>
      </p:sp>
      <p:sp>
        <p:nvSpPr>
          <p:cNvPr id="7" name="Text 5"/>
          <p:cNvSpPr/>
          <p:nvPr/>
        </p:nvSpPr>
        <p:spPr>
          <a:xfrm>
            <a:off x="1078992" y="1801368"/>
            <a:ext cx="10332720" cy="128016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IT professionals deploy firewalls, encryption, and intrusion detection systems to protect sensitive data and safeguard company reputation.</a:t>
            </a:r>
            <a:endParaRPr lang="en-US" sz="1150" dirty="0"/>
          </a:p>
        </p:txBody>
      </p:sp>
      <p:sp>
        <p:nvSpPr>
          <p:cNvPr id="8" name="Shape 6"/>
          <p:cNvSpPr/>
          <p:nvPr/>
        </p:nvSpPr>
        <p:spPr>
          <a:xfrm>
            <a:off x="548640" y="3145536"/>
            <a:ext cx="384048" cy="384048"/>
          </a:xfrm>
          <a:prstGeom prst="ellipse">
            <a:avLst/>
          </a:prstGeom>
          <a:solidFill>
            <a:srgbClr val="0D2C4B"/>
          </a:solidFill>
          <a:ln/>
        </p:spPr>
      </p:sp>
      <p:sp>
        <p:nvSpPr>
          <p:cNvPr id="9" name="Text 7"/>
          <p:cNvSpPr/>
          <p:nvPr/>
        </p:nvSpPr>
        <p:spPr>
          <a:xfrm>
            <a:off x="548640" y="31455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308152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Scalability &amp; Flexibility</a:t>
            </a:r>
            <a:endParaRPr lang="en-US" sz="1350" dirty="0"/>
          </a:p>
        </p:txBody>
      </p:sp>
      <p:sp>
        <p:nvSpPr>
          <p:cNvPr id="11" name="Text 9"/>
          <p:cNvSpPr/>
          <p:nvPr/>
        </p:nvSpPr>
        <p:spPr>
          <a:xfrm>
            <a:off x="1078992" y="3355848"/>
            <a:ext cx="10332720" cy="128016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Cloud computing gives businesses scalable storage and access to data from anywhere, letting them grow and adapt operations as needed.</a:t>
            </a:r>
            <a:endParaRPr lang="en-US" sz="1150" dirty="0"/>
          </a:p>
        </p:txBody>
      </p:sp>
      <p:sp>
        <p:nvSpPr>
          <p:cNvPr id="12" name="Text 10"/>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IT IN MODERN BUSINESS</a:t>
            </a:r>
            <a:endParaRPr lang="en-US" sz="900" dirty="0"/>
          </a:p>
        </p:txBody>
      </p:sp>
      <p:sp>
        <p:nvSpPr>
          <p:cNvPr id="13" name="Text 1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81826"/>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63A5C">
              <a:alpha val="65000"/>
            </a:srgbClr>
          </a:solidFill>
          <a:ln/>
        </p:spPr>
      </p:sp>
      <p:sp>
        <p:nvSpPr>
          <p:cNvPr id="3" name="Shape 1"/>
          <p:cNvSpPr/>
          <p:nvPr/>
        </p:nvSpPr>
        <p:spPr>
          <a:xfrm>
            <a:off x="-1280160" y="4937760"/>
            <a:ext cx="3291840" cy="3291840"/>
          </a:xfrm>
          <a:prstGeom prst="ellipse">
            <a:avLst/>
          </a:prstGeom>
          <a:solidFill>
            <a:srgbClr val="12B5CB">
              <a:alpha val="18000"/>
            </a:srgbClr>
          </a:solidFill>
          <a:ln/>
        </p:spPr>
      </p:sp>
      <p:sp>
        <p:nvSpPr>
          <p:cNvPr id="4" name="Text 2"/>
          <p:cNvSpPr/>
          <p:nvPr/>
        </p:nvSpPr>
        <p:spPr>
          <a:xfrm>
            <a:off x="548640" y="1965960"/>
            <a:ext cx="3657600" cy="1463040"/>
          </a:xfrm>
          <a:prstGeom prst="rect">
            <a:avLst/>
          </a:prstGeom>
          <a:noFill/>
          <a:ln/>
        </p:spPr>
        <p:txBody>
          <a:bodyPr wrap="square" lIns="0" tIns="0" rIns="0" bIns="0" rtlCol="0" anchor="ctr"/>
          <a:lstStyle/>
          <a:p>
            <a:pPr indent="0" marL="0">
              <a:buNone/>
            </a:pPr>
            <a:r>
              <a:rPr lang="en-US" sz="9000" b="1" dirty="0">
                <a:solidFill>
                  <a:srgbClr val="12B5CB"/>
                </a:solidFill>
                <a:latin typeface="Cambria" pitchFamily="34" charset="0"/>
                <a:ea typeface="Cambria" pitchFamily="34" charset="-122"/>
                <a:cs typeface="Cambria" pitchFamily="34" charset="-120"/>
              </a:rPr>
              <a:t>03</a:t>
            </a:r>
            <a:endParaRPr lang="en-US" sz="9000" dirty="0"/>
          </a:p>
        </p:txBody>
      </p:sp>
      <p:sp>
        <p:nvSpPr>
          <p:cNvPr id="5" name="Text 3"/>
          <p:cNvSpPr/>
          <p:nvPr/>
        </p:nvSpPr>
        <p:spPr>
          <a:xfrm>
            <a:off x="548640" y="3429000"/>
            <a:ext cx="9601200" cy="1188720"/>
          </a:xfrm>
          <a:prstGeom prst="rect">
            <a:avLst/>
          </a:prstGeom>
          <a:noFill/>
          <a:ln/>
        </p:spPr>
        <p:txBody>
          <a:bodyPr wrap="square" lIns="0" tIns="0" rIns="0" bIns="0"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Enterprise Resource Planning</a:t>
            </a:r>
            <a:endParaRPr lang="en-US" sz="3400" dirty="0"/>
          </a:p>
        </p:txBody>
      </p:sp>
      <p:sp>
        <p:nvSpPr>
          <p:cNvPr id="6" name="Text 4"/>
          <p:cNvSpPr/>
          <p:nvPr/>
        </p:nvSpPr>
        <p:spPr>
          <a:xfrm>
            <a:off x="548640" y="4526280"/>
            <a:ext cx="8412480" cy="731520"/>
          </a:xfrm>
          <a:prstGeom prst="rect">
            <a:avLst/>
          </a:prstGeom>
          <a:noFill/>
          <a:ln/>
        </p:spPr>
        <p:txBody>
          <a:bodyPr wrap="square" lIns="0" tIns="0" rIns="0" bIns="0" rtlCol="0" anchor="ctr"/>
          <a:lstStyle/>
          <a:p>
            <a:pPr indent="0" marL="0">
              <a:lnSpc>
                <a:spcPts val="1900"/>
              </a:lnSpc>
              <a:buNone/>
            </a:pPr>
            <a:r>
              <a:rPr lang="en-US" sz="1400" dirty="0">
                <a:solidFill>
                  <a:srgbClr val="9FB6C9"/>
                </a:solidFill>
                <a:latin typeface="Calibri" pitchFamily="34" charset="0"/>
                <a:ea typeface="Calibri" pitchFamily="34" charset="-122"/>
                <a:cs typeface="Calibri" pitchFamily="34" charset="-120"/>
              </a:rPr>
              <a:t>How ERP systems integrate core business processes into one unified platform.</a:t>
            </a:r>
            <a:endParaRPr lang="en-US" sz="1400" dirty="0"/>
          </a:p>
        </p:txBody>
      </p:sp>
      <p:sp>
        <p:nvSpPr>
          <p:cNvPr id="7" name="Text 5"/>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9FB6C9"/>
                </a:solidFill>
                <a:latin typeface="Calibri" pitchFamily="34" charset="0"/>
                <a:ea typeface="Calibri" pitchFamily="34" charset="-122"/>
                <a:cs typeface="Calibri" pitchFamily="34" charset="-120"/>
              </a:rPr>
              <a:t>ENTERPRISE RESOURCE PLANNING</a:t>
            </a:r>
            <a:endParaRPr lang="en-US" sz="900" dirty="0"/>
          </a:p>
        </p:txBody>
      </p:sp>
      <p:sp>
        <p:nvSpPr>
          <p:cNvPr id="8" name="Text 6"/>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9FB6C9"/>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18320" y="-914400"/>
            <a:ext cx="3840480" cy="3840480"/>
          </a:xfrm>
          <a:prstGeom prst="ellipse">
            <a:avLst/>
          </a:prstGeom>
          <a:solidFill>
            <a:srgbClr val="F2F6F9"/>
          </a:solidFill>
          <a:ln/>
        </p:spPr>
      </p:sp>
      <p:sp>
        <p:nvSpPr>
          <p:cNvPr id="3" name="Shape 1"/>
          <p:cNvSpPr/>
          <p:nvPr/>
        </p:nvSpPr>
        <p:spPr>
          <a:xfrm>
            <a:off x="10424160" y="91440"/>
            <a:ext cx="1828800" cy="1828800"/>
          </a:xfrm>
          <a:prstGeom prst="ellipse">
            <a:avLst/>
          </a:prstGeom>
          <a:solidFill>
            <a:srgbClr val="12B5CB">
              <a:alpha val="15000"/>
            </a:srgbClr>
          </a:solidFill>
          <a:ln/>
        </p:spPr>
      </p:sp>
      <p:sp>
        <p:nvSpPr>
          <p:cNvPr id="4" name="Text 2"/>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ENTERPRISE RESOURCE PLANNING</a:t>
            </a:r>
            <a:endParaRPr lang="en-US" sz="1150" dirty="0"/>
          </a:p>
        </p:txBody>
      </p:sp>
      <p:sp>
        <p:nvSpPr>
          <p:cNvPr id="5" name="Text 3"/>
          <p:cNvSpPr/>
          <p:nvPr/>
        </p:nvSpPr>
        <p:spPr>
          <a:xfrm>
            <a:off x="548640" y="960120"/>
            <a:ext cx="9692640" cy="1005840"/>
          </a:xfrm>
          <a:prstGeom prst="rect">
            <a:avLst/>
          </a:prstGeom>
          <a:noFill/>
          <a:ln/>
        </p:spPr>
        <p:txBody>
          <a:bodyPr wrap="square" lIns="0" tIns="0" rIns="0" bIns="0" rtlCol="0" anchor="ctr"/>
          <a:lstStyle/>
          <a:p>
            <a:pPr indent="0" marL="0">
              <a:lnSpc>
                <a:spcPts val="3400"/>
              </a:lnSpc>
              <a:buNone/>
            </a:pPr>
            <a:r>
              <a:rPr lang="en-US" sz="3000" b="1" dirty="0">
                <a:solidFill>
                  <a:srgbClr val="0D2C4B"/>
                </a:solidFill>
                <a:latin typeface="Cambria" pitchFamily="34" charset="0"/>
                <a:ea typeface="Cambria" pitchFamily="34" charset="-122"/>
                <a:cs typeface="Cambria" pitchFamily="34" charset="-120"/>
              </a:rPr>
              <a:t>What Is ERP?</a:t>
            </a:r>
            <a:endParaRPr lang="en-US" sz="3000" dirty="0"/>
          </a:p>
        </p:txBody>
      </p:sp>
      <p:sp>
        <p:nvSpPr>
          <p:cNvPr id="6" name="Text 4"/>
          <p:cNvSpPr/>
          <p:nvPr/>
        </p:nvSpPr>
        <p:spPr>
          <a:xfrm>
            <a:off x="548640" y="2148840"/>
            <a:ext cx="9509760" cy="2377440"/>
          </a:xfrm>
          <a:prstGeom prst="rect">
            <a:avLst/>
          </a:prstGeom>
          <a:noFill/>
          <a:ln/>
        </p:spPr>
        <p:txBody>
          <a:bodyPr wrap="square" lIns="0" tIns="0" rIns="0" bIns="0" rtlCol="0" anchor="ctr"/>
          <a:lstStyle/>
          <a:p>
            <a:pPr indent="0" marL="0">
              <a:lnSpc>
                <a:spcPts val="2500"/>
              </a:lnSpc>
              <a:buNone/>
            </a:pPr>
            <a:r>
              <a:rPr lang="en-US" sz="1600" dirty="0">
                <a:solidFill>
                  <a:srgbClr val="1C2B39"/>
                </a:solidFill>
                <a:latin typeface="Calibri" pitchFamily="34" charset="0"/>
                <a:ea typeface="Calibri" pitchFamily="34" charset="-122"/>
                <a:cs typeface="Calibri" pitchFamily="34" charset="-120"/>
              </a:rPr>
              <a:t>Enterprise Resource Planning (ERP) is a software system that integrates and manages core business processes — finance, HR, supply chain, and manufacturing — into a single, unified platform. By centralizing data, ERP streamlines operations, improves efficiency, and provides a real-time, single source of truth for an organization's activities.</a:t>
            </a:r>
            <a:endParaRPr lang="en-US" sz="1600" dirty="0"/>
          </a:p>
        </p:txBody>
      </p:sp>
      <p:sp>
        <p:nvSpPr>
          <p:cNvPr id="7" name="Shape 5"/>
          <p:cNvSpPr/>
          <p:nvPr/>
        </p:nvSpPr>
        <p:spPr>
          <a:xfrm>
            <a:off x="548640" y="4892040"/>
            <a:ext cx="964692" cy="384048"/>
          </a:xfrm>
          <a:prstGeom prst="roundRect">
            <a:avLst>
              <a:gd name="adj" fmla="val 50000"/>
            </a:avLst>
          </a:prstGeom>
          <a:solidFill>
            <a:srgbClr val="F2F6F9"/>
          </a:solidFill>
          <a:ln w="12700">
            <a:solidFill>
              <a:srgbClr val="DCE6ED"/>
            </a:solidFill>
            <a:prstDash val="solid"/>
          </a:ln>
        </p:spPr>
      </p:sp>
      <p:sp>
        <p:nvSpPr>
          <p:cNvPr id="8" name="Text 6"/>
          <p:cNvSpPr/>
          <p:nvPr/>
        </p:nvSpPr>
        <p:spPr>
          <a:xfrm>
            <a:off x="548640" y="4892040"/>
            <a:ext cx="964692"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Finance</a:t>
            </a:r>
            <a:endParaRPr lang="en-US" sz="1150" dirty="0"/>
          </a:p>
        </p:txBody>
      </p:sp>
      <p:sp>
        <p:nvSpPr>
          <p:cNvPr id="9" name="Shape 7"/>
          <p:cNvSpPr/>
          <p:nvPr/>
        </p:nvSpPr>
        <p:spPr>
          <a:xfrm>
            <a:off x="1714500" y="4892040"/>
            <a:ext cx="484632" cy="384048"/>
          </a:xfrm>
          <a:prstGeom prst="roundRect">
            <a:avLst>
              <a:gd name="adj" fmla="val 50000"/>
            </a:avLst>
          </a:prstGeom>
          <a:solidFill>
            <a:srgbClr val="F2F6F9"/>
          </a:solidFill>
          <a:ln w="12700">
            <a:solidFill>
              <a:srgbClr val="DCE6ED"/>
            </a:solidFill>
            <a:prstDash val="solid"/>
          </a:ln>
        </p:spPr>
      </p:sp>
      <p:sp>
        <p:nvSpPr>
          <p:cNvPr id="10" name="Text 8"/>
          <p:cNvSpPr/>
          <p:nvPr/>
        </p:nvSpPr>
        <p:spPr>
          <a:xfrm>
            <a:off x="1714500" y="4892040"/>
            <a:ext cx="484632"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HR</a:t>
            </a:r>
            <a:endParaRPr lang="en-US" sz="1150" dirty="0"/>
          </a:p>
        </p:txBody>
      </p:sp>
      <p:sp>
        <p:nvSpPr>
          <p:cNvPr id="11" name="Shape 9"/>
          <p:cNvSpPr/>
          <p:nvPr/>
        </p:nvSpPr>
        <p:spPr>
          <a:xfrm>
            <a:off x="2400300" y="4892040"/>
            <a:ext cx="1444752" cy="384048"/>
          </a:xfrm>
          <a:prstGeom prst="roundRect">
            <a:avLst>
              <a:gd name="adj" fmla="val 50000"/>
            </a:avLst>
          </a:prstGeom>
          <a:solidFill>
            <a:srgbClr val="F2F6F9"/>
          </a:solidFill>
          <a:ln w="12700">
            <a:solidFill>
              <a:srgbClr val="DCE6ED"/>
            </a:solidFill>
            <a:prstDash val="solid"/>
          </a:ln>
        </p:spPr>
      </p:sp>
      <p:sp>
        <p:nvSpPr>
          <p:cNvPr id="12" name="Text 10"/>
          <p:cNvSpPr/>
          <p:nvPr/>
        </p:nvSpPr>
        <p:spPr>
          <a:xfrm>
            <a:off x="2400300" y="4892040"/>
            <a:ext cx="1444752"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Supply Chain</a:t>
            </a:r>
            <a:endParaRPr lang="en-US" sz="1150" dirty="0"/>
          </a:p>
        </p:txBody>
      </p:sp>
      <p:sp>
        <p:nvSpPr>
          <p:cNvPr id="13" name="Shape 11"/>
          <p:cNvSpPr/>
          <p:nvPr/>
        </p:nvSpPr>
        <p:spPr>
          <a:xfrm>
            <a:off x="4046220" y="4892040"/>
            <a:ext cx="1540764" cy="384048"/>
          </a:xfrm>
          <a:prstGeom prst="roundRect">
            <a:avLst>
              <a:gd name="adj" fmla="val 50000"/>
            </a:avLst>
          </a:prstGeom>
          <a:solidFill>
            <a:srgbClr val="F2F6F9"/>
          </a:solidFill>
          <a:ln w="12700">
            <a:solidFill>
              <a:srgbClr val="DCE6ED"/>
            </a:solidFill>
            <a:prstDash val="solid"/>
          </a:ln>
        </p:spPr>
      </p:sp>
      <p:sp>
        <p:nvSpPr>
          <p:cNvPr id="14" name="Text 12"/>
          <p:cNvSpPr/>
          <p:nvPr/>
        </p:nvSpPr>
        <p:spPr>
          <a:xfrm>
            <a:off x="4046220" y="4892040"/>
            <a:ext cx="1540764"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Manufacturing</a:t>
            </a:r>
            <a:endParaRPr lang="en-US" sz="1150" dirty="0"/>
          </a:p>
        </p:txBody>
      </p:sp>
      <p:sp>
        <p:nvSpPr>
          <p:cNvPr id="15" name="Text 13"/>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ENTERPRISE RESOURCE PLANNING</a:t>
            </a:r>
            <a:endParaRPr lang="en-US" sz="900" dirty="0"/>
          </a:p>
        </p:txBody>
      </p:sp>
      <p:sp>
        <p:nvSpPr>
          <p:cNvPr id="16" name="Text 14"/>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ENTERPRISE RESOURCE PLANNING</a:t>
            </a:r>
            <a:endParaRPr lang="en-US" sz="1150" dirty="0"/>
          </a:p>
        </p:txBody>
      </p:sp>
      <p:sp>
        <p:nvSpPr>
          <p:cNvPr id="3" name="Text 1"/>
          <p:cNvSpPr/>
          <p:nvPr/>
        </p:nvSpPr>
        <p:spPr>
          <a:xfrm>
            <a:off x="548640" y="868680"/>
            <a:ext cx="10607040" cy="548640"/>
          </a:xfrm>
          <a:prstGeom prst="rect">
            <a:avLst/>
          </a:prstGeom>
          <a:noFill/>
          <a:ln/>
        </p:spPr>
        <p:txBody>
          <a:bodyPr wrap="square" lIns="0" tIns="0" rIns="0" bIns="0" rtlCol="0" anchor="ctr"/>
          <a:lstStyle/>
          <a:p>
            <a:pPr indent="0" marL="0">
              <a:buNone/>
            </a:pPr>
            <a:r>
              <a:rPr lang="en-US" sz="2500" b="1" dirty="0">
                <a:solidFill>
                  <a:srgbClr val="0D2C4B"/>
                </a:solidFill>
                <a:latin typeface="Cambria" pitchFamily="34" charset="0"/>
                <a:ea typeface="Cambria" pitchFamily="34" charset="-122"/>
                <a:cs typeface="Cambria" pitchFamily="34" charset="-120"/>
              </a:rPr>
              <a:t>Key Features of ERP Systems</a:t>
            </a:r>
            <a:endParaRPr lang="en-US" sz="25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3017520"/>
        </p:xfrm>
        <a:graphic>
          <a:graphicData uri="http://schemas.openxmlformats.org/drawingml/2006/table">
            <a:tbl>
              <a:tblPr/>
              <a:tblGrid>
                <a:gridCol w="3291840"/>
                <a:gridCol w="7772400"/>
              </a:tblGrid>
              <a:tr h="5029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Feature</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r>
              <a:tr h="50292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Centralized Database</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Stores all business data in one place for easy access and consistency.</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r h="50292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Integration of Functions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Combines processes across departments (e.g., HR, Finance, Sales).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r>
              <a:tr h="50292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Automation</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Reduces manual work and errors by automating repetitive tasks.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r h="50292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Real-Time Reporting</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Provides instant access to business insights and performance metrics.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r>
              <a:tr h="50292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Customization</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Can be tailored to fit specific business needs.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ENTERPRISE RESOURCE PLANNING</a:t>
            </a:r>
            <a:endParaRPr lang="en-US" sz="900" dirty="0"/>
          </a:p>
        </p:txBody>
      </p:sp>
      <p:sp>
        <p:nvSpPr>
          <p:cNvPr id="6" name="Text 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ENTERPRISE RESOURCE PLANNING</a:t>
            </a:r>
            <a:endParaRPr lang="en-US" sz="1150" dirty="0"/>
          </a:p>
        </p:txBody>
      </p:sp>
      <p:sp>
        <p:nvSpPr>
          <p:cNvPr id="3" name="Text 1"/>
          <p:cNvSpPr/>
          <p:nvPr/>
        </p:nvSpPr>
        <p:spPr>
          <a:xfrm>
            <a:off x="548640" y="868680"/>
            <a:ext cx="10607040" cy="54864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Core Modules in ERP</a:t>
            </a:r>
            <a:endParaRPr lang="en-US" sz="2700" dirty="0"/>
          </a:p>
        </p:txBody>
      </p:sp>
      <p:sp>
        <p:nvSpPr>
          <p:cNvPr id="4" name="Shape 2"/>
          <p:cNvSpPr/>
          <p:nvPr/>
        </p:nvSpPr>
        <p:spPr>
          <a:xfrm>
            <a:off x="548640" y="1508760"/>
            <a:ext cx="5364328" cy="2263140"/>
          </a:xfrm>
          <a:prstGeom prst="roundRect">
            <a:avLst>
              <a:gd name="adj" fmla="val 3232"/>
            </a:avLst>
          </a:prstGeom>
          <a:solidFill>
            <a:srgbClr val="F2F6F9"/>
          </a:solidFill>
          <a:ln/>
        </p:spPr>
      </p:sp>
      <p:sp>
        <p:nvSpPr>
          <p:cNvPr id="5" name="Shape 3"/>
          <p:cNvSpPr/>
          <p:nvPr/>
        </p:nvSpPr>
        <p:spPr>
          <a:xfrm>
            <a:off x="777240" y="1737360"/>
            <a:ext cx="384048" cy="384048"/>
          </a:xfrm>
          <a:prstGeom prst="ellipse">
            <a:avLst/>
          </a:prstGeom>
          <a:solidFill>
            <a:srgbClr val="0D2C4B"/>
          </a:solidFill>
          <a:ln/>
        </p:spPr>
      </p:sp>
      <p:sp>
        <p:nvSpPr>
          <p:cNvPr id="6" name="Text 4"/>
          <p:cNvSpPr/>
          <p:nvPr/>
        </p:nvSpPr>
        <p:spPr>
          <a:xfrm>
            <a:off x="777240" y="17373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98448" y="17282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Finance &amp; HR</a:t>
            </a:r>
            <a:endParaRPr lang="en-US" sz="1450" dirty="0"/>
          </a:p>
        </p:txBody>
      </p:sp>
      <p:sp>
        <p:nvSpPr>
          <p:cNvPr id="8" name="Text 6"/>
          <p:cNvSpPr/>
          <p:nvPr/>
        </p:nvSpPr>
        <p:spPr>
          <a:xfrm>
            <a:off x="777240" y="22585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Finance and Accounting  ·  Human Resource Management (HRM)</a:t>
            </a:r>
            <a:endParaRPr lang="en-US" sz="1080" dirty="0"/>
          </a:p>
        </p:txBody>
      </p:sp>
      <p:sp>
        <p:nvSpPr>
          <p:cNvPr id="9" name="Shape 7"/>
          <p:cNvSpPr/>
          <p:nvPr/>
        </p:nvSpPr>
        <p:spPr>
          <a:xfrm>
            <a:off x="6278728" y="1508760"/>
            <a:ext cx="5364328" cy="2263140"/>
          </a:xfrm>
          <a:prstGeom prst="roundRect">
            <a:avLst>
              <a:gd name="adj" fmla="val 3232"/>
            </a:avLst>
          </a:prstGeom>
          <a:solidFill>
            <a:srgbClr val="F2F6F9"/>
          </a:solidFill>
          <a:ln/>
        </p:spPr>
      </p:sp>
      <p:sp>
        <p:nvSpPr>
          <p:cNvPr id="10" name="Shape 8"/>
          <p:cNvSpPr/>
          <p:nvPr/>
        </p:nvSpPr>
        <p:spPr>
          <a:xfrm>
            <a:off x="6507328" y="1737360"/>
            <a:ext cx="384048" cy="384048"/>
          </a:xfrm>
          <a:prstGeom prst="ellipse">
            <a:avLst/>
          </a:prstGeom>
          <a:solidFill>
            <a:srgbClr val="0B8A9C"/>
          </a:solidFill>
          <a:ln/>
        </p:spPr>
      </p:sp>
      <p:sp>
        <p:nvSpPr>
          <p:cNvPr id="11" name="Text 9"/>
          <p:cNvSpPr/>
          <p:nvPr/>
        </p:nvSpPr>
        <p:spPr>
          <a:xfrm>
            <a:off x="6507328" y="17373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7028536" y="17282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Operations</a:t>
            </a:r>
            <a:endParaRPr lang="en-US" sz="1450" dirty="0"/>
          </a:p>
        </p:txBody>
      </p:sp>
      <p:sp>
        <p:nvSpPr>
          <p:cNvPr id="13" name="Text 11"/>
          <p:cNvSpPr/>
          <p:nvPr/>
        </p:nvSpPr>
        <p:spPr>
          <a:xfrm>
            <a:off x="6507328" y="22585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Inventory Management  ·  Supply Chain Management (SCM)  ·  Production / Manufacturing</a:t>
            </a:r>
            <a:endParaRPr lang="en-US" sz="1080" dirty="0"/>
          </a:p>
        </p:txBody>
      </p:sp>
      <p:sp>
        <p:nvSpPr>
          <p:cNvPr id="14" name="Shape 12"/>
          <p:cNvSpPr/>
          <p:nvPr/>
        </p:nvSpPr>
        <p:spPr>
          <a:xfrm>
            <a:off x="548640" y="4137660"/>
            <a:ext cx="5364328" cy="2263140"/>
          </a:xfrm>
          <a:prstGeom prst="roundRect">
            <a:avLst>
              <a:gd name="adj" fmla="val 3232"/>
            </a:avLst>
          </a:prstGeom>
          <a:solidFill>
            <a:srgbClr val="F2F6F9"/>
          </a:solidFill>
          <a:ln/>
        </p:spPr>
      </p:sp>
      <p:sp>
        <p:nvSpPr>
          <p:cNvPr id="15" name="Shape 13"/>
          <p:cNvSpPr/>
          <p:nvPr/>
        </p:nvSpPr>
        <p:spPr>
          <a:xfrm>
            <a:off x="777240" y="4366260"/>
            <a:ext cx="384048" cy="384048"/>
          </a:xfrm>
          <a:prstGeom prst="ellipse">
            <a:avLst/>
          </a:prstGeom>
          <a:solidFill>
            <a:srgbClr val="E8934C"/>
          </a:solidFill>
          <a:ln/>
        </p:spPr>
      </p:sp>
      <p:sp>
        <p:nvSpPr>
          <p:cNvPr id="16" name="Text 14"/>
          <p:cNvSpPr/>
          <p:nvPr/>
        </p:nvSpPr>
        <p:spPr>
          <a:xfrm>
            <a:off x="777240" y="43662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298448" y="43571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Revenue</a:t>
            </a:r>
            <a:endParaRPr lang="en-US" sz="1450" dirty="0"/>
          </a:p>
        </p:txBody>
      </p:sp>
      <p:sp>
        <p:nvSpPr>
          <p:cNvPr id="18" name="Text 16"/>
          <p:cNvSpPr/>
          <p:nvPr/>
        </p:nvSpPr>
        <p:spPr>
          <a:xfrm>
            <a:off x="777240" y="48874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Sales and Marketing  ·  Customer Relationship Management (CRM)</a:t>
            </a:r>
            <a:endParaRPr lang="en-US" sz="1080" dirty="0"/>
          </a:p>
        </p:txBody>
      </p:sp>
      <p:sp>
        <p:nvSpPr>
          <p:cNvPr id="19" name="Shape 17"/>
          <p:cNvSpPr/>
          <p:nvPr/>
        </p:nvSpPr>
        <p:spPr>
          <a:xfrm>
            <a:off x="6278728" y="4137660"/>
            <a:ext cx="5364328" cy="2263140"/>
          </a:xfrm>
          <a:prstGeom prst="roundRect">
            <a:avLst>
              <a:gd name="adj" fmla="val 3232"/>
            </a:avLst>
          </a:prstGeom>
          <a:solidFill>
            <a:srgbClr val="F2F6F9"/>
          </a:solidFill>
          <a:ln/>
        </p:spPr>
      </p:sp>
      <p:sp>
        <p:nvSpPr>
          <p:cNvPr id="20" name="Shape 18"/>
          <p:cNvSpPr/>
          <p:nvPr/>
        </p:nvSpPr>
        <p:spPr>
          <a:xfrm>
            <a:off x="6507328" y="4366260"/>
            <a:ext cx="384048" cy="384048"/>
          </a:xfrm>
          <a:prstGeom prst="ellipse">
            <a:avLst/>
          </a:prstGeom>
          <a:solidFill>
            <a:srgbClr val="C85A46"/>
          </a:solidFill>
          <a:ln/>
        </p:spPr>
      </p:sp>
      <p:sp>
        <p:nvSpPr>
          <p:cNvPr id="21" name="Text 19"/>
          <p:cNvSpPr/>
          <p:nvPr/>
        </p:nvSpPr>
        <p:spPr>
          <a:xfrm>
            <a:off x="6507328" y="43662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7028536" y="43571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Shared Backbone</a:t>
            </a:r>
            <a:endParaRPr lang="en-US" sz="1450" dirty="0"/>
          </a:p>
        </p:txBody>
      </p:sp>
      <p:sp>
        <p:nvSpPr>
          <p:cNvPr id="23" name="Text 21"/>
          <p:cNvSpPr/>
          <p:nvPr/>
        </p:nvSpPr>
        <p:spPr>
          <a:xfrm>
            <a:off x="6507328" y="48874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All modules read and write to a single, centralized database in real time.</a:t>
            </a:r>
            <a:endParaRPr lang="en-US" sz="1080" dirty="0"/>
          </a:p>
        </p:txBody>
      </p:sp>
      <p:sp>
        <p:nvSpPr>
          <p:cNvPr id="24"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ENTERPRISE RESOURCE PLANNING</a:t>
            </a:r>
            <a:endParaRPr lang="en-US" sz="900" dirty="0"/>
          </a:p>
        </p:txBody>
      </p:sp>
      <p:sp>
        <p:nvSpPr>
          <p:cNvPr id="25" name="Text 2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ENTERPRISE RESOURCE PLANNING</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Popular ERP Platforms &amp; Market Size</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Leading Platforms</a:t>
            </a:r>
            <a:endParaRPr lang="en-US" sz="1350" dirty="0"/>
          </a:p>
        </p:txBody>
      </p:sp>
      <p:sp>
        <p:nvSpPr>
          <p:cNvPr id="7" name="Text 5"/>
          <p:cNvSpPr/>
          <p:nvPr/>
        </p:nvSpPr>
        <p:spPr>
          <a:xfrm>
            <a:off x="1078992" y="180136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SAP ERP, Oracle ERP Cloud, Microsoft Dynamics 365, Odoo, and NetSuite ERP lead the market.</a:t>
            </a:r>
            <a:endParaRPr lang="en-US" sz="1150" dirty="0"/>
          </a:p>
        </p:txBody>
      </p:sp>
      <p:sp>
        <p:nvSpPr>
          <p:cNvPr id="8" name="Shape 6"/>
          <p:cNvSpPr/>
          <p:nvPr/>
        </p:nvSpPr>
        <p:spPr>
          <a:xfrm>
            <a:off x="548640" y="2551176"/>
            <a:ext cx="384048" cy="384048"/>
          </a:xfrm>
          <a:prstGeom prst="ellipse">
            <a:avLst/>
          </a:prstGeom>
          <a:solidFill>
            <a:srgbClr val="0D2C4B"/>
          </a:solidFill>
          <a:ln/>
        </p:spPr>
      </p:sp>
      <p:sp>
        <p:nvSpPr>
          <p:cNvPr id="9" name="Text 7"/>
          <p:cNvSpPr/>
          <p:nvPr/>
        </p:nvSpPr>
        <p:spPr>
          <a:xfrm>
            <a:off x="548640" y="2551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48716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Market Size</a:t>
            </a:r>
            <a:endParaRPr lang="en-US" sz="1350" dirty="0"/>
          </a:p>
        </p:txBody>
      </p:sp>
      <p:sp>
        <p:nvSpPr>
          <p:cNvPr id="11" name="Text 9"/>
          <p:cNvSpPr/>
          <p:nvPr/>
        </p:nvSpPr>
        <p:spPr>
          <a:xfrm>
            <a:off x="1078992" y="276148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The global ERP software market is estimated at over $100B in 2026, growing at a low-double-digit CAGR (Fortune Business Insights).</a:t>
            </a:r>
            <a:endParaRPr lang="en-US" sz="1150" dirty="0"/>
          </a:p>
        </p:txBody>
      </p:sp>
      <p:sp>
        <p:nvSpPr>
          <p:cNvPr id="12" name="Shape 10"/>
          <p:cNvSpPr/>
          <p:nvPr/>
        </p:nvSpPr>
        <p:spPr>
          <a:xfrm>
            <a:off x="548640" y="3511296"/>
            <a:ext cx="384048" cy="384048"/>
          </a:xfrm>
          <a:prstGeom prst="ellipse">
            <a:avLst/>
          </a:prstGeom>
          <a:solidFill>
            <a:srgbClr val="0D2C4B"/>
          </a:solidFill>
          <a:ln/>
        </p:spPr>
      </p:sp>
      <p:sp>
        <p:nvSpPr>
          <p:cNvPr id="13" name="Text 11"/>
          <p:cNvSpPr/>
          <p:nvPr/>
        </p:nvSpPr>
        <p:spPr>
          <a:xfrm>
            <a:off x="548640" y="35112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78992" y="344728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Cloud Shift</a:t>
            </a:r>
            <a:endParaRPr lang="en-US" sz="1350" dirty="0"/>
          </a:p>
        </p:txBody>
      </p:sp>
      <p:sp>
        <p:nvSpPr>
          <p:cNvPr id="15" name="Text 13"/>
          <p:cNvSpPr/>
          <p:nvPr/>
        </p:nvSpPr>
        <p:spPr>
          <a:xfrm>
            <a:off x="1078992" y="372160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Cloud deployments now account for the majority of new ERP implementations, ahead of on-premise installs.</a:t>
            </a:r>
            <a:endParaRPr lang="en-US" sz="1150" dirty="0"/>
          </a:p>
        </p:txBody>
      </p:sp>
      <p:sp>
        <p:nvSpPr>
          <p:cNvPr id="16" name="Text 14"/>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ENTERPRISE RESOURCE PLANNING</a:t>
            </a:r>
            <a:endParaRPr lang="en-US" sz="900" dirty="0"/>
          </a:p>
        </p:txBody>
      </p:sp>
      <p:sp>
        <p:nvSpPr>
          <p:cNvPr id="17" name="Text 15"/>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18320" y="-914400"/>
            <a:ext cx="3840480" cy="3840480"/>
          </a:xfrm>
          <a:prstGeom prst="ellipse">
            <a:avLst/>
          </a:prstGeom>
          <a:solidFill>
            <a:srgbClr val="F2F6F9"/>
          </a:solidFill>
          <a:ln/>
        </p:spPr>
      </p:sp>
      <p:sp>
        <p:nvSpPr>
          <p:cNvPr id="3" name="Shape 1"/>
          <p:cNvSpPr/>
          <p:nvPr/>
        </p:nvSpPr>
        <p:spPr>
          <a:xfrm>
            <a:off x="10424160" y="91440"/>
            <a:ext cx="1828800" cy="1828800"/>
          </a:xfrm>
          <a:prstGeom prst="ellipse">
            <a:avLst/>
          </a:prstGeom>
          <a:solidFill>
            <a:srgbClr val="12B5CB">
              <a:alpha val="15000"/>
            </a:srgbClr>
          </a:solidFill>
          <a:ln/>
        </p:spPr>
      </p:sp>
      <p:sp>
        <p:nvSpPr>
          <p:cNvPr id="4" name="Text 2"/>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ENTERPRISE RESOURCE PLANNING</a:t>
            </a:r>
            <a:endParaRPr lang="en-US" sz="1150" dirty="0"/>
          </a:p>
        </p:txBody>
      </p:sp>
      <p:sp>
        <p:nvSpPr>
          <p:cNvPr id="5" name="Text 3"/>
          <p:cNvSpPr/>
          <p:nvPr/>
        </p:nvSpPr>
        <p:spPr>
          <a:xfrm>
            <a:off x="548640" y="960120"/>
            <a:ext cx="9692640" cy="1005840"/>
          </a:xfrm>
          <a:prstGeom prst="rect">
            <a:avLst/>
          </a:prstGeom>
          <a:noFill/>
          <a:ln/>
        </p:spPr>
        <p:txBody>
          <a:bodyPr wrap="square" lIns="0" tIns="0" rIns="0" bIns="0" rtlCol="0" anchor="ctr"/>
          <a:lstStyle/>
          <a:p>
            <a:pPr indent="0" marL="0">
              <a:lnSpc>
                <a:spcPts val="3400"/>
              </a:lnSpc>
              <a:buNone/>
            </a:pPr>
            <a:r>
              <a:rPr lang="en-US" sz="3000" b="1" dirty="0">
                <a:solidFill>
                  <a:srgbClr val="0D2C4B"/>
                </a:solidFill>
                <a:latin typeface="Cambria" pitchFamily="34" charset="0"/>
                <a:ea typeface="Cambria" pitchFamily="34" charset="-122"/>
                <a:cs typeface="Cambria" pitchFamily="34" charset="-120"/>
              </a:rPr>
              <a:t>How ERP Platforms Work</a:t>
            </a:r>
            <a:endParaRPr lang="en-US" sz="3000" dirty="0"/>
          </a:p>
        </p:txBody>
      </p:sp>
      <p:sp>
        <p:nvSpPr>
          <p:cNvPr id="6" name="Text 4"/>
          <p:cNvSpPr/>
          <p:nvPr/>
        </p:nvSpPr>
        <p:spPr>
          <a:xfrm>
            <a:off x="548640" y="2148840"/>
            <a:ext cx="9509760" cy="2377440"/>
          </a:xfrm>
          <a:prstGeom prst="rect">
            <a:avLst/>
          </a:prstGeom>
          <a:noFill/>
          <a:ln/>
        </p:spPr>
        <p:txBody>
          <a:bodyPr wrap="square" lIns="0" tIns="0" rIns="0" bIns="0" rtlCol="0" anchor="ctr"/>
          <a:lstStyle/>
          <a:p>
            <a:pPr indent="0" marL="0">
              <a:lnSpc>
                <a:spcPts val="2500"/>
              </a:lnSpc>
              <a:buNone/>
            </a:pPr>
            <a:r>
              <a:rPr lang="en-US" sz="1600" dirty="0">
                <a:solidFill>
                  <a:srgbClr val="1C2B39"/>
                </a:solidFill>
                <a:latin typeface="Calibri" pitchFamily="34" charset="0"/>
                <a:ea typeface="Calibri" pitchFamily="34" charset="-122"/>
                <a:cs typeface="Calibri" pitchFamily="34" charset="-120"/>
              </a:rPr>
              <a:t>ERP platforms integrate all of a company's core business functions — finance, HR, and supply chain — into a single system built on a central database. This structure lets different departments share information in real time, automate processes, and create seamless workflows that streamline operations and improve decision-making.</a:t>
            </a:r>
            <a:endParaRPr lang="en-US" sz="1600" dirty="0"/>
          </a:p>
        </p:txBody>
      </p:sp>
      <p:sp>
        <p:nvSpPr>
          <p:cNvPr id="7" name="Shape 5"/>
          <p:cNvSpPr/>
          <p:nvPr/>
        </p:nvSpPr>
        <p:spPr>
          <a:xfrm>
            <a:off x="548640" y="4892040"/>
            <a:ext cx="1828800" cy="384048"/>
          </a:xfrm>
          <a:prstGeom prst="roundRect">
            <a:avLst>
              <a:gd name="adj" fmla="val 50000"/>
            </a:avLst>
          </a:prstGeom>
          <a:solidFill>
            <a:srgbClr val="F2F6F9"/>
          </a:solidFill>
          <a:ln w="12700">
            <a:solidFill>
              <a:srgbClr val="DCE6ED"/>
            </a:solidFill>
            <a:prstDash val="solid"/>
          </a:ln>
        </p:spPr>
      </p:sp>
      <p:sp>
        <p:nvSpPr>
          <p:cNvPr id="8" name="Text 6"/>
          <p:cNvSpPr/>
          <p:nvPr/>
        </p:nvSpPr>
        <p:spPr>
          <a:xfrm>
            <a:off x="548640" y="4892040"/>
            <a:ext cx="1828800"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Central Database</a:t>
            </a:r>
            <a:endParaRPr lang="en-US" sz="1150" dirty="0"/>
          </a:p>
        </p:txBody>
      </p:sp>
      <p:sp>
        <p:nvSpPr>
          <p:cNvPr id="9" name="Shape 7"/>
          <p:cNvSpPr/>
          <p:nvPr/>
        </p:nvSpPr>
        <p:spPr>
          <a:xfrm>
            <a:off x="2578608" y="4892040"/>
            <a:ext cx="1636776" cy="384048"/>
          </a:xfrm>
          <a:prstGeom prst="roundRect">
            <a:avLst>
              <a:gd name="adj" fmla="val 50000"/>
            </a:avLst>
          </a:prstGeom>
          <a:solidFill>
            <a:srgbClr val="F2F6F9"/>
          </a:solidFill>
          <a:ln w="12700">
            <a:solidFill>
              <a:srgbClr val="DCE6ED"/>
            </a:solidFill>
            <a:prstDash val="solid"/>
          </a:ln>
        </p:spPr>
      </p:sp>
      <p:sp>
        <p:nvSpPr>
          <p:cNvPr id="10" name="Text 8"/>
          <p:cNvSpPr/>
          <p:nvPr/>
        </p:nvSpPr>
        <p:spPr>
          <a:xfrm>
            <a:off x="2578608" y="4892040"/>
            <a:ext cx="1636776"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Real-Time Sync</a:t>
            </a:r>
            <a:endParaRPr lang="en-US" sz="1150" dirty="0"/>
          </a:p>
        </p:txBody>
      </p:sp>
      <p:sp>
        <p:nvSpPr>
          <p:cNvPr id="11" name="Shape 9"/>
          <p:cNvSpPr/>
          <p:nvPr/>
        </p:nvSpPr>
        <p:spPr>
          <a:xfrm>
            <a:off x="4416552" y="4892040"/>
            <a:ext cx="1252728" cy="384048"/>
          </a:xfrm>
          <a:prstGeom prst="roundRect">
            <a:avLst>
              <a:gd name="adj" fmla="val 50000"/>
            </a:avLst>
          </a:prstGeom>
          <a:solidFill>
            <a:srgbClr val="F2F6F9"/>
          </a:solidFill>
          <a:ln w="12700">
            <a:solidFill>
              <a:srgbClr val="DCE6ED"/>
            </a:solidFill>
            <a:prstDash val="solid"/>
          </a:ln>
        </p:spPr>
      </p:sp>
      <p:sp>
        <p:nvSpPr>
          <p:cNvPr id="12" name="Text 10"/>
          <p:cNvSpPr/>
          <p:nvPr/>
        </p:nvSpPr>
        <p:spPr>
          <a:xfrm>
            <a:off x="4416552" y="4892040"/>
            <a:ext cx="1252728"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Automation</a:t>
            </a:r>
            <a:endParaRPr lang="en-US" sz="1150" dirty="0"/>
          </a:p>
        </p:txBody>
      </p:sp>
      <p:sp>
        <p:nvSpPr>
          <p:cNvPr id="13" name="Text 11"/>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ENTERPRISE RESOURCE PLANNING</a:t>
            </a:r>
            <a:endParaRPr lang="en-US" sz="900" dirty="0"/>
          </a:p>
        </p:txBody>
      </p:sp>
      <p:sp>
        <p:nvSpPr>
          <p:cNvPr id="14" name="Text 12"/>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ENTERPRISE RESOURCE PLANNING</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The Centralized Database</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One Source of Truth</a:t>
            </a:r>
            <a:endParaRPr lang="en-US" sz="1350" dirty="0"/>
          </a:p>
        </p:txBody>
      </p:sp>
      <p:sp>
        <p:nvSpPr>
          <p:cNvPr id="7" name="Text 5"/>
          <p:cNvSpPr/>
          <p:nvPr/>
        </p:nvSpPr>
        <p:spPr>
          <a:xfrm>
            <a:off x="1078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The core of an ERP system is a central database shared by every department.</a:t>
            </a:r>
            <a:endParaRPr lang="en-US" sz="1150" dirty="0"/>
          </a:p>
        </p:txBody>
      </p:sp>
      <p:sp>
        <p:nvSpPr>
          <p:cNvPr id="8" name="Shape 6"/>
          <p:cNvSpPr/>
          <p:nvPr/>
        </p:nvSpPr>
        <p:spPr>
          <a:xfrm>
            <a:off x="548640" y="2642616"/>
            <a:ext cx="384048" cy="384048"/>
          </a:xfrm>
          <a:prstGeom prst="ellipse">
            <a:avLst/>
          </a:prstGeom>
          <a:solidFill>
            <a:srgbClr val="0D2C4B"/>
          </a:solidFill>
          <a:ln/>
        </p:spPr>
      </p:sp>
      <p:sp>
        <p:nvSpPr>
          <p:cNvPr id="9" name="Text 7"/>
          <p:cNvSpPr/>
          <p:nvPr/>
        </p:nvSpPr>
        <p:spPr>
          <a:xfrm>
            <a:off x="548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Shared Access</a:t>
            </a:r>
            <a:endParaRPr lang="en-US" sz="1350" dirty="0"/>
          </a:p>
        </p:txBody>
      </p:sp>
      <p:sp>
        <p:nvSpPr>
          <p:cNvPr id="11" name="Text 9"/>
          <p:cNvSpPr/>
          <p:nvPr/>
        </p:nvSpPr>
        <p:spPr>
          <a:xfrm>
            <a:off x="1078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Finance, HR, Sales, and Inventory all store and access data from this one database.</a:t>
            </a:r>
            <a:endParaRPr lang="en-US" sz="1150" dirty="0"/>
          </a:p>
        </p:txBody>
      </p:sp>
      <p:sp>
        <p:nvSpPr>
          <p:cNvPr id="12" name="Shape 10"/>
          <p:cNvSpPr/>
          <p:nvPr/>
        </p:nvSpPr>
        <p:spPr>
          <a:xfrm>
            <a:off x="6263640" y="1591056"/>
            <a:ext cx="384048" cy="384048"/>
          </a:xfrm>
          <a:prstGeom prst="ellipse">
            <a:avLst/>
          </a:prstGeom>
          <a:solidFill>
            <a:srgbClr val="0D2C4B"/>
          </a:solidFill>
          <a:ln/>
        </p:spPr>
      </p:sp>
      <p:sp>
        <p:nvSpPr>
          <p:cNvPr id="13" name="Text 11"/>
          <p:cNvSpPr/>
          <p:nvPr/>
        </p:nvSpPr>
        <p:spPr>
          <a:xfrm>
            <a:off x="6263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6793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No Duplication</a:t>
            </a:r>
            <a:endParaRPr lang="en-US" sz="1350" dirty="0"/>
          </a:p>
        </p:txBody>
      </p:sp>
      <p:sp>
        <p:nvSpPr>
          <p:cNvPr id="15" name="Text 13"/>
          <p:cNvSpPr/>
          <p:nvPr/>
        </p:nvSpPr>
        <p:spPr>
          <a:xfrm>
            <a:off x="6793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This avoids data duplication and ensures real-time consistency across the organization.</a:t>
            </a:r>
            <a:endParaRPr lang="en-US" sz="1150" dirty="0"/>
          </a:p>
        </p:txBody>
      </p:sp>
      <p:sp>
        <p:nvSpPr>
          <p:cNvPr id="16" name="Shape 14"/>
          <p:cNvSpPr/>
          <p:nvPr/>
        </p:nvSpPr>
        <p:spPr>
          <a:xfrm>
            <a:off x="6263640" y="2642616"/>
            <a:ext cx="384048" cy="384048"/>
          </a:xfrm>
          <a:prstGeom prst="ellipse">
            <a:avLst/>
          </a:prstGeom>
          <a:solidFill>
            <a:srgbClr val="0D2C4B"/>
          </a:solidFill>
          <a:ln/>
        </p:spPr>
      </p:sp>
      <p:sp>
        <p:nvSpPr>
          <p:cNvPr id="17" name="Text 15"/>
          <p:cNvSpPr/>
          <p:nvPr/>
        </p:nvSpPr>
        <p:spPr>
          <a:xfrm>
            <a:off x="6263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6793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Example</a:t>
            </a:r>
            <a:endParaRPr lang="en-US" sz="1350" dirty="0"/>
          </a:p>
        </p:txBody>
      </p:sp>
      <p:sp>
        <p:nvSpPr>
          <p:cNvPr id="19" name="Text 17"/>
          <p:cNvSpPr/>
          <p:nvPr/>
        </p:nvSpPr>
        <p:spPr>
          <a:xfrm>
            <a:off x="6793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When Sales records a new order, Inventory and Accounting are automatically updated.</a:t>
            </a:r>
            <a:endParaRPr lang="en-US" sz="1150" dirty="0"/>
          </a:p>
        </p:txBody>
      </p:sp>
      <p:sp>
        <p:nvSpPr>
          <p:cNvPr id="20" name="Text 18"/>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ENTERPRISE RESOURCE PLANNING</a:t>
            </a:r>
            <a:endParaRPr lang="en-US" sz="900" dirty="0"/>
          </a:p>
        </p:txBody>
      </p:sp>
      <p:sp>
        <p:nvSpPr>
          <p:cNvPr id="21" name="Text 19"/>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ENTERPRISE RESOURCE PLANNING</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Integration of Business Processes</a:t>
            </a:r>
            <a:endParaRPr lang="en-US" sz="2700" dirty="0"/>
          </a:p>
        </p:txBody>
      </p:sp>
      <p:sp>
        <p:nvSpPr>
          <p:cNvPr id="4" name="Text 2"/>
          <p:cNvSpPr/>
          <p:nvPr/>
        </p:nvSpPr>
        <p:spPr>
          <a:xfrm>
            <a:off x="548640" y="1536192"/>
            <a:ext cx="10607040" cy="411480"/>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ERP connects departments so their workflows are interlinked end-to-end, improving efficiency and accuracy.</a:t>
            </a:r>
            <a:endParaRPr lang="en-US" sz="1250" dirty="0"/>
          </a:p>
        </p:txBody>
      </p:sp>
      <p:sp>
        <p:nvSpPr>
          <p:cNvPr id="5" name="Shape 3"/>
          <p:cNvSpPr/>
          <p:nvPr/>
        </p:nvSpPr>
        <p:spPr>
          <a:xfrm>
            <a:off x="548640" y="2148840"/>
            <a:ext cx="2581580" cy="3246120"/>
          </a:xfrm>
          <a:prstGeom prst="roundRect">
            <a:avLst>
              <a:gd name="adj" fmla="val 2479"/>
            </a:avLst>
          </a:prstGeom>
          <a:solidFill>
            <a:srgbClr val="F2F6F9"/>
          </a:solidFill>
          <a:ln/>
        </p:spPr>
      </p:sp>
      <p:sp>
        <p:nvSpPr>
          <p:cNvPr id="6" name="Shape 4"/>
          <p:cNvSpPr/>
          <p:nvPr/>
        </p:nvSpPr>
        <p:spPr>
          <a:xfrm>
            <a:off x="1619974" y="1929384"/>
            <a:ext cx="438912" cy="438912"/>
          </a:xfrm>
          <a:prstGeom prst="ellipse">
            <a:avLst/>
          </a:prstGeom>
          <a:solidFill>
            <a:srgbClr val="0D2C4B"/>
          </a:solidFill>
          <a:ln/>
        </p:spPr>
      </p:sp>
      <p:sp>
        <p:nvSpPr>
          <p:cNvPr id="7" name="Text 5"/>
          <p:cNvSpPr/>
          <p:nvPr/>
        </p:nvSpPr>
        <p:spPr>
          <a:xfrm>
            <a:off x="1619974" y="19293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713232" y="2532888"/>
            <a:ext cx="2252396"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Sales</a:t>
            </a:r>
            <a:endParaRPr lang="en-US" sz="1250" dirty="0"/>
          </a:p>
        </p:txBody>
      </p:sp>
      <p:sp>
        <p:nvSpPr>
          <p:cNvPr id="9" name="Text 7"/>
          <p:cNvSpPr/>
          <p:nvPr/>
        </p:nvSpPr>
        <p:spPr>
          <a:xfrm>
            <a:off x="713232" y="3063240"/>
            <a:ext cx="2252396" cy="219456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Triggers order processing</a:t>
            </a:r>
            <a:endParaRPr lang="en-US" sz="1030" dirty="0"/>
          </a:p>
        </p:txBody>
      </p:sp>
      <p:sp>
        <p:nvSpPr>
          <p:cNvPr id="10" name="Text 8"/>
          <p:cNvSpPr/>
          <p:nvPr/>
        </p:nvSpPr>
        <p:spPr>
          <a:xfrm>
            <a:off x="3130220" y="3543300"/>
            <a:ext cx="256032" cy="457200"/>
          </a:xfrm>
          <a:prstGeom prst="rect">
            <a:avLst/>
          </a:prstGeom>
          <a:noFill/>
          <a:ln/>
        </p:spPr>
        <p:txBody>
          <a:bodyPr wrap="square" lIns="0" tIns="0" rIns="0" bIns="0" rtlCol="0" anchor="ctr"/>
          <a:lstStyle/>
          <a:p>
            <a:pPr algn="ctr" indent="0" marL="0">
              <a:buNone/>
            </a:pPr>
            <a:r>
              <a:rPr lang="en-US" sz="2000" b="1" dirty="0">
                <a:solidFill>
                  <a:srgbClr val="12B5CB"/>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3386252" y="2148840"/>
            <a:ext cx="2581580" cy="3246120"/>
          </a:xfrm>
          <a:prstGeom prst="roundRect">
            <a:avLst>
              <a:gd name="adj" fmla="val 2479"/>
            </a:avLst>
          </a:prstGeom>
          <a:solidFill>
            <a:srgbClr val="F2F6F9"/>
          </a:solidFill>
          <a:ln/>
        </p:spPr>
      </p:sp>
      <p:sp>
        <p:nvSpPr>
          <p:cNvPr id="12" name="Shape 10"/>
          <p:cNvSpPr/>
          <p:nvPr/>
        </p:nvSpPr>
        <p:spPr>
          <a:xfrm>
            <a:off x="4457586" y="1929384"/>
            <a:ext cx="438912" cy="438912"/>
          </a:xfrm>
          <a:prstGeom prst="ellipse">
            <a:avLst/>
          </a:prstGeom>
          <a:solidFill>
            <a:srgbClr val="0D2C4B"/>
          </a:solidFill>
          <a:ln/>
        </p:spPr>
      </p:sp>
      <p:sp>
        <p:nvSpPr>
          <p:cNvPr id="13" name="Text 11"/>
          <p:cNvSpPr/>
          <p:nvPr/>
        </p:nvSpPr>
        <p:spPr>
          <a:xfrm>
            <a:off x="4457586" y="19293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3550844" y="2532888"/>
            <a:ext cx="2252396"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Inventory</a:t>
            </a:r>
            <a:endParaRPr lang="en-US" sz="1250" dirty="0"/>
          </a:p>
        </p:txBody>
      </p:sp>
      <p:sp>
        <p:nvSpPr>
          <p:cNvPr id="15" name="Text 13"/>
          <p:cNvSpPr/>
          <p:nvPr/>
        </p:nvSpPr>
        <p:spPr>
          <a:xfrm>
            <a:off x="3550844" y="3063240"/>
            <a:ext cx="2252396" cy="219456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Checks stock availability</a:t>
            </a:r>
            <a:endParaRPr lang="en-US" sz="1030" dirty="0"/>
          </a:p>
        </p:txBody>
      </p:sp>
      <p:sp>
        <p:nvSpPr>
          <p:cNvPr id="16" name="Text 14"/>
          <p:cNvSpPr/>
          <p:nvPr/>
        </p:nvSpPr>
        <p:spPr>
          <a:xfrm>
            <a:off x="5967832" y="3543300"/>
            <a:ext cx="256032" cy="457200"/>
          </a:xfrm>
          <a:prstGeom prst="rect">
            <a:avLst/>
          </a:prstGeom>
          <a:noFill/>
          <a:ln/>
        </p:spPr>
        <p:txBody>
          <a:bodyPr wrap="square" lIns="0" tIns="0" rIns="0" bIns="0" rtlCol="0" anchor="ctr"/>
          <a:lstStyle/>
          <a:p>
            <a:pPr algn="ctr" indent="0" marL="0">
              <a:buNone/>
            </a:pPr>
            <a:r>
              <a:rPr lang="en-US" sz="2000" b="1" dirty="0">
                <a:solidFill>
                  <a:srgbClr val="12B5CB"/>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6223864" y="2148840"/>
            <a:ext cx="2581580" cy="3246120"/>
          </a:xfrm>
          <a:prstGeom prst="roundRect">
            <a:avLst>
              <a:gd name="adj" fmla="val 2479"/>
            </a:avLst>
          </a:prstGeom>
          <a:solidFill>
            <a:srgbClr val="F2F6F9"/>
          </a:solidFill>
          <a:ln/>
        </p:spPr>
      </p:sp>
      <p:sp>
        <p:nvSpPr>
          <p:cNvPr id="18" name="Shape 16"/>
          <p:cNvSpPr/>
          <p:nvPr/>
        </p:nvSpPr>
        <p:spPr>
          <a:xfrm>
            <a:off x="7295198" y="1929384"/>
            <a:ext cx="438912" cy="438912"/>
          </a:xfrm>
          <a:prstGeom prst="ellipse">
            <a:avLst/>
          </a:prstGeom>
          <a:solidFill>
            <a:srgbClr val="0D2C4B"/>
          </a:solidFill>
          <a:ln/>
        </p:spPr>
      </p:sp>
      <p:sp>
        <p:nvSpPr>
          <p:cNvPr id="19" name="Text 17"/>
          <p:cNvSpPr/>
          <p:nvPr/>
        </p:nvSpPr>
        <p:spPr>
          <a:xfrm>
            <a:off x="7295198" y="19293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6388456" y="2532888"/>
            <a:ext cx="2252396"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Production</a:t>
            </a:r>
            <a:endParaRPr lang="en-US" sz="1250" dirty="0"/>
          </a:p>
        </p:txBody>
      </p:sp>
      <p:sp>
        <p:nvSpPr>
          <p:cNvPr id="21" name="Text 19"/>
          <p:cNvSpPr/>
          <p:nvPr/>
        </p:nvSpPr>
        <p:spPr>
          <a:xfrm>
            <a:off x="6388456" y="3063240"/>
            <a:ext cx="2252396" cy="219456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Plans manufacturing</a:t>
            </a:r>
            <a:endParaRPr lang="en-US" sz="1030" dirty="0"/>
          </a:p>
        </p:txBody>
      </p:sp>
      <p:sp>
        <p:nvSpPr>
          <p:cNvPr id="22" name="Text 20"/>
          <p:cNvSpPr/>
          <p:nvPr/>
        </p:nvSpPr>
        <p:spPr>
          <a:xfrm>
            <a:off x="8805443" y="3543300"/>
            <a:ext cx="256032" cy="457200"/>
          </a:xfrm>
          <a:prstGeom prst="rect">
            <a:avLst/>
          </a:prstGeom>
          <a:noFill/>
          <a:ln/>
        </p:spPr>
        <p:txBody>
          <a:bodyPr wrap="square" lIns="0" tIns="0" rIns="0" bIns="0" rtlCol="0" anchor="ctr"/>
          <a:lstStyle/>
          <a:p>
            <a:pPr algn="ctr" indent="0" marL="0">
              <a:buNone/>
            </a:pPr>
            <a:r>
              <a:rPr lang="en-US" sz="2000" b="1" dirty="0">
                <a:solidFill>
                  <a:srgbClr val="12B5CB"/>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9061475" y="2148840"/>
            <a:ext cx="2581580" cy="3246120"/>
          </a:xfrm>
          <a:prstGeom prst="roundRect">
            <a:avLst>
              <a:gd name="adj" fmla="val 2479"/>
            </a:avLst>
          </a:prstGeom>
          <a:solidFill>
            <a:srgbClr val="F2F6F9"/>
          </a:solidFill>
          <a:ln/>
        </p:spPr>
      </p:sp>
      <p:sp>
        <p:nvSpPr>
          <p:cNvPr id="24" name="Shape 22"/>
          <p:cNvSpPr/>
          <p:nvPr/>
        </p:nvSpPr>
        <p:spPr>
          <a:xfrm>
            <a:off x="10132809" y="1929384"/>
            <a:ext cx="438912" cy="438912"/>
          </a:xfrm>
          <a:prstGeom prst="ellipse">
            <a:avLst/>
          </a:prstGeom>
          <a:solidFill>
            <a:srgbClr val="0D2C4B"/>
          </a:solidFill>
          <a:ln/>
        </p:spPr>
      </p:sp>
      <p:sp>
        <p:nvSpPr>
          <p:cNvPr id="25" name="Text 23"/>
          <p:cNvSpPr/>
          <p:nvPr/>
        </p:nvSpPr>
        <p:spPr>
          <a:xfrm>
            <a:off x="10132809" y="19293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4"/>
          <p:cNvSpPr/>
          <p:nvPr/>
        </p:nvSpPr>
        <p:spPr>
          <a:xfrm>
            <a:off x="9226067" y="2532888"/>
            <a:ext cx="2252396"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Finance</a:t>
            </a:r>
            <a:endParaRPr lang="en-US" sz="1250" dirty="0"/>
          </a:p>
        </p:txBody>
      </p:sp>
      <p:sp>
        <p:nvSpPr>
          <p:cNvPr id="27" name="Text 25"/>
          <p:cNvSpPr/>
          <p:nvPr/>
        </p:nvSpPr>
        <p:spPr>
          <a:xfrm>
            <a:off x="9226067" y="3063240"/>
            <a:ext cx="2252396" cy="219456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Records revenue, updates accounts</a:t>
            </a:r>
            <a:endParaRPr lang="en-US" sz="1030" dirty="0"/>
          </a:p>
        </p:txBody>
      </p:sp>
      <p:sp>
        <p:nvSpPr>
          <p:cNvPr id="28" name="Text 26"/>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ENTERPRISE RESOURCE PLANNING</a:t>
            </a:r>
            <a:endParaRPr lang="en-US" sz="900" dirty="0"/>
          </a:p>
        </p:txBody>
      </p:sp>
      <p:sp>
        <p:nvSpPr>
          <p:cNvPr id="29" name="Text 27"/>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ENTERPRISE RESOURCE PLANNING</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Automation &amp; Real-Time Reporting</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Routine Task Automation</a:t>
            </a:r>
            <a:endParaRPr lang="en-US" sz="1350" dirty="0"/>
          </a:p>
        </p:txBody>
      </p:sp>
      <p:sp>
        <p:nvSpPr>
          <p:cNvPr id="7" name="Text 5"/>
          <p:cNvSpPr/>
          <p:nvPr/>
        </p:nvSpPr>
        <p:spPr>
          <a:xfrm>
            <a:off x="1078992" y="180136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Generating invoices, updating stock levels, processing payroll, and tracking shipments — saving time and reducing manual errors.</a:t>
            </a:r>
            <a:endParaRPr lang="en-US" sz="1150" dirty="0"/>
          </a:p>
        </p:txBody>
      </p:sp>
      <p:sp>
        <p:nvSpPr>
          <p:cNvPr id="8" name="Shape 6"/>
          <p:cNvSpPr/>
          <p:nvPr/>
        </p:nvSpPr>
        <p:spPr>
          <a:xfrm>
            <a:off x="548640" y="2551176"/>
            <a:ext cx="384048" cy="384048"/>
          </a:xfrm>
          <a:prstGeom prst="ellipse">
            <a:avLst/>
          </a:prstGeom>
          <a:solidFill>
            <a:srgbClr val="0D2C4B"/>
          </a:solidFill>
          <a:ln/>
        </p:spPr>
      </p:sp>
      <p:sp>
        <p:nvSpPr>
          <p:cNvPr id="9" name="Text 7"/>
          <p:cNvSpPr/>
          <p:nvPr/>
        </p:nvSpPr>
        <p:spPr>
          <a:xfrm>
            <a:off x="548640" y="2551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48716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Real-Time Dashboards</a:t>
            </a:r>
            <a:endParaRPr lang="en-US" sz="1350" dirty="0"/>
          </a:p>
        </p:txBody>
      </p:sp>
      <p:sp>
        <p:nvSpPr>
          <p:cNvPr id="11" name="Text 9"/>
          <p:cNvSpPr/>
          <p:nvPr/>
        </p:nvSpPr>
        <p:spPr>
          <a:xfrm>
            <a:off x="1078992" y="276148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Managers monitor sales, expenses, inventory, and performance instantly.</a:t>
            </a:r>
            <a:endParaRPr lang="en-US" sz="1150" dirty="0"/>
          </a:p>
        </p:txBody>
      </p:sp>
      <p:sp>
        <p:nvSpPr>
          <p:cNvPr id="12" name="Shape 10"/>
          <p:cNvSpPr/>
          <p:nvPr/>
        </p:nvSpPr>
        <p:spPr>
          <a:xfrm>
            <a:off x="548640" y="3511296"/>
            <a:ext cx="384048" cy="384048"/>
          </a:xfrm>
          <a:prstGeom prst="ellipse">
            <a:avLst/>
          </a:prstGeom>
          <a:solidFill>
            <a:srgbClr val="0D2C4B"/>
          </a:solidFill>
          <a:ln/>
        </p:spPr>
      </p:sp>
      <p:sp>
        <p:nvSpPr>
          <p:cNvPr id="13" name="Text 11"/>
          <p:cNvSpPr/>
          <p:nvPr/>
        </p:nvSpPr>
        <p:spPr>
          <a:xfrm>
            <a:off x="548640" y="35112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78992" y="344728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Early Issue Detection</a:t>
            </a:r>
            <a:endParaRPr lang="en-US" sz="1350" dirty="0"/>
          </a:p>
        </p:txBody>
      </p:sp>
      <p:sp>
        <p:nvSpPr>
          <p:cNvPr id="15" name="Text 13"/>
          <p:cNvSpPr/>
          <p:nvPr/>
        </p:nvSpPr>
        <p:spPr>
          <a:xfrm>
            <a:off x="1078992" y="372160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Real-time visibility helps identify problems early and supports data-driven decisions.</a:t>
            </a:r>
            <a:endParaRPr lang="en-US" sz="1150" dirty="0"/>
          </a:p>
        </p:txBody>
      </p:sp>
      <p:sp>
        <p:nvSpPr>
          <p:cNvPr id="16" name="Text 14"/>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ENTERPRISE RESOURCE PLANNING</a:t>
            </a:r>
            <a:endParaRPr lang="en-US" sz="900" dirty="0"/>
          </a:p>
        </p:txBody>
      </p:sp>
      <p:sp>
        <p:nvSpPr>
          <p:cNvPr id="17" name="Text 15"/>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ENTERPRISE RESOURCE PLANNING</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Modular Structure of ERP</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Finance Module</a:t>
            </a:r>
            <a:endParaRPr lang="en-US" sz="1350" dirty="0"/>
          </a:p>
        </p:txBody>
      </p:sp>
      <p:sp>
        <p:nvSpPr>
          <p:cNvPr id="7" name="Text 5"/>
          <p:cNvSpPr/>
          <p:nvPr/>
        </p:nvSpPr>
        <p:spPr>
          <a:xfrm>
            <a:off x="1078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Manages accounting and budgeting.</a:t>
            </a:r>
            <a:endParaRPr lang="en-US" sz="1150" dirty="0"/>
          </a:p>
        </p:txBody>
      </p:sp>
      <p:sp>
        <p:nvSpPr>
          <p:cNvPr id="8" name="Shape 6"/>
          <p:cNvSpPr/>
          <p:nvPr/>
        </p:nvSpPr>
        <p:spPr>
          <a:xfrm>
            <a:off x="548640" y="2642616"/>
            <a:ext cx="384048" cy="384048"/>
          </a:xfrm>
          <a:prstGeom prst="ellipse">
            <a:avLst/>
          </a:prstGeom>
          <a:solidFill>
            <a:srgbClr val="0D2C4B"/>
          </a:solidFill>
          <a:ln/>
        </p:spPr>
      </p:sp>
      <p:sp>
        <p:nvSpPr>
          <p:cNvPr id="9" name="Text 7"/>
          <p:cNvSpPr/>
          <p:nvPr/>
        </p:nvSpPr>
        <p:spPr>
          <a:xfrm>
            <a:off x="548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HR Module</a:t>
            </a:r>
            <a:endParaRPr lang="en-US" sz="1350" dirty="0"/>
          </a:p>
        </p:txBody>
      </p:sp>
      <p:sp>
        <p:nvSpPr>
          <p:cNvPr id="11" name="Text 9"/>
          <p:cNvSpPr/>
          <p:nvPr/>
        </p:nvSpPr>
        <p:spPr>
          <a:xfrm>
            <a:off x="1078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Handles employee data and payroll.</a:t>
            </a:r>
            <a:endParaRPr lang="en-US" sz="1150" dirty="0"/>
          </a:p>
        </p:txBody>
      </p:sp>
      <p:sp>
        <p:nvSpPr>
          <p:cNvPr id="12" name="Shape 10"/>
          <p:cNvSpPr/>
          <p:nvPr/>
        </p:nvSpPr>
        <p:spPr>
          <a:xfrm>
            <a:off x="548640" y="3694176"/>
            <a:ext cx="384048" cy="384048"/>
          </a:xfrm>
          <a:prstGeom prst="ellipse">
            <a:avLst/>
          </a:prstGeom>
          <a:solidFill>
            <a:srgbClr val="0D2C4B"/>
          </a:solidFill>
          <a:ln/>
        </p:spPr>
      </p:sp>
      <p:sp>
        <p:nvSpPr>
          <p:cNvPr id="13" name="Text 11"/>
          <p:cNvSpPr/>
          <p:nvPr/>
        </p:nvSpPr>
        <p:spPr>
          <a:xfrm>
            <a:off x="548640" y="3694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78992" y="363016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Inventory Module</a:t>
            </a:r>
            <a:endParaRPr lang="en-US" sz="1350" dirty="0"/>
          </a:p>
        </p:txBody>
      </p:sp>
      <p:sp>
        <p:nvSpPr>
          <p:cNvPr id="15" name="Text 13"/>
          <p:cNvSpPr/>
          <p:nvPr/>
        </p:nvSpPr>
        <p:spPr>
          <a:xfrm>
            <a:off x="1078992" y="390448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Tracks stock and supplies.</a:t>
            </a:r>
            <a:endParaRPr lang="en-US" sz="1150" dirty="0"/>
          </a:p>
        </p:txBody>
      </p:sp>
      <p:sp>
        <p:nvSpPr>
          <p:cNvPr id="16" name="Shape 14"/>
          <p:cNvSpPr/>
          <p:nvPr/>
        </p:nvSpPr>
        <p:spPr>
          <a:xfrm>
            <a:off x="6263640" y="1591056"/>
            <a:ext cx="384048" cy="384048"/>
          </a:xfrm>
          <a:prstGeom prst="ellipse">
            <a:avLst/>
          </a:prstGeom>
          <a:solidFill>
            <a:srgbClr val="0D2C4B"/>
          </a:solidFill>
          <a:ln/>
        </p:spPr>
      </p:sp>
      <p:sp>
        <p:nvSpPr>
          <p:cNvPr id="17" name="Text 15"/>
          <p:cNvSpPr/>
          <p:nvPr/>
        </p:nvSpPr>
        <p:spPr>
          <a:xfrm>
            <a:off x="6263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6793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Sales Module</a:t>
            </a:r>
            <a:endParaRPr lang="en-US" sz="1350" dirty="0"/>
          </a:p>
        </p:txBody>
      </p:sp>
      <p:sp>
        <p:nvSpPr>
          <p:cNvPr id="19" name="Text 17"/>
          <p:cNvSpPr/>
          <p:nvPr/>
        </p:nvSpPr>
        <p:spPr>
          <a:xfrm>
            <a:off x="6793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Manages customer orders and billing.</a:t>
            </a:r>
            <a:endParaRPr lang="en-US" sz="1150" dirty="0"/>
          </a:p>
        </p:txBody>
      </p:sp>
      <p:sp>
        <p:nvSpPr>
          <p:cNvPr id="20" name="Shape 18"/>
          <p:cNvSpPr/>
          <p:nvPr/>
        </p:nvSpPr>
        <p:spPr>
          <a:xfrm>
            <a:off x="6263640" y="2642616"/>
            <a:ext cx="384048" cy="384048"/>
          </a:xfrm>
          <a:prstGeom prst="ellipse">
            <a:avLst/>
          </a:prstGeom>
          <a:solidFill>
            <a:srgbClr val="0D2C4B"/>
          </a:solidFill>
          <a:ln/>
        </p:spPr>
      </p:sp>
      <p:sp>
        <p:nvSpPr>
          <p:cNvPr id="21" name="Text 19"/>
          <p:cNvSpPr/>
          <p:nvPr/>
        </p:nvSpPr>
        <p:spPr>
          <a:xfrm>
            <a:off x="6263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p:nvPr/>
        </p:nvSpPr>
        <p:spPr>
          <a:xfrm>
            <a:off x="6793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Flexible Growth</a:t>
            </a:r>
            <a:endParaRPr lang="en-US" sz="1350" dirty="0"/>
          </a:p>
        </p:txBody>
      </p:sp>
      <p:sp>
        <p:nvSpPr>
          <p:cNvPr id="23" name="Text 21"/>
          <p:cNvSpPr/>
          <p:nvPr/>
        </p:nvSpPr>
        <p:spPr>
          <a:xfrm>
            <a:off x="6793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Companies can implement modules as needed and expand later.</a:t>
            </a:r>
            <a:endParaRPr lang="en-US" sz="1150" dirty="0"/>
          </a:p>
        </p:txBody>
      </p:sp>
      <p:sp>
        <p:nvSpPr>
          <p:cNvPr id="24"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ENTERPRISE RESOURCE PLANNING</a:t>
            </a:r>
            <a:endParaRPr lang="en-US" sz="900" dirty="0"/>
          </a:p>
        </p:txBody>
      </p:sp>
      <p:sp>
        <p:nvSpPr>
          <p:cNvPr id="25" name="Text 2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ENTERPRISE RESOURCE PLANNING</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Deployment: Cloud vs. On-Premise</a:t>
            </a:r>
            <a:endParaRPr lang="en-US" sz="2700" dirty="0"/>
          </a:p>
        </p:txBody>
      </p:sp>
      <p:sp>
        <p:nvSpPr>
          <p:cNvPr id="4" name="Shape 2"/>
          <p:cNvSpPr/>
          <p:nvPr/>
        </p:nvSpPr>
        <p:spPr>
          <a:xfrm>
            <a:off x="548640" y="1691640"/>
            <a:ext cx="3423818" cy="4434840"/>
          </a:xfrm>
          <a:prstGeom prst="roundRect">
            <a:avLst>
              <a:gd name="adj" fmla="val 2137"/>
            </a:avLst>
          </a:prstGeom>
          <a:solidFill>
            <a:srgbClr val="F2F6F9"/>
          </a:solidFill>
          <a:ln/>
        </p:spPr>
      </p:sp>
      <p:sp>
        <p:nvSpPr>
          <p:cNvPr id="5" name="Shape 3"/>
          <p:cNvSpPr/>
          <p:nvPr/>
        </p:nvSpPr>
        <p:spPr>
          <a:xfrm>
            <a:off x="548640" y="1691640"/>
            <a:ext cx="3423818" cy="502920"/>
          </a:xfrm>
          <a:prstGeom prst="roundRect">
            <a:avLst>
              <a:gd name="adj" fmla="val 14545"/>
            </a:avLst>
          </a:prstGeom>
          <a:solidFill>
            <a:srgbClr val="0D2C4B"/>
          </a:solidFill>
          <a:ln/>
        </p:spPr>
      </p:sp>
      <p:sp>
        <p:nvSpPr>
          <p:cNvPr id="6" name="Shape 4"/>
          <p:cNvSpPr/>
          <p:nvPr/>
        </p:nvSpPr>
        <p:spPr>
          <a:xfrm>
            <a:off x="548640" y="1965960"/>
            <a:ext cx="3423818" cy="228600"/>
          </a:xfrm>
          <a:prstGeom prst="rect">
            <a:avLst/>
          </a:prstGeom>
          <a:solidFill>
            <a:srgbClr val="0D2C4B"/>
          </a:solidFill>
          <a:ln/>
        </p:spPr>
      </p:sp>
      <p:sp>
        <p:nvSpPr>
          <p:cNvPr id="7" name="Text 5"/>
          <p:cNvSpPr/>
          <p:nvPr/>
        </p:nvSpPr>
        <p:spPr>
          <a:xfrm>
            <a:off x="749808" y="1691640"/>
            <a:ext cx="3021482"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On-Premise ERP</a:t>
            </a:r>
            <a:endParaRPr lang="en-US" sz="1400" dirty="0"/>
          </a:p>
        </p:txBody>
      </p:sp>
      <p:sp>
        <p:nvSpPr>
          <p:cNvPr id="8" name="Shape 6"/>
          <p:cNvSpPr/>
          <p:nvPr/>
        </p:nvSpPr>
        <p:spPr>
          <a:xfrm>
            <a:off x="768096" y="2450592"/>
            <a:ext cx="73152" cy="73152"/>
          </a:xfrm>
          <a:prstGeom prst="ellipse">
            <a:avLst/>
          </a:prstGeom>
          <a:solidFill>
            <a:srgbClr val="0D2C4B"/>
          </a:solidFill>
          <a:ln/>
        </p:spPr>
      </p:sp>
      <p:sp>
        <p:nvSpPr>
          <p:cNvPr id="9" name="Text 7"/>
          <p:cNvSpPr/>
          <p:nvPr/>
        </p:nvSpPr>
        <p:spPr>
          <a:xfrm>
            <a:off x="950976" y="2322576"/>
            <a:ext cx="280202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Installed locally on company servers</a:t>
            </a:r>
            <a:endParaRPr lang="en-US" sz="1060" dirty="0"/>
          </a:p>
        </p:txBody>
      </p:sp>
      <p:sp>
        <p:nvSpPr>
          <p:cNvPr id="10" name="Shape 8"/>
          <p:cNvSpPr/>
          <p:nvPr/>
        </p:nvSpPr>
        <p:spPr>
          <a:xfrm>
            <a:off x="768096" y="2907792"/>
            <a:ext cx="73152" cy="73152"/>
          </a:xfrm>
          <a:prstGeom prst="ellipse">
            <a:avLst/>
          </a:prstGeom>
          <a:solidFill>
            <a:srgbClr val="0D2C4B"/>
          </a:solidFill>
          <a:ln/>
        </p:spPr>
      </p:sp>
      <p:sp>
        <p:nvSpPr>
          <p:cNvPr id="11" name="Text 9"/>
          <p:cNvSpPr/>
          <p:nvPr/>
        </p:nvSpPr>
        <p:spPr>
          <a:xfrm>
            <a:off x="950976" y="2779776"/>
            <a:ext cx="280202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Full control over infrastructure</a:t>
            </a:r>
            <a:endParaRPr lang="en-US" sz="1060" dirty="0"/>
          </a:p>
        </p:txBody>
      </p:sp>
      <p:sp>
        <p:nvSpPr>
          <p:cNvPr id="12" name="Shape 10"/>
          <p:cNvSpPr/>
          <p:nvPr/>
        </p:nvSpPr>
        <p:spPr>
          <a:xfrm>
            <a:off x="768096" y="3364992"/>
            <a:ext cx="73152" cy="73152"/>
          </a:xfrm>
          <a:prstGeom prst="ellipse">
            <a:avLst/>
          </a:prstGeom>
          <a:solidFill>
            <a:srgbClr val="0D2C4B"/>
          </a:solidFill>
          <a:ln/>
        </p:spPr>
      </p:sp>
      <p:sp>
        <p:nvSpPr>
          <p:cNvPr id="13" name="Text 11"/>
          <p:cNvSpPr/>
          <p:nvPr/>
        </p:nvSpPr>
        <p:spPr>
          <a:xfrm>
            <a:off x="950976" y="3236976"/>
            <a:ext cx="280202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Higher upfront capital investment</a:t>
            </a:r>
            <a:endParaRPr lang="en-US" sz="1060" dirty="0"/>
          </a:p>
        </p:txBody>
      </p:sp>
      <p:sp>
        <p:nvSpPr>
          <p:cNvPr id="14" name="Shape 12"/>
          <p:cNvSpPr/>
          <p:nvPr/>
        </p:nvSpPr>
        <p:spPr>
          <a:xfrm>
            <a:off x="768096" y="3822192"/>
            <a:ext cx="73152" cy="73152"/>
          </a:xfrm>
          <a:prstGeom prst="ellipse">
            <a:avLst/>
          </a:prstGeom>
          <a:solidFill>
            <a:srgbClr val="0D2C4B"/>
          </a:solidFill>
          <a:ln/>
        </p:spPr>
      </p:sp>
      <p:sp>
        <p:nvSpPr>
          <p:cNvPr id="15" name="Text 13"/>
          <p:cNvSpPr/>
          <p:nvPr/>
        </p:nvSpPr>
        <p:spPr>
          <a:xfrm>
            <a:off x="950976" y="3694176"/>
            <a:ext cx="280202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Best for large enterprises with dedicated IT</a:t>
            </a:r>
            <a:endParaRPr lang="en-US" sz="1060" dirty="0"/>
          </a:p>
        </p:txBody>
      </p:sp>
      <p:sp>
        <p:nvSpPr>
          <p:cNvPr id="16" name="Shape 14"/>
          <p:cNvSpPr/>
          <p:nvPr/>
        </p:nvSpPr>
        <p:spPr>
          <a:xfrm>
            <a:off x="4383938" y="1691640"/>
            <a:ext cx="3423818" cy="4434840"/>
          </a:xfrm>
          <a:prstGeom prst="roundRect">
            <a:avLst>
              <a:gd name="adj" fmla="val 2137"/>
            </a:avLst>
          </a:prstGeom>
          <a:solidFill>
            <a:srgbClr val="F2F6F9"/>
          </a:solidFill>
          <a:ln/>
        </p:spPr>
      </p:sp>
      <p:sp>
        <p:nvSpPr>
          <p:cNvPr id="17" name="Shape 15"/>
          <p:cNvSpPr/>
          <p:nvPr/>
        </p:nvSpPr>
        <p:spPr>
          <a:xfrm>
            <a:off x="4383938" y="1691640"/>
            <a:ext cx="3423818" cy="502920"/>
          </a:xfrm>
          <a:prstGeom prst="roundRect">
            <a:avLst>
              <a:gd name="adj" fmla="val 14545"/>
            </a:avLst>
          </a:prstGeom>
          <a:solidFill>
            <a:srgbClr val="0B8A9C"/>
          </a:solidFill>
          <a:ln/>
        </p:spPr>
      </p:sp>
      <p:sp>
        <p:nvSpPr>
          <p:cNvPr id="18" name="Shape 16"/>
          <p:cNvSpPr/>
          <p:nvPr/>
        </p:nvSpPr>
        <p:spPr>
          <a:xfrm>
            <a:off x="4383938" y="1965960"/>
            <a:ext cx="3423818" cy="228600"/>
          </a:xfrm>
          <a:prstGeom prst="rect">
            <a:avLst/>
          </a:prstGeom>
          <a:solidFill>
            <a:srgbClr val="0B8A9C"/>
          </a:solidFill>
          <a:ln/>
        </p:spPr>
      </p:sp>
      <p:sp>
        <p:nvSpPr>
          <p:cNvPr id="19" name="Text 17"/>
          <p:cNvSpPr/>
          <p:nvPr/>
        </p:nvSpPr>
        <p:spPr>
          <a:xfrm>
            <a:off x="4585106" y="1691640"/>
            <a:ext cx="3021482"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Cloud ERP</a:t>
            </a:r>
            <a:endParaRPr lang="en-US" sz="1400" dirty="0"/>
          </a:p>
        </p:txBody>
      </p:sp>
      <p:sp>
        <p:nvSpPr>
          <p:cNvPr id="20" name="Shape 18"/>
          <p:cNvSpPr/>
          <p:nvPr/>
        </p:nvSpPr>
        <p:spPr>
          <a:xfrm>
            <a:off x="4603394" y="2450592"/>
            <a:ext cx="73152" cy="73152"/>
          </a:xfrm>
          <a:prstGeom prst="ellipse">
            <a:avLst/>
          </a:prstGeom>
          <a:solidFill>
            <a:srgbClr val="0B8A9C"/>
          </a:solidFill>
          <a:ln/>
        </p:spPr>
      </p:sp>
      <p:sp>
        <p:nvSpPr>
          <p:cNvPr id="21" name="Text 19"/>
          <p:cNvSpPr/>
          <p:nvPr/>
        </p:nvSpPr>
        <p:spPr>
          <a:xfrm>
            <a:off x="4786274" y="2322576"/>
            <a:ext cx="280202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Hosted online, accessed via the Internet</a:t>
            </a:r>
            <a:endParaRPr lang="en-US" sz="1060" dirty="0"/>
          </a:p>
        </p:txBody>
      </p:sp>
      <p:sp>
        <p:nvSpPr>
          <p:cNvPr id="22" name="Shape 20"/>
          <p:cNvSpPr/>
          <p:nvPr/>
        </p:nvSpPr>
        <p:spPr>
          <a:xfrm>
            <a:off x="4603394" y="2907792"/>
            <a:ext cx="73152" cy="73152"/>
          </a:xfrm>
          <a:prstGeom prst="ellipse">
            <a:avLst/>
          </a:prstGeom>
          <a:solidFill>
            <a:srgbClr val="0B8A9C"/>
          </a:solidFill>
          <a:ln/>
        </p:spPr>
      </p:sp>
      <p:sp>
        <p:nvSpPr>
          <p:cNvPr id="23" name="Text 21"/>
          <p:cNvSpPr/>
          <p:nvPr/>
        </p:nvSpPr>
        <p:spPr>
          <a:xfrm>
            <a:off x="4786274" y="2779776"/>
            <a:ext cx="280202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Lower upfront cost, subscription pricing</a:t>
            </a:r>
            <a:endParaRPr lang="en-US" sz="1060" dirty="0"/>
          </a:p>
        </p:txBody>
      </p:sp>
      <p:sp>
        <p:nvSpPr>
          <p:cNvPr id="24" name="Shape 22"/>
          <p:cNvSpPr/>
          <p:nvPr/>
        </p:nvSpPr>
        <p:spPr>
          <a:xfrm>
            <a:off x="4603394" y="3364992"/>
            <a:ext cx="73152" cy="73152"/>
          </a:xfrm>
          <a:prstGeom prst="ellipse">
            <a:avLst/>
          </a:prstGeom>
          <a:solidFill>
            <a:srgbClr val="0B8A9C"/>
          </a:solidFill>
          <a:ln/>
        </p:spPr>
      </p:sp>
      <p:sp>
        <p:nvSpPr>
          <p:cNvPr id="25" name="Text 23"/>
          <p:cNvSpPr/>
          <p:nvPr/>
        </p:nvSpPr>
        <p:spPr>
          <a:xfrm>
            <a:off x="4786274" y="3236976"/>
            <a:ext cx="280202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Faster deployment and easier scaling</a:t>
            </a:r>
            <a:endParaRPr lang="en-US" sz="1060" dirty="0"/>
          </a:p>
        </p:txBody>
      </p:sp>
      <p:sp>
        <p:nvSpPr>
          <p:cNvPr id="26" name="Shape 24"/>
          <p:cNvSpPr/>
          <p:nvPr/>
        </p:nvSpPr>
        <p:spPr>
          <a:xfrm>
            <a:off x="4603394" y="3822192"/>
            <a:ext cx="73152" cy="73152"/>
          </a:xfrm>
          <a:prstGeom prst="ellipse">
            <a:avLst/>
          </a:prstGeom>
          <a:solidFill>
            <a:srgbClr val="0B8A9C"/>
          </a:solidFill>
          <a:ln/>
        </p:spPr>
      </p:sp>
      <p:sp>
        <p:nvSpPr>
          <p:cNvPr id="27" name="Text 25"/>
          <p:cNvSpPr/>
          <p:nvPr/>
        </p:nvSpPr>
        <p:spPr>
          <a:xfrm>
            <a:off x="4786274" y="3694176"/>
            <a:ext cx="280202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Best for SMEs and scalable needs</a:t>
            </a:r>
            <a:endParaRPr lang="en-US" sz="1060" dirty="0"/>
          </a:p>
        </p:txBody>
      </p:sp>
      <p:sp>
        <p:nvSpPr>
          <p:cNvPr id="28" name="Shape 26"/>
          <p:cNvSpPr/>
          <p:nvPr/>
        </p:nvSpPr>
        <p:spPr>
          <a:xfrm>
            <a:off x="8219237" y="1691640"/>
            <a:ext cx="3423818" cy="4434840"/>
          </a:xfrm>
          <a:prstGeom prst="roundRect">
            <a:avLst>
              <a:gd name="adj" fmla="val 2137"/>
            </a:avLst>
          </a:prstGeom>
          <a:solidFill>
            <a:srgbClr val="F2F6F9"/>
          </a:solidFill>
          <a:ln/>
        </p:spPr>
      </p:sp>
      <p:sp>
        <p:nvSpPr>
          <p:cNvPr id="29" name="Shape 27"/>
          <p:cNvSpPr/>
          <p:nvPr/>
        </p:nvSpPr>
        <p:spPr>
          <a:xfrm>
            <a:off x="8219237" y="1691640"/>
            <a:ext cx="3423818" cy="502920"/>
          </a:xfrm>
          <a:prstGeom prst="roundRect">
            <a:avLst>
              <a:gd name="adj" fmla="val 14545"/>
            </a:avLst>
          </a:prstGeom>
          <a:solidFill>
            <a:srgbClr val="E8934C"/>
          </a:solidFill>
          <a:ln/>
        </p:spPr>
      </p:sp>
      <p:sp>
        <p:nvSpPr>
          <p:cNvPr id="30" name="Shape 28"/>
          <p:cNvSpPr/>
          <p:nvPr/>
        </p:nvSpPr>
        <p:spPr>
          <a:xfrm>
            <a:off x="8219237" y="1965960"/>
            <a:ext cx="3423818" cy="228600"/>
          </a:xfrm>
          <a:prstGeom prst="rect">
            <a:avLst/>
          </a:prstGeom>
          <a:solidFill>
            <a:srgbClr val="E8934C"/>
          </a:solidFill>
          <a:ln/>
        </p:spPr>
      </p:sp>
      <p:sp>
        <p:nvSpPr>
          <p:cNvPr id="31" name="Text 29"/>
          <p:cNvSpPr/>
          <p:nvPr/>
        </p:nvSpPr>
        <p:spPr>
          <a:xfrm>
            <a:off x="8420405" y="1691640"/>
            <a:ext cx="3021482"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Hybrid ERP</a:t>
            </a:r>
            <a:endParaRPr lang="en-US" sz="1400" dirty="0"/>
          </a:p>
        </p:txBody>
      </p:sp>
      <p:sp>
        <p:nvSpPr>
          <p:cNvPr id="32" name="Shape 30"/>
          <p:cNvSpPr/>
          <p:nvPr/>
        </p:nvSpPr>
        <p:spPr>
          <a:xfrm>
            <a:off x="8438693" y="2450592"/>
            <a:ext cx="73152" cy="73152"/>
          </a:xfrm>
          <a:prstGeom prst="ellipse">
            <a:avLst/>
          </a:prstGeom>
          <a:solidFill>
            <a:srgbClr val="E8934C"/>
          </a:solidFill>
          <a:ln/>
        </p:spPr>
      </p:sp>
      <p:sp>
        <p:nvSpPr>
          <p:cNvPr id="33" name="Text 31"/>
          <p:cNvSpPr/>
          <p:nvPr/>
        </p:nvSpPr>
        <p:spPr>
          <a:xfrm>
            <a:off x="8621573" y="2322576"/>
            <a:ext cx="280202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Combines cloud and on-premise components</a:t>
            </a:r>
            <a:endParaRPr lang="en-US" sz="1060" dirty="0"/>
          </a:p>
        </p:txBody>
      </p:sp>
      <p:sp>
        <p:nvSpPr>
          <p:cNvPr id="34" name="Shape 32"/>
          <p:cNvSpPr/>
          <p:nvPr/>
        </p:nvSpPr>
        <p:spPr>
          <a:xfrm>
            <a:off x="8438693" y="2907792"/>
            <a:ext cx="73152" cy="73152"/>
          </a:xfrm>
          <a:prstGeom prst="ellipse">
            <a:avLst/>
          </a:prstGeom>
          <a:solidFill>
            <a:srgbClr val="E8934C"/>
          </a:solidFill>
          <a:ln/>
        </p:spPr>
      </p:sp>
      <p:sp>
        <p:nvSpPr>
          <p:cNvPr id="35" name="Text 33"/>
          <p:cNvSpPr/>
          <p:nvPr/>
        </p:nvSpPr>
        <p:spPr>
          <a:xfrm>
            <a:off x="8621573" y="2779776"/>
            <a:ext cx="280202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Balances control with flexibility</a:t>
            </a:r>
            <a:endParaRPr lang="en-US" sz="1060" dirty="0"/>
          </a:p>
        </p:txBody>
      </p:sp>
      <p:sp>
        <p:nvSpPr>
          <p:cNvPr id="36" name="Shape 34"/>
          <p:cNvSpPr/>
          <p:nvPr/>
        </p:nvSpPr>
        <p:spPr>
          <a:xfrm>
            <a:off x="8438693" y="3364992"/>
            <a:ext cx="73152" cy="73152"/>
          </a:xfrm>
          <a:prstGeom prst="ellipse">
            <a:avLst/>
          </a:prstGeom>
          <a:solidFill>
            <a:srgbClr val="E8934C"/>
          </a:solidFill>
          <a:ln/>
        </p:spPr>
      </p:sp>
      <p:sp>
        <p:nvSpPr>
          <p:cNvPr id="37" name="Text 35"/>
          <p:cNvSpPr/>
          <p:nvPr/>
        </p:nvSpPr>
        <p:spPr>
          <a:xfrm>
            <a:off x="8621573" y="3236976"/>
            <a:ext cx="280202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Popular with growing companies</a:t>
            </a:r>
            <a:endParaRPr lang="en-US" sz="1060" dirty="0"/>
          </a:p>
        </p:txBody>
      </p:sp>
      <p:sp>
        <p:nvSpPr>
          <p:cNvPr id="38" name="Shape 36"/>
          <p:cNvSpPr/>
          <p:nvPr/>
        </p:nvSpPr>
        <p:spPr>
          <a:xfrm>
            <a:off x="8438693" y="3822192"/>
            <a:ext cx="73152" cy="73152"/>
          </a:xfrm>
          <a:prstGeom prst="ellipse">
            <a:avLst/>
          </a:prstGeom>
          <a:solidFill>
            <a:srgbClr val="E8934C"/>
          </a:solidFill>
          <a:ln/>
        </p:spPr>
      </p:sp>
      <p:sp>
        <p:nvSpPr>
          <p:cNvPr id="39" name="Text 37"/>
          <p:cNvSpPr/>
          <p:nvPr/>
        </p:nvSpPr>
        <p:spPr>
          <a:xfrm>
            <a:off x="8621573" y="3694176"/>
            <a:ext cx="280202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Eases migration from legacy systems</a:t>
            </a:r>
            <a:endParaRPr lang="en-US" sz="1060" dirty="0"/>
          </a:p>
        </p:txBody>
      </p:sp>
      <p:sp>
        <p:nvSpPr>
          <p:cNvPr id="40" name="Text 38"/>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ENTERPRISE RESOURCE PLANNING</a:t>
            </a:r>
            <a:endParaRPr lang="en-US" sz="900" dirty="0"/>
          </a:p>
        </p:txBody>
      </p:sp>
      <p:sp>
        <p:nvSpPr>
          <p:cNvPr id="41" name="Text 39"/>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ENTERPRISE RESOURCE PLANNING</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Security, Access Control &amp; Scalability</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Role-Based Access</a:t>
            </a:r>
            <a:endParaRPr lang="en-US" sz="1350" dirty="0"/>
          </a:p>
        </p:txBody>
      </p:sp>
      <p:sp>
        <p:nvSpPr>
          <p:cNvPr id="7" name="Text 5"/>
          <p:cNvSpPr/>
          <p:nvPr/>
        </p:nvSpPr>
        <p:spPr>
          <a:xfrm>
            <a:off x="1078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Users only access data relevant to their job.</a:t>
            </a:r>
            <a:endParaRPr lang="en-US" sz="1150" dirty="0"/>
          </a:p>
        </p:txBody>
      </p:sp>
      <p:sp>
        <p:nvSpPr>
          <p:cNvPr id="8" name="Shape 6"/>
          <p:cNvSpPr/>
          <p:nvPr/>
        </p:nvSpPr>
        <p:spPr>
          <a:xfrm>
            <a:off x="548640" y="2642616"/>
            <a:ext cx="384048" cy="384048"/>
          </a:xfrm>
          <a:prstGeom prst="ellipse">
            <a:avLst/>
          </a:prstGeom>
          <a:solidFill>
            <a:srgbClr val="0D2C4B"/>
          </a:solidFill>
          <a:ln/>
        </p:spPr>
      </p:sp>
      <p:sp>
        <p:nvSpPr>
          <p:cNvPr id="9" name="Text 7"/>
          <p:cNvSpPr/>
          <p:nvPr/>
        </p:nvSpPr>
        <p:spPr>
          <a:xfrm>
            <a:off x="548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Data Protection</a:t>
            </a:r>
            <a:endParaRPr lang="en-US" sz="1350" dirty="0"/>
          </a:p>
        </p:txBody>
      </p:sp>
      <p:sp>
        <p:nvSpPr>
          <p:cNvPr id="11" name="Text 9"/>
          <p:cNvSpPr/>
          <p:nvPr/>
        </p:nvSpPr>
        <p:spPr>
          <a:xfrm>
            <a:off x="1078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Encryption, backups, and user authentication protect sensitive information.</a:t>
            </a:r>
            <a:endParaRPr lang="en-US" sz="1150" dirty="0"/>
          </a:p>
        </p:txBody>
      </p:sp>
      <p:sp>
        <p:nvSpPr>
          <p:cNvPr id="12" name="Shape 10"/>
          <p:cNvSpPr/>
          <p:nvPr/>
        </p:nvSpPr>
        <p:spPr>
          <a:xfrm>
            <a:off x="6263640" y="1591056"/>
            <a:ext cx="384048" cy="384048"/>
          </a:xfrm>
          <a:prstGeom prst="ellipse">
            <a:avLst/>
          </a:prstGeom>
          <a:solidFill>
            <a:srgbClr val="0D2C4B"/>
          </a:solidFill>
          <a:ln/>
        </p:spPr>
      </p:sp>
      <p:sp>
        <p:nvSpPr>
          <p:cNvPr id="13" name="Text 11"/>
          <p:cNvSpPr/>
          <p:nvPr/>
        </p:nvSpPr>
        <p:spPr>
          <a:xfrm>
            <a:off x="6263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6793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Continuous Updates</a:t>
            </a:r>
            <a:endParaRPr lang="en-US" sz="1350" dirty="0"/>
          </a:p>
        </p:txBody>
      </p:sp>
      <p:sp>
        <p:nvSpPr>
          <p:cNvPr id="15" name="Text 13"/>
          <p:cNvSpPr/>
          <p:nvPr/>
        </p:nvSpPr>
        <p:spPr>
          <a:xfrm>
            <a:off x="6793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ERP platforms are updated regularly with new features and security enhancements.</a:t>
            </a:r>
            <a:endParaRPr lang="en-US" sz="1150" dirty="0"/>
          </a:p>
        </p:txBody>
      </p:sp>
      <p:sp>
        <p:nvSpPr>
          <p:cNvPr id="16" name="Shape 14"/>
          <p:cNvSpPr/>
          <p:nvPr/>
        </p:nvSpPr>
        <p:spPr>
          <a:xfrm>
            <a:off x="6263640" y="2642616"/>
            <a:ext cx="384048" cy="384048"/>
          </a:xfrm>
          <a:prstGeom prst="ellipse">
            <a:avLst/>
          </a:prstGeom>
          <a:solidFill>
            <a:srgbClr val="0D2C4B"/>
          </a:solidFill>
          <a:ln/>
        </p:spPr>
      </p:sp>
      <p:sp>
        <p:nvSpPr>
          <p:cNvPr id="17" name="Text 15"/>
          <p:cNvSpPr/>
          <p:nvPr/>
        </p:nvSpPr>
        <p:spPr>
          <a:xfrm>
            <a:off x="6263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6793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Built to Scale</a:t>
            </a:r>
            <a:endParaRPr lang="en-US" sz="1350" dirty="0"/>
          </a:p>
        </p:txBody>
      </p:sp>
      <p:sp>
        <p:nvSpPr>
          <p:cNvPr id="19" name="Text 17"/>
          <p:cNvSpPr/>
          <p:nvPr/>
        </p:nvSpPr>
        <p:spPr>
          <a:xfrm>
            <a:off x="6793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Systems scale as the business grows — adding users, departments, or modules easily.</a:t>
            </a:r>
            <a:endParaRPr lang="en-US" sz="1150" dirty="0"/>
          </a:p>
        </p:txBody>
      </p:sp>
      <p:sp>
        <p:nvSpPr>
          <p:cNvPr id="20" name="Text 18"/>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ENTERPRISE RESOURCE PLANNING</a:t>
            </a:r>
            <a:endParaRPr lang="en-US" sz="900" dirty="0"/>
          </a:p>
        </p:txBody>
      </p:sp>
      <p:sp>
        <p:nvSpPr>
          <p:cNvPr id="21" name="Text 19"/>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ENTERPRISE RESOURCE PLANNING</a:t>
            </a:r>
            <a:endParaRPr lang="en-US" sz="1150" dirty="0"/>
          </a:p>
        </p:txBody>
      </p:sp>
      <p:sp>
        <p:nvSpPr>
          <p:cNvPr id="3" name="Text 1"/>
          <p:cNvSpPr/>
          <p:nvPr/>
        </p:nvSpPr>
        <p:spPr>
          <a:xfrm>
            <a:off x="548640" y="868680"/>
            <a:ext cx="10607040" cy="548640"/>
          </a:xfrm>
          <a:prstGeom prst="rect">
            <a:avLst/>
          </a:prstGeom>
          <a:noFill/>
          <a:ln/>
        </p:spPr>
        <p:txBody>
          <a:bodyPr wrap="square" lIns="0" tIns="0" rIns="0" bIns="0" rtlCol="0" anchor="ctr"/>
          <a:lstStyle/>
          <a:p>
            <a:pPr indent="0" marL="0">
              <a:buNone/>
            </a:pPr>
            <a:r>
              <a:rPr lang="en-US" sz="2500" b="1" dirty="0">
                <a:solidFill>
                  <a:srgbClr val="0D2C4B"/>
                </a:solidFill>
                <a:latin typeface="Cambria" pitchFamily="34" charset="0"/>
                <a:ea typeface="Cambria" pitchFamily="34" charset="-122"/>
                <a:cs typeface="Cambria" pitchFamily="34" charset="-120"/>
              </a:rPr>
              <a:t>Types of ERP Systems</a:t>
            </a:r>
            <a:endParaRPr lang="en-US" sz="25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3566160"/>
        </p:xfrm>
        <a:graphic>
          <a:graphicData uri="http://schemas.openxmlformats.org/drawingml/2006/table">
            <a:tbl>
              <a:tblPr/>
              <a:tblGrid>
                <a:gridCol w="3108960"/>
                <a:gridCol w="3657600"/>
                <a:gridCol w="4297680"/>
              </a:tblGrid>
              <a:tr h="44577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Type of ERP</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Deployment</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Best For</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r>
              <a:tr h="44577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On-Premise</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Local servers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Large enterprises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r h="44577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Cloud</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Online / cloud</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SMEs, scalable needs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r>
              <a:tr h="44577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Hybrid</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Mix of cloud + on-premise</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Growing companies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r h="44577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Vertical ERP</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Industry-specific</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Manufacturing, healthcare, retail</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r>
              <a:tr h="44577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Horizontal ERP</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General-purpose</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Most mid &amp; large businesses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r h="44577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Open-Source ERP</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Customizable code</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Startups, tech teams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r>
              <a:tr h="44577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Small Business ERP</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Lightweight versions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Small businesses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ENTERPRISE RESOURCE PLANNING</a:t>
            </a:r>
            <a:endParaRPr lang="en-US" sz="900" dirty="0"/>
          </a:p>
        </p:txBody>
      </p:sp>
      <p:sp>
        <p:nvSpPr>
          <p:cNvPr id="6" name="Text 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ENTERPRISE RESOURCE PLANNING</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Benefits of ERP I</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Productivity &amp; Efficiency</a:t>
            </a:r>
            <a:endParaRPr lang="en-US" sz="1350" dirty="0"/>
          </a:p>
        </p:txBody>
      </p:sp>
      <p:sp>
        <p:nvSpPr>
          <p:cNvPr id="7" name="Text 5"/>
          <p:cNvSpPr/>
          <p:nvPr/>
        </p:nvSpPr>
        <p:spPr>
          <a:xfrm>
            <a:off x="1078992" y="1801368"/>
            <a:ext cx="470916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Automating routine tasks reduces manual data entry and errors, speeding up operations.</a:t>
            </a:r>
            <a:endParaRPr lang="en-US" sz="1150" dirty="0"/>
          </a:p>
        </p:txBody>
      </p:sp>
      <p:sp>
        <p:nvSpPr>
          <p:cNvPr id="8" name="Shape 6"/>
          <p:cNvSpPr/>
          <p:nvPr/>
        </p:nvSpPr>
        <p:spPr>
          <a:xfrm>
            <a:off x="548640" y="2551176"/>
            <a:ext cx="384048" cy="384048"/>
          </a:xfrm>
          <a:prstGeom prst="ellipse">
            <a:avLst/>
          </a:prstGeom>
          <a:solidFill>
            <a:srgbClr val="0D2C4B"/>
          </a:solidFill>
          <a:ln/>
        </p:spPr>
      </p:sp>
      <p:sp>
        <p:nvSpPr>
          <p:cNvPr id="9" name="Text 7"/>
          <p:cNvSpPr/>
          <p:nvPr/>
        </p:nvSpPr>
        <p:spPr>
          <a:xfrm>
            <a:off x="548640" y="2551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48716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Cost Savings</a:t>
            </a:r>
            <a:endParaRPr lang="en-US" sz="1350" dirty="0"/>
          </a:p>
        </p:txBody>
      </p:sp>
      <p:sp>
        <p:nvSpPr>
          <p:cNvPr id="11" name="Text 9"/>
          <p:cNvSpPr/>
          <p:nvPr/>
        </p:nvSpPr>
        <p:spPr>
          <a:xfrm>
            <a:off x="1078992" y="2761488"/>
            <a:ext cx="470916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Streamlined processes and optimized inventory lower operational and inventory costs.</a:t>
            </a:r>
            <a:endParaRPr lang="en-US" sz="1150" dirty="0"/>
          </a:p>
        </p:txBody>
      </p:sp>
      <p:sp>
        <p:nvSpPr>
          <p:cNvPr id="12" name="Shape 10"/>
          <p:cNvSpPr/>
          <p:nvPr/>
        </p:nvSpPr>
        <p:spPr>
          <a:xfrm>
            <a:off x="548640" y="3511296"/>
            <a:ext cx="384048" cy="384048"/>
          </a:xfrm>
          <a:prstGeom prst="ellipse">
            <a:avLst/>
          </a:prstGeom>
          <a:solidFill>
            <a:srgbClr val="0D2C4B"/>
          </a:solidFill>
          <a:ln/>
        </p:spPr>
      </p:sp>
      <p:sp>
        <p:nvSpPr>
          <p:cNvPr id="13" name="Text 11"/>
          <p:cNvSpPr/>
          <p:nvPr/>
        </p:nvSpPr>
        <p:spPr>
          <a:xfrm>
            <a:off x="548640" y="35112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78992" y="344728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Financial Management</a:t>
            </a:r>
            <a:endParaRPr lang="en-US" sz="1350" dirty="0"/>
          </a:p>
        </p:txBody>
      </p:sp>
      <p:sp>
        <p:nvSpPr>
          <p:cNvPr id="15" name="Text 13"/>
          <p:cNvSpPr/>
          <p:nvPr/>
        </p:nvSpPr>
        <p:spPr>
          <a:xfrm>
            <a:off x="1078992" y="3721608"/>
            <a:ext cx="470916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Simplifies reporting, accelerates financial close, and improves cash flow projections.</a:t>
            </a:r>
            <a:endParaRPr lang="en-US" sz="1150" dirty="0"/>
          </a:p>
        </p:txBody>
      </p:sp>
      <p:sp>
        <p:nvSpPr>
          <p:cNvPr id="16" name="Shape 14"/>
          <p:cNvSpPr/>
          <p:nvPr/>
        </p:nvSpPr>
        <p:spPr>
          <a:xfrm>
            <a:off x="6263640" y="1591056"/>
            <a:ext cx="384048" cy="384048"/>
          </a:xfrm>
          <a:prstGeom prst="ellipse">
            <a:avLst/>
          </a:prstGeom>
          <a:solidFill>
            <a:srgbClr val="0D2C4B"/>
          </a:solidFill>
          <a:ln/>
        </p:spPr>
      </p:sp>
      <p:sp>
        <p:nvSpPr>
          <p:cNvPr id="17" name="Text 15"/>
          <p:cNvSpPr/>
          <p:nvPr/>
        </p:nvSpPr>
        <p:spPr>
          <a:xfrm>
            <a:off x="6263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6793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Real-Time Analytics</a:t>
            </a:r>
            <a:endParaRPr lang="en-US" sz="1350" dirty="0"/>
          </a:p>
        </p:txBody>
      </p:sp>
      <p:sp>
        <p:nvSpPr>
          <p:cNvPr id="19" name="Text 17"/>
          <p:cNvSpPr/>
          <p:nvPr/>
        </p:nvSpPr>
        <p:spPr>
          <a:xfrm>
            <a:off x="6793992" y="1801368"/>
            <a:ext cx="470916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A single source of truth provides real-time visibility into performance.</a:t>
            </a:r>
            <a:endParaRPr lang="en-US" sz="1150" dirty="0"/>
          </a:p>
        </p:txBody>
      </p:sp>
      <p:sp>
        <p:nvSpPr>
          <p:cNvPr id="20" name="Shape 18"/>
          <p:cNvSpPr/>
          <p:nvPr/>
        </p:nvSpPr>
        <p:spPr>
          <a:xfrm>
            <a:off x="6263640" y="2551176"/>
            <a:ext cx="384048" cy="384048"/>
          </a:xfrm>
          <a:prstGeom prst="ellipse">
            <a:avLst/>
          </a:prstGeom>
          <a:solidFill>
            <a:srgbClr val="0D2C4B"/>
          </a:solidFill>
          <a:ln/>
        </p:spPr>
      </p:sp>
      <p:sp>
        <p:nvSpPr>
          <p:cNvPr id="21" name="Text 19"/>
          <p:cNvSpPr/>
          <p:nvPr/>
        </p:nvSpPr>
        <p:spPr>
          <a:xfrm>
            <a:off x="6263640" y="2551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p:nvPr/>
        </p:nvSpPr>
        <p:spPr>
          <a:xfrm>
            <a:off x="6793992" y="248716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Inventory Management</a:t>
            </a:r>
            <a:endParaRPr lang="en-US" sz="1350" dirty="0"/>
          </a:p>
        </p:txBody>
      </p:sp>
      <p:sp>
        <p:nvSpPr>
          <p:cNvPr id="23" name="Text 21"/>
          <p:cNvSpPr/>
          <p:nvPr/>
        </p:nvSpPr>
        <p:spPr>
          <a:xfrm>
            <a:off x="6793992" y="2761488"/>
            <a:ext cx="470916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Automation reduces handling costs and optimizes cash flow.</a:t>
            </a:r>
            <a:endParaRPr lang="en-US" sz="1150" dirty="0"/>
          </a:p>
        </p:txBody>
      </p:sp>
      <p:sp>
        <p:nvSpPr>
          <p:cNvPr id="24"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ENTERPRISE RESOURCE PLANNING</a:t>
            </a:r>
            <a:endParaRPr lang="en-US" sz="900" dirty="0"/>
          </a:p>
        </p:txBody>
      </p:sp>
      <p:sp>
        <p:nvSpPr>
          <p:cNvPr id="25" name="Text 2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ENTERPRISE RESOURCE PLANNING</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Benefits of ERP II</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Collaboration</a:t>
            </a:r>
            <a:endParaRPr lang="en-US" sz="1350" dirty="0"/>
          </a:p>
        </p:txBody>
      </p:sp>
      <p:sp>
        <p:nvSpPr>
          <p:cNvPr id="7" name="Text 5"/>
          <p:cNvSpPr/>
          <p:nvPr/>
        </p:nvSpPr>
        <p:spPr>
          <a:xfrm>
            <a:off x="1078992" y="1801368"/>
            <a:ext cx="4709160" cy="566928"/>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Centralized data lets departments share information easily.</a:t>
            </a:r>
            <a:endParaRPr lang="en-US" sz="1150" dirty="0"/>
          </a:p>
        </p:txBody>
      </p:sp>
      <p:sp>
        <p:nvSpPr>
          <p:cNvPr id="8" name="Shape 6"/>
          <p:cNvSpPr/>
          <p:nvPr/>
        </p:nvSpPr>
        <p:spPr>
          <a:xfrm>
            <a:off x="548640" y="2432304"/>
            <a:ext cx="384048" cy="384048"/>
          </a:xfrm>
          <a:prstGeom prst="ellipse">
            <a:avLst/>
          </a:prstGeom>
          <a:solidFill>
            <a:srgbClr val="0D2C4B"/>
          </a:solidFill>
          <a:ln/>
        </p:spPr>
      </p:sp>
      <p:sp>
        <p:nvSpPr>
          <p:cNvPr id="9" name="Text 7"/>
          <p:cNvSpPr/>
          <p:nvPr/>
        </p:nvSpPr>
        <p:spPr>
          <a:xfrm>
            <a:off x="548640" y="24323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368296"/>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Customer Service</a:t>
            </a:r>
            <a:endParaRPr lang="en-US" sz="1350" dirty="0"/>
          </a:p>
        </p:txBody>
      </p:sp>
      <p:sp>
        <p:nvSpPr>
          <p:cNvPr id="11" name="Text 9"/>
          <p:cNvSpPr/>
          <p:nvPr/>
        </p:nvSpPr>
        <p:spPr>
          <a:xfrm>
            <a:off x="1078992" y="2642616"/>
            <a:ext cx="4709160" cy="566928"/>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Better access to customer information speeds up response times.</a:t>
            </a:r>
            <a:endParaRPr lang="en-US" sz="1150" dirty="0"/>
          </a:p>
        </p:txBody>
      </p:sp>
      <p:sp>
        <p:nvSpPr>
          <p:cNvPr id="12" name="Shape 10"/>
          <p:cNvSpPr/>
          <p:nvPr/>
        </p:nvSpPr>
        <p:spPr>
          <a:xfrm>
            <a:off x="548640" y="3273552"/>
            <a:ext cx="384048" cy="384048"/>
          </a:xfrm>
          <a:prstGeom prst="ellipse">
            <a:avLst/>
          </a:prstGeom>
          <a:solidFill>
            <a:srgbClr val="0D2C4B"/>
          </a:solidFill>
          <a:ln/>
        </p:spPr>
      </p:sp>
      <p:sp>
        <p:nvSpPr>
          <p:cNvPr id="13" name="Text 11"/>
          <p:cNvSpPr/>
          <p:nvPr/>
        </p:nvSpPr>
        <p:spPr>
          <a:xfrm>
            <a:off x="548640" y="32735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78992" y="3209544"/>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Agility</a:t>
            </a:r>
            <a:endParaRPr lang="en-US" sz="1350" dirty="0"/>
          </a:p>
        </p:txBody>
      </p:sp>
      <p:sp>
        <p:nvSpPr>
          <p:cNvPr id="15" name="Text 13"/>
          <p:cNvSpPr/>
          <p:nvPr/>
        </p:nvSpPr>
        <p:spPr>
          <a:xfrm>
            <a:off x="1078992" y="3483864"/>
            <a:ext cx="4709160" cy="566928"/>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Real-time data lets businesses react faster to opportunities and change.</a:t>
            </a:r>
            <a:endParaRPr lang="en-US" sz="1150" dirty="0"/>
          </a:p>
        </p:txBody>
      </p:sp>
      <p:sp>
        <p:nvSpPr>
          <p:cNvPr id="16" name="Shape 14"/>
          <p:cNvSpPr/>
          <p:nvPr/>
        </p:nvSpPr>
        <p:spPr>
          <a:xfrm>
            <a:off x="6263640" y="1591056"/>
            <a:ext cx="384048" cy="384048"/>
          </a:xfrm>
          <a:prstGeom prst="ellipse">
            <a:avLst/>
          </a:prstGeom>
          <a:solidFill>
            <a:srgbClr val="0D2C4B"/>
          </a:solidFill>
          <a:ln/>
        </p:spPr>
      </p:sp>
      <p:sp>
        <p:nvSpPr>
          <p:cNvPr id="17" name="Text 15"/>
          <p:cNvSpPr/>
          <p:nvPr/>
        </p:nvSpPr>
        <p:spPr>
          <a:xfrm>
            <a:off x="6263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6793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Scalability</a:t>
            </a:r>
            <a:endParaRPr lang="en-US" sz="1350" dirty="0"/>
          </a:p>
        </p:txBody>
      </p:sp>
      <p:sp>
        <p:nvSpPr>
          <p:cNvPr id="19" name="Text 17"/>
          <p:cNvSpPr/>
          <p:nvPr/>
        </p:nvSpPr>
        <p:spPr>
          <a:xfrm>
            <a:off x="6793992" y="1801368"/>
            <a:ext cx="4709160" cy="566928"/>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Systems grow with the business without disrupting operations.</a:t>
            </a:r>
            <a:endParaRPr lang="en-US" sz="1150" dirty="0"/>
          </a:p>
        </p:txBody>
      </p:sp>
      <p:sp>
        <p:nvSpPr>
          <p:cNvPr id="20" name="Shape 18"/>
          <p:cNvSpPr/>
          <p:nvPr/>
        </p:nvSpPr>
        <p:spPr>
          <a:xfrm>
            <a:off x="6263640" y="2432304"/>
            <a:ext cx="384048" cy="384048"/>
          </a:xfrm>
          <a:prstGeom prst="ellipse">
            <a:avLst/>
          </a:prstGeom>
          <a:solidFill>
            <a:srgbClr val="0D2C4B"/>
          </a:solidFill>
          <a:ln/>
        </p:spPr>
      </p:sp>
      <p:sp>
        <p:nvSpPr>
          <p:cNvPr id="21" name="Text 19"/>
          <p:cNvSpPr/>
          <p:nvPr/>
        </p:nvSpPr>
        <p:spPr>
          <a:xfrm>
            <a:off x="6263640" y="24323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p:nvPr/>
        </p:nvSpPr>
        <p:spPr>
          <a:xfrm>
            <a:off x="6793992" y="2368296"/>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Compliance</a:t>
            </a:r>
            <a:endParaRPr lang="en-US" sz="1350" dirty="0"/>
          </a:p>
        </p:txBody>
      </p:sp>
      <p:sp>
        <p:nvSpPr>
          <p:cNvPr id="23" name="Text 21"/>
          <p:cNvSpPr/>
          <p:nvPr/>
        </p:nvSpPr>
        <p:spPr>
          <a:xfrm>
            <a:off x="6793992" y="2642616"/>
            <a:ext cx="4709160" cy="566928"/>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Automated controls and audit trails support regulatory requirements.</a:t>
            </a:r>
            <a:endParaRPr lang="en-US" sz="1150" dirty="0"/>
          </a:p>
        </p:txBody>
      </p:sp>
      <p:sp>
        <p:nvSpPr>
          <p:cNvPr id="24" name="Shape 22"/>
          <p:cNvSpPr/>
          <p:nvPr/>
        </p:nvSpPr>
        <p:spPr>
          <a:xfrm>
            <a:off x="6263640" y="3273552"/>
            <a:ext cx="384048" cy="384048"/>
          </a:xfrm>
          <a:prstGeom prst="ellipse">
            <a:avLst/>
          </a:prstGeom>
          <a:solidFill>
            <a:srgbClr val="0D2C4B"/>
          </a:solidFill>
          <a:ln/>
        </p:spPr>
      </p:sp>
      <p:sp>
        <p:nvSpPr>
          <p:cNvPr id="25" name="Text 23"/>
          <p:cNvSpPr/>
          <p:nvPr/>
        </p:nvSpPr>
        <p:spPr>
          <a:xfrm>
            <a:off x="6263640" y="32735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4"/>
          <p:cNvSpPr/>
          <p:nvPr/>
        </p:nvSpPr>
        <p:spPr>
          <a:xfrm>
            <a:off x="6793992" y="3209544"/>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Data Security</a:t>
            </a:r>
            <a:endParaRPr lang="en-US" sz="1350" dirty="0"/>
          </a:p>
        </p:txBody>
      </p:sp>
      <p:sp>
        <p:nvSpPr>
          <p:cNvPr id="27" name="Text 25"/>
          <p:cNvSpPr/>
          <p:nvPr/>
        </p:nvSpPr>
        <p:spPr>
          <a:xfrm>
            <a:off x="6793992" y="3483864"/>
            <a:ext cx="4709160" cy="566928"/>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Role-based access and encryption protect sensitive business information.</a:t>
            </a:r>
            <a:endParaRPr lang="en-US" sz="1150" dirty="0"/>
          </a:p>
        </p:txBody>
      </p:sp>
      <p:sp>
        <p:nvSpPr>
          <p:cNvPr id="28" name="Text 26"/>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ENTERPRISE RESOURCE PLANNING</a:t>
            </a:r>
            <a:endParaRPr lang="en-US" sz="900" dirty="0"/>
          </a:p>
        </p:txBody>
      </p:sp>
      <p:sp>
        <p:nvSpPr>
          <p:cNvPr id="29" name="Text 27"/>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ENTERPRISE RESOURCE PLANNING</a:t>
            </a:r>
            <a:endParaRPr lang="en-US" sz="1150" dirty="0"/>
          </a:p>
        </p:txBody>
      </p:sp>
      <p:sp>
        <p:nvSpPr>
          <p:cNvPr id="3" name="Text 1"/>
          <p:cNvSpPr/>
          <p:nvPr/>
        </p:nvSpPr>
        <p:spPr>
          <a:xfrm>
            <a:off x="548640" y="868680"/>
            <a:ext cx="10607040" cy="548640"/>
          </a:xfrm>
          <a:prstGeom prst="rect">
            <a:avLst/>
          </a:prstGeom>
          <a:noFill/>
          <a:ln/>
        </p:spPr>
        <p:txBody>
          <a:bodyPr wrap="square" lIns="0" tIns="0" rIns="0" bIns="0" rtlCol="0" anchor="ctr"/>
          <a:lstStyle/>
          <a:p>
            <a:pPr indent="0" marL="0">
              <a:buNone/>
            </a:pPr>
            <a:r>
              <a:rPr lang="en-US" sz="2500" b="1" dirty="0">
                <a:solidFill>
                  <a:srgbClr val="0D2C4B"/>
                </a:solidFill>
                <a:latin typeface="Cambria" pitchFamily="34" charset="0"/>
                <a:ea typeface="Cambria" pitchFamily="34" charset="-122"/>
                <a:cs typeface="Cambria" pitchFamily="34" charset="-120"/>
              </a:rPr>
              <a:t>ERP vs. CRM — Purpose &amp; Functions</a:t>
            </a:r>
            <a:endParaRPr lang="en-US" sz="25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3108960"/>
        </p:xfrm>
        <a:graphic>
          <a:graphicData uri="http://schemas.openxmlformats.org/drawingml/2006/table">
            <a:tbl>
              <a:tblPr/>
              <a:tblGrid>
                <a:gridCol w="2194560"/>
                <a:gridCol w="4572000"/>
                <a:gridCol w="4297680"/>
              </a:tblGrid>
              <a:tr h="77724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Aspect</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ERP</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CRM</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r>
              <a:tr h="77724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Purpose</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Manages internal processes — finance, HR, inventory, supply chain, production.</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Manages customer-related activities — sales, service, marketing.</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r h="77724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Key Functions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Accounting, Inventory, HR &amp; Payroll, Procurement, Supply Chain, Manufacturing</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Lead Management, Sales Tracking, Customer Support, Marketing Campaigns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r>
              <a:tr h="77724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Data Handled</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Internal data (suppliers, employees, inventory, costs).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Customer data (leads, buying behavior, communication history).</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ENTERPRISE RESOURCE PLANNING</a:t>
            </a:r>
            <a:endParaRPr lang="en-US" sz="900" dirty="0"/>
          </a:p>
        </p:txBody>
      </p:sp>
      <p:sp>
        <p:nvSpPr>
          <p:cNvPr id="6" name="Text 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ENTERPRISE RESOURCE PLANNING</a:t>
            </a:r>
            <a:endParaRPr lang="en-US" sz="1150" dirty="0"/>
          </a:p>
        </p:txBody>
      </p:sp>
      <p:sp>
        <p:nvSpPr>
          <p:cNvPr id="3" name="Text 1"/>
          <p:cNvSpPr/>
          <p:nvPr/>
        </p:nvSpPr>
        <p:spPr>
          <a:xfrm>
            <a:off x="548640" y="868680"/>
            <a:ext cx="10607040" cy="548640"/>
          </a:xfrm>
          <a:prstGeom prst="rect">
            <a:avLst/>
          </a:prstGeom>
          <a:noFill/>
          <a:ln/>
        </p:spPr>
        <p:txBody>
          <a:bodyPr wrap="square" lIns="0" tIns="0" rIns="0" bIns="0" rtlCol="0" anchor="ctr"/>
          <a:lstStyle/>
          <a:p>
            <a:pPr indent="0" marL="0">
              <a:buNone/>
            </a:pPr>
            <a:r>
              <a:rPr lang="en-US" sz="2500" b="1" dirty="0">
                <a:solidFill>
                  <a:srgbClr val="0D2C4B"/>
                </a:solidFill>
                <a:latin typeface="Cambria" pitchFamily="34" charset="0"/>
                <a:ea typeface="Cambria" pitchFamily="34" charset="-122"/>
                <a:cs typeface="Cambria" pitchFamily="34" charset="-120"/>
              </a:rPr>
              <a:t>ERP vs. CRM — Goals &amp; Users</a:t>
            </a:r>
            <a:endParaRPr lang="en-US" sz="25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2011680"/>
        </p:xfrm>
        <a:graphic>
          <a:graphicData uri="http://schemas.openxmlformats.org/drawingml/2006/table">
            <a:tbl>
              <a:tblPr/>
              <a:tblGrid>
                <a:gridCol w="2194560"/>
                <a:gridCol w="4572000"/>
                <a:gridCol w="4297680"/>
              </a:tblGrid>
              <a:tr h="6705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Aspect</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ERP</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CRM</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r>
              <a:tr h="67056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Goal</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Improve efficiency, reduce costs, and streamline operations.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Improve customer satisfaction, increase sales, and build relationships.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r h="67056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Primary Users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Finance, HR, operations, logistics, manufacturing teams.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Sales, marketing, and customer support teams.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r>
            </a:tbl>
          </a:graphicData>
        </a:graphic>
      </p:graphicFrame>
      <p:sp>
        <p:nvSpPr>
          <p:cNvPr id="5" name="Text 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ENTERPRISE RESOURCE PLANNING</a:t>
            </a:r>
            <a:endParaRPr lang="en-US" sz="900" dirty="0"/>
          </a:p>
        </p:txBody>
      </p:sp>
      <p:sp>
        <p:nvSpPr>
          <p:cNvPr id="6" name="Text 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81826"/>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63A5C">
              <a:alpha val="65000"/>
            </a:srgbClr>
          </a:solidFill>
          <a:ln/>
        </p:spPr>
      </p:sp>
      <p:sp>
        <p:nvSpPr>
          <p:cNvPr id="3" name="Shape 1"/>
          <p:cNvSpPr/>
          <p:nvPr/>
        </p:nvSpPr>
        <p:spPr>
          <a:xfrm>
            <a:off x="-1280160" y="4937760"/>
            <a:ext cx="3291840" cy="3291840"/>
          </a:xfrm>
          <a:prstGeom prst="ellipse">
            <a:avLst/>
          </a:prstGeom>
          <a:solidFill>
            <a:srgbClr val="12B5CB">
              <a:alpha val="18000"/>
            </a:srgbClr>
          </a:solidFill>
          <a:ln/>
        </p:spPr>
      </p:sp>
      <p:sp>
        <p:nvSpPr>
          <p:cNvPr id="4" name="Text 2"/>
          <p:cNvSpPr/>
          <p:nvPr/>
        </p:nvSpPr>
        <p:spPr>
          <a:xfrm>
            <a:off x="548640" y="1965960"/>
            <a:ext cx="3657600" cy="1463040"/>
          </a:xfrm>
          <a:prstGeom prst="rect">
            <a:avLst/>
          </a:prstGeom>
          <a:noFill/>
          <a:ln/>
        </p:spPr>
        <p:txBody>
          <a:bodyPr wrap="square" lIns="0" tIns="0" rIns="0" bIns="0" rtlCol="0" anchor="ctr"/>
          <a:lstStyle/>
          <a:p>
            <a:pPr indent="0" marL="0">
              <a:buNone/>
            </a:pPr>
            <a:r>
              <a:rPr lang="en-US" sz="9000" b="1" dirty="0">
                <a:solidFill>
                  <a:srgbClr val="12B5CB"/>
                </a:solidFill>
                <a:latin typeface="Cambria" pitchFamily="34" charset="0"/>
                <a:ea typeface="Cambria" pitchFamily="34" charset="-122"/>
                <a:cs typeface="Cambria" pitchFamily="34" charset="-120"/>
              </a:rPr>
              <a:t>04</a:t>
            </a:r>
            <a:endParaRPr lang="en-US" sz="9000" dirty="0"/>
          </a:p>
        </p:txBody>
      </p:sp>
      <p:sp>
        <p:nvSpPr>
          <p:cNvPr id="5" name="Text 3"/>
          <p:cNvSpPr/>
          <p:nvPr/>
        </p:nvSpPr>
        <p:spPr>
          <a:xfrm>
            <a:off x="548640" y="3429000"/>
            <a:ext cx="9601200" cy="1188720"/>
          </a:xfrm>
          <a:prstGeom prst="rect">
            <a:avLst/>
          </a:prstGeom>
          <a:noFill/>
          <a:ln/>
        </p:spPr>
        <p:txBody>
          <a:bodyPr wrap="square" lIns="0" tIns="0" rIns="0" bIns="0"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Business &amp; IT Strategy Alignment</a:t>
            </a:r>
            <a:endParaRPr lang="en-US" sz="3400" dirty="0"/>
          </a:p>
        </p:txBody>
      </p:sp>
      <p:sp>
        <p:nvSpPr>
          <p:cNvPr id="6" name="Text 4"/>
          <p:cNvSpPr/>
          <p:nvPr/>
        </p:nvSpPr>
        <p:spPr>
          <a:xfrm>
            <a:off x="548640" y="4526280"/>
            <a:ext cx="8412480" cy="731520"/>
          </a:xfrm>
          <a:prstGeom prst="rect">
            <a:avLst/>
          </a:prstGeom>
          <a:noFill/>
          <a:ln/>
        </p:spPr>
        <p:txBody>
          <a:bodyPr wrap="square" lIns="0" tIns="0" rIns="0" bIns="0" rtlCol="0" anchor="ctr"/>
          <a:lstStyle/>
          <a:p>
            <a:pPr indent="0" marL="0">
              <a:lnSpc>
                <a:spcPts val="1900"/>
              </a:lnSpc>
              <a:buNone/>
            </a:pPr>
            <a:r>
              <a:rPr lang="en-US" sz="1400" dirty="0">
                <a:solidFill>
                  <a:srgbClr val="9FB6C9"/>
                </a:solidFill>
                <a:latin typeface="Calibri" pitchFamily="34" charset="0"/>
                <a:ea typeface="Calibri" pitchFamily="34" charset="-122"/>
                <a:cs typeface="Calibri" pitchFamily="34" charset="-120"/>
              </a:rPr>
              <a:t>Why business goals and technology plans must move together.</a:t>
            </a:r>
            <a:endParaRPr lang="en-US" sz="1400" dirty="0"/>
          </a:p>
        </p:txBody>
      </p:sp>
      <p:sp>
        <p:nvSpPr>
          <p:cNvPr id="7" name="Text 5"/>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9FB6C9"/>
                </a:solidFill>
                <a:latin typeface="Calibri" pitchFamily="34" charset="0"/>
                <a:ea typeface="Calibri" pitchFamily="34" charset="-122"/>
                <a:cs typeface="Calibri" pitchFamily="34" charset="-120"/>
              </a:rPr>
              <a:t>BUSINESS &amp; IT STRATEGY ALIGNMENT</a:t>
            </a:r>
            <a:endParaRPr lang="en-US" sz="900" dirty="0"/>
          </a:p>
        </p:txBody>
      </p:sp>
      <p:sp>
        <p:nvSpPr>
          <p:cNvPr id="8" name="Text 6"/>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9FB6C9"/>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18320" y="-914400"/>
            <a:ext cx="3840480" cy="3840480"/>
          </a:xfrm>
          <a:prstGeom prst="ellipse">
            <a:avLst/>
          </a:prstGeom>
          <a:solidFill>
            <a:srgbClr val="F2F6F9"/>
          </a:solidFill>
          <a:ln/>
        </p:spPr>
      </p:sp>
      <p:sp>
        <p:nvSpPr>
          <p:cNvPr id="3" name="Shape 1"/>
          <p:cNvSpPr/>
          <p:nvPr/>
        </p:nvSpPr>
        <p:spPr>
          <a:xfrm>
            <a:off x="10424160" y="91440"/>
            <a:ext cx="1828800" cy="1828800"/>
          </a:xfrm>
          <a:prstGeom prst="ellipse">
            <a:avLst/>
          </a:prstGeom>
          <a:solidFill>
            <a:srgbClr val="12B5CB">
              <a:alpha val="15000"/>
            </a:srgbClr>
          </a:solidFill>
          <a:ln/>
        </p:spPr>
      </p:sp>
      <p:sp>
        <p:nvSpPr>
          <p:cNvPr id="4" name="Text 2"/>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BUSINESS &amp; IT STRATEGY</a:t>
            </a:r>
            <a:endParaRPr lang="en-US" sz="1150" dirty="0"/>
          </a:p>
        </p:txBody>
      </p:sp>
      <p:sp>
        <p:nvSpPr>
          <p:cNvPr id="5" name="Text 3"/>
          <p:cNvSpPr/>
          <p:nvPr/>
        </p:nvSpPr>
        <p:spPr>
          <a:xfrm>
            <a:off x="548640" y="960120"/>
            <a:ext cx="9692640" cy="1005840"/>
          </a:xfrm>
          <a:prstGeom prst="rect">
            <a:avLst/>
          </a:prstGeom>
          <a:noFill/>
          <a:ln/>
        </p:spPr>
        <p:txBody>
          <a:bodyPr wrap="square" lIns="0" tIns="0" rIns="0" bIns="0" rtlCol="0" anchor="ctr"/>
          <a:lstStyle/>
          <a:p>
            <a:pPr indent="0" marL="0">
              <a:lnSpc>
                <a:spcPts val="3400"/>
              </a:lnSpc>
              <a:buNone/>
            </a:pPr>
            <a:r>
              <a:rPr lang="en-US" sz="3000" b="1" dirty="0">
                <a:solidFill>
                  <a:srgbClr val="0D2C4B"/>
                </a:solidFill>
                <a:latin typeface="Cambria" pitchFamily="34" charset="0"/>
                <a:ea typeface="Cambria" pitchFamily="34" charset="-122"/>
                <a:cs typeface="Cambria" pitchFamily="34" charset="-120"/>
              </a:rPr>
              <a:t>Business Strategy, IT Strategy &amp; Alignment</a:t>
            </a:r>
            <a:endParaRPr lang="en-US" sz="3000" dirty="0"/>
          </a:p>
        </p:txBody>
      </p:sp>
      <p:sp>
        <p:nvSpPr>
          <p:cNvPr id="6" name="Text 4"/>
          <p:cNvSpPr/>
          <p:nvPr/>
        </p:nvSpPr>
        <p:spPr>
          <a:xfrm>
            <a:off x="548640" y="2148840"/>
            <a:ext cx="9509760" cy="2377440"/>
          </a:xfrm>
          <a:prstGeom prst="rect">
            <a:avLst/>
          </a:prstGeom>
          <a:noFill/>
          <a:ln/>
        </p:spPr>
        <p:txBody>
          <a:bodyPr wrap="square" lIns="0" tIns="0" rIns="0" bIns="0" rtlCol="0" anchor="ctr"/>
          <a:lstStyle/>
          <a:p>
            <a:pPr indent="0" marL="0">
              <a:lnSpc>
                <a:spcPts val="2500"/>
              </a:lnSpc>
              <a:buNone/>
            </a:pPr>
            <a:r>
              <a:rPr lang="en-US" sz="1600" dirty="0">
                <a:solidFill>
                  <a:srgbClr val="1C2B39"/>
                </a:solidFill>
                <a:latin typeface="Calibri" pitchFamily="34" charset="0"/>
                <a:ea typeface="Calibri" pitchFamily="34" charset="-122"/>
                <a:cs typeface="Calibri" pitchFamily="34" charset="-120"/>
              </a:rPr>
              <a:t>Business strategy, IT strategy, and alignment capability are interdependent: business strategy sets the overall goals, IT strategy defines how technology will support those goals, and alignment capability is the organization's ability to effectively coordinate the two.</a:t>
            </a:r>
            <a:endParaRPr lang="en-US" sz="1600" dirty="0"/>
          </a:p>
        </p:txBody>
      </p:sp>
      <p:sp>
        <p:nvSpPr>
          <p:cNvPr id="7" name="Shape 5"/>
          <p:cNvSpPr/>
          <p:nvPr/>
        </p:nvSpPr>
        <p:spPr>
          <a:xfrm>
            <a:off x="548640" y="4892040"/>
            <a:ext cx="772668" cy="384048"/>
          </a:xfrm>
          <a:prstGeom prst="roundRect">
            <a:avLst>
              <a:gd name="adj" fmla="val 50000"/>
            </a:avLst>
          </a:prstGeom>
          <a:solidFill>
            <a:srgbClr val="F2F6F9"/>
          </a:solidFill>
          <a:ln w="12700">
            <a:solidFill>
              <a:srgbClr val="DCE6ED"/>
            </a:solidFill>
            <a:prstDash val="solid"/>
          </a:ln>
        </p:spPr>
      </p:sp>
      <p:sp>
        <p:nvSpPr>
          <p:cNvPr id="8" name="Text 6"/>
          <p:cNvSpPr/>
          <p:nvPr/>
        </p:nvSpPr>
        <p:spPr>
          <a:xfrm>
            <a:off x="548640" y="4892040"/>
            <a:ext cx="772668"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Goals</a:t>
            </a:r>
            <a:endParaRPr lang="en-US" sz="1150" dirty="0"/>
          </a:p>
        </p:txBody>
      </p:sp>
      <p:sp>
        <p:nvSpPr>
          <p:cNvPr id="9" name="Shape 7"/>
          <p:cNvSpPr/>
          <p:nvPr/>
        </p:nvSpPr>
        <p:spPr>
          <a:xfrm>
            <a:off x="1522476" y="4892040"/>
            <a:ext cx="1252728" cy="384048"/>
          </a:xfrm>
          <a:prstGeom prst="roundRect">
            <a:avLst>
              <a:gd name="adj" fmla="val 50000"/>
            </a:avLst>
          </a:prstGeom>
          <a:solidFill>
            <a:srgbClr val="F2F6F9"/>
          </a:solidFill>
          <a:ln w="12700">
            <a:solidFill>
              <a:srgbClr val="DCE6ED"/>
            </a:solidFill>
            <a:prstDash val="solid"/>
          </a:ln>
        </p:spPr>
      </p:sp>
      <p:sp>
        <p:nvSpPr>
          <p:cNvPr id="10" name="Text 8"/>
          <p:cNvSpPr/>
          <p:nvPr/>
        </p:nvSpPr>
        <p:spPr>
          <a:xfrm>
            <a:off x="1522476" y="4892040"/>
            <a:ext cx="1252728"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Technology</a:t>
            </a:r>
            <a:endParaRPr lang="en-US" sz="1150" dirty="0"/>
          </a:p>
        </p:txBody>
      </p:sp>
      <p:sp>
        <p:nvSpPr>
          <p:cNvPr id="11" name="Shape 9"/>
          <p:cNvSpPr/>
          <p:nvPr/>
        </p:nvSpPr>
        <p:spPr>
          <a:xfrm>
            <a:off x="2976372" y="4892040"/>
            <a:ext cx="1444752" cy="384048"/>
          </a:xfrm>
          <a:prstGeom prst="roundRect">
            <a:avLst>
              <a:gd name="adj" fmla="val 50000"/>
            </a:avLst>
          </a:prstGeom>
          <a:solidFill>
            <a:srgbClr val="F2F6F9"/>
          </a:solidFill>
          <a:ln w="12700">
            <a:solidFill>
              <a:srgbClr val="DCE6ED"/>
            </a:solidFill>
            <a:prstDash val="solid"/>
          </a:ln>
        </p:spPr>
      </p:sp>
      <p:sp>
        <p:nvSpPr>
          <p:cNvPr id="12" name="Text 10"/>
          <p:cNvSpPr/>
          <p:nvPr/>
        </p:nvSpPr>
        <p:spPr>
          <a:xfrm>
            <a:off x="2976372" y="4892040"/>
            <a:ext cx="1444752"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Coordination</a:t>
            </a:r>
            <a:endParaRPr lang="en-US" sz="1150" dirty="0"/>
          </a:p>
        </p:txBody>
      </p:sp>
      <p:sp>
        <p:nvSpPr>
          <p:cNvPr id="13" name="Text 11"/>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BUSINESS &amp; IT STRATEGY</a:t>
            </a:r>
            <a:endParaRPr lang="en-US" sz="900" dirty="0"/>
          </a:p>
        </p:txBody>
      </p:sp>
      <p:sp>
        <p:nvSpPr>
          <p:cNvPr id="14" name="Text 12"/>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BUSINESS &amp; IT STRATEGY</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Business Strategy</a:t>
            </a:r>
            <a:endParaRPr lang="en-US" sz="2700" dirty="0"/>
          </a:p>
        </p:txBody>
      </p:sp>
      <p:sp>
        <p:nvSpPr>
          <p:cNvPr id="4" name="Shape 2"/>
          <p:cNvSpPr/>
          <p:nvPr/>
        </p:nvSpPr>
        <p:spPr>
          <a:xfrm>
            <a:off x="548640" y="1691640"/>
            <a:ext cx="5257800" cy="2926080"/>
          </a:xfrm>
          <a:prstGeom prst="roundRect">
            <a:avLst>
              <a:gd name="adj" fmla="val 2500"/>
            </a:avLst>
          </a:prstGeom>
          <a:solidFill>
            <a:srgbClr val="F2F6F9"/>
          </a:solidFill>
          <a:ln/>
        </p:spPr>
      </p:sp>
      <p:sp>
        <p:nvSpPr>
          <p:cNvPr id="5" name="Shape 3"/>
          <p:cNvSpPr/>
          <p:nvPr/>
        </p:nvSpPr>
        <p:spPr>
          <a:xfrm>
            <a:off x="548640" y="1691640"/>
            <a:ext cx="5257800" cy="566928"/>
          </a:xfrm>
          <a:prstGeom prst="roundRect">
            <a:avLst>
              <a:gd name="adj" fmla="val 12903"/>
            </a:avLst>
          </a:prstGeom>
          <a:solidFill>
            <a:srgbClr val="0D2C4B"/>
          </a:solidFill>
          <a:ln/>
        </p:spPr>
      </p:sp>
      <p:sp>
        <p:nvSpPr>
          <p:cNvPr id="6" name="Shape 4"/>
          <p:cNvSpPr/>
          <p:nvPr/>
        </p:nvSpPr>
        <p:spPr>
          <a:xfrm>
            <a:off x="548640" y="2011680"/>
            <a:ext cx="5257800" cy="246888"/>
          </a:xfrm>
          <a:prstGeom prst="rect">
            <a:avLst/>
          </a:prstGeom>
          <a:solidFill>
            <a:srgbClr val="0D2C4B"/>
          </a:solidFill>
          <a:ln/>
        </p:spPr>
      </p:sp>
      <p:sp>
        <p:nvSpPr>
          <p:cNvPr id="7" name="Text 5"/>
          <p:cNvSpPr/>
          <p:nvPr/>
        </p:nvSpPr>
        <p:spPr>
          <a:xfrm>
            <a:off x="822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Definition</a:t>
            </a:r>
            <a:endParaRPr lang="en-US" sz="1550" dirty="0"/>
          </a:p>
        </p:txBody>
      </p:sp>
      <p:sp>
        <p:nvSpPr>
          <p:cNvPr id="8" name="Text 6"/>
          <p:cNvSpPr/>
          <p:nvPr/>
        </p:nvSpPr>
        <p:spPr>
          <a:xfrm>
            <a:off x="822960" y="2468880"/>
            <a:ext cx="4709160" cy="1920240"/>
          </a:xfrm>
          <a:prstGeom prst="rect">
            <a:avLst/>
          </a:prstGeom>
          <a:noFill/>
          <a:ln/>
        </p:spPr>
        <p:txBody>
          <a:bodyPr wrap="square" lIns="0" tIns="0" rIns="0" bIns="0" rtlCol="0" anchor="ctr"/>
          <a:lstStyle/>
          <a:p>
            <a:pPr indent="0" marL="0">
              <a:lnSpc>
                <a:spcPts val="1700"/>
              </a:lnSpc>
              <a:buNone/>
            </a:pPr>
            <a:r>
              <a:rPr lang="en-US" sz="1250" dirty="0">
                <a:solidFill>
                  <a:srgbClr val="1C2B39"/>
                </a:solidFill>
                <a:latin typeface="Calibri" pitchFamily="34" charset="0"/>
                <a:ea typeface="Calibri" pitchFamily="34" charset="-122"/>
                <a:cs typeface="Calibri" pitchFamily="34" charset="-120"/>
              </a:rPr>
              <a:t>A business strategy defines the goals, direction, and long-term plans of an organization.</a:t>
            </a:r>
            <a:endParaRPr lang="en-US" sz="1250" dirty="0"/>
          </a:p>
        </p:txBody>
      </p:sp>
      <p:sp>
        <p:nvSpPr>
          <p:cNvPr id="9" name="Shape 7"/>
          <p:cNvSpPr/>
          <p:nvPr/>
        </p:nvSpPr>
        <p:spPr>
          <a:xfrm>
            <a:off x="6263640" y="1691640"/>
            <a:ext cx="5257800" cy="2926080"/>
          </a:xfrm>
          <a:prstGeom prst="roundRect">
            <a:avLst>
              <a:gd name="adj" fmla="val 2500"/>
            </a:avLst>
          </a:prstGeom>
          <a:solidFill>
            <a:srgbClr val="F2F6F9"/>
          </a:solidFill>
          <a:ln/>
        </p:spPr>
      </p:sp>
      <p:sp>
        <p:nvSpPr>
          <p:cNvPr id="10" name="Shape 8"/>
          <p:cNvSpPr/>
          <p:nvPr/>
        </p:nvSpPr>
        <p:spPr>
          <a:xfrm>
            <a:off x="6263640" y="1691640"/>
            <a:ext cx="5257800" cy="566928"/>
          </a:xfrm>
          <a:prstGeom prst="roundRect">
            <a:avLst>
              <a:gd name="adj" fmla="val 12903"/>
            </a:avLst>
          </a:prstGeom>
          <a:solidFill>
            <a:srgbClr val="0B8A9C"/>
          </a:solidFill>
          <a:ln/>
        </p:spPr>
      </p:sp>
      <p:sp>
        <p:nvSpPr>
          <p:cNvPr id="11" name="Shape 9"/>
          <p:cNvSpPr/>
          <p:nvPr/>
        </p:nvSpPr>
        <p:spPr>
          <a:xfrm>
            <a:off x="6263640" y="2011680"/>
            <a:ext cx="5257800" cy="246888"/>
          </a:xfrm>
          <a:prstGeom prst="rect">
            <a:avLst/>
          </a:prstGeom>
          <a:solidFill>
            <a:srgbClr val="0B8A9C"/>
          </a:solidFill>
          <a:ln/>
        </p:spPr>
      </p:sp>
      <p:sp>
        <p:nvSpPr>
          <p:cNvPr id="12" name="Text 10"/>
          <p:cNvSpPr/>
          <p:nvPr/>
        </p:nvSpPr>
        <p:spPr>
          <a:xfrm>
            <a:off x="6537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Common Examples</a:t>
            </a:r>
            <a:endParaRPr lang="en-US" sz="1550" dirty="0"/>
          </a:p>
        </p:txBody>
      </p:sp>
      <p:sp>
        <p:nvSpPr>
          <p:cNvPr id="13" name="Shape 11"/>
          <p:cNvSpPr/>
          <p:nvPr/>
        </p:nvSpPr>
        <p:spPr>
          <a:xfrm>
            <a:off x="6537960" y="2523744"/>
            <a:ext cx="82296" cy="82296"/>
          </a:xfrm>
          <a:prstGeom prst="ellipse">
            <a:avLst/>
          </a:prstGeom>
          <a:solidFill>
            <a:srgbClr val="0B8A9C"/>
          </a:solidFill>
          <a:ln/>
        </p:spPr>
      </p:sp>
      <p:sp>
        <p:nvSpPr>
          <p:cNvPr id="14" name="Text 12"/>
          <p:cNvSpPr/>
          <p:nvPr/>
        </p:nvSpPr>
        <p:spPr>
          <a:xfrm>
            <a:off x="6739128" y="2395728"/>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Expanding into new markets</a:t>
            </a:r>
            <a:endParaRPr lang="en-US" sz="1200" dirty="0"/>
          </a:p>
        </p:txBody>
      </p:sp>
      <p:sp>
        <p:nvSpPr>
          <p:cNvPr id="15" name="Shape 13"/>
          <p:cNvSpPr/>
          <p:nvPr/>
        </p:nvSpPr>
        <p:spPr>
          <a:xfrm>
            <a:off x="6537960" y="3054096"/>
            <a:ext cx="82296" cy="82296"/>
          </a:xfrm>
          <a:prstGeom prst="ellipse">
            <a:avLst/>
          </a:prstGeom>
          <a:solidFill>
            <a:srgbClr val="0B8A9C"/>
          </a:solidFill>
          <a:ln/>
        </p:spPr>
      </p:sp>
      <p:sp>
        <p:nvSpPr>
          <p:cNvPr id="16" name="Text 14"/>
          <p:cNvSpPr/>
          <p:nvPr/>
        </p:nvSpPr>
        <p:spPr>
          <a:xfrm>
            <a:off x="6739128" y="2926080"/>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Increasing product quality</a:t>
            </a:r>
            <a:endParaRPr lang="en-US" sz="1200" dirty="0"/>
          </a:p>
        </p:txBody>
      </p:sp>
      <p:sp>
        <p:nvSpPr>
          <p:cNvPr id="17" name="Shape 15"/>
          <p:cNvSpPr/>
          <p:nvPr/>
        </p:nvSpPr>
        <p:spPr>
          <a:xfrm>
            <a:off x="6537960" y="3584448"/>
            <a:ext cx="82296" cy="82296"/>
          </a:xfrm>
          <a:prstGeom prst="ellipse">
            <a:avLst/>
          </a:prstGeom>
          <a:solidFill>
            <a:srgbClr val="0B8A9C"/>
          </a:solidFill>
          <a:ln/>
        </p:spPr>
      </p:sp>
      <p:sp>
        <p:nvSpPr>
          <p:cNvPr id="18" name="Text 16"/>
          <p:cNvSpPr/>
          <p:nvPr/>
        </p:nvSpPr>
        <p:spPr>
          <a:xfrm>
            <a:off x="6739128" y="3456432"/>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Reducing operational costs</a:t>
            </a:r>
            <a:endParaRPr lang="en-US" sz="1200" dirty="0"/>
          </a:p>
        </p:txBody>
      </p:sp>
      <p:sp>
        <p:nvSpPr>
          <p:cNvPr id="19" name="Shape 17"/>
          <p:cNvSpPr/>
          <p:nvPr/>
        </p:nvSpPr>
        <p:spPr>
          <a:xfrm>
            <a:off x="6537960" y="4114800"/>
            <a:ext cx="82296" cy="82296"/>
          </a:xfrm>
          <a:prstGeom prst="ellipse">
            <a:avLst/>
          </a:prstGeom>
          <a:solidFill>
            <a:srgbClr val="0B8A9C"/>
          </a:solidFill>
          <a:ln/>
        </p:spPr>
      </p:sp>
      <p:sp>
        <p:nvSpPr>
          <p:cNvPr id="20" name="Text 18"/>
          <p:cNvSpPr/>
          <p:nvPr/>
        </p:nvSpPr>
        <p:spPr>
          <a:xfrm>
            <a:off x="6739128" y="3986784"/>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Enhancing customer experience</a:t>
            </a:r>
            <a:endParaRPr lang="en-US" sz="1200" dirty="0"/>
          </a:p>
        </p:txBody>
      </p:sp>
      <p:sp>
        <p:nvSpPr>
          <p:cNvPr id="21" name="Text 19"/>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BUSINESS &amp; IT STRATEGY</a:t>
            </a:r>
            <a:endParaRPr lang="en-US" sz="900" dirty="0"/>
          </a:p>
        </p:txBody>
      </p:sp>
      <p:sp>
        <p:nvSpPr>
          <p:cNvPr id="22" name="Text 20"/>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BUSINESS &amp; IT STRATEGY</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IT Strategy &amp; Alignment Capability</a:t>
            </a:r>
            <a:endParaRPr lang="en-US" sz="2700" dirty="0"/>
          </a:p>
        </p:txBody>
      </p:sp>
      <p:sp>
        <p:nvSpPr>
          <p:cNvPr id="4" name="Shape 2"/>
          <p:cNvSpPr/>
          <p:nvPr/>
        </p:nvSpPr>
        <p:spPr>
          <a:xfrm>
            <a:off x="548640" y="1691640"/>
            <a:ext cx="5257800" cy="3566160"/>
          </a:xfrm>
          <a:prstGeom prst="roundRect">
            <a:avLst>
              <a:gd name="adj" fmla="val 2051"/>
            </a:avLst>
          </a:prstGeom>
          <a:solidFill>
            <a:srgbClr val="F2F6F9"/>
          </a:solidFill>
          <a:ln/>
        </p:spPr>
      </p:sp>
      <p:sp>
        <p:nvSpPr>
          <p:cNvPr id="5" name="Shape 3"/>
          <p:cNvSpPr/>
          <p:nvPr/>
        </p:nvSpPr>
        <p:spPr>
          <a:xfrm>
            <a:off x="548640" y="1691640"/>
            <a:ext cx="5257800" cy="566928"/>
          </a:xfrm>
          <a:prstGeom prst="roundRect">
            <a:avLst>
              <a:gd name="adj" fmla="val 12903"/>
            </a:avLst>
          </a:prstGeom>
          <a:solidFill>
            <a:srgbClr val="0D2C4B"/>
          </a:solidFill>
          <a:ln/>
        </p:spPr>
      </p:sp>
      <p:sp>
        <p:nvSpPr>
          <p:cNvPr id="6" name="Shape 4"/>
          <p:cNvSpPr/>
          <p:nvPr/>
        </p:nvSpPr>
        <p:spPr>
          <a:xfrm>
            <a:off x="548640" y="2011680"/>
            <a:ext cx="5257800" cy="246888"/>
          </a:xfrm>
          <a:prstGeom prst="rect">
            <a:avLst/>
          </a:prstGeom>
          <a:solidFill>
            <a:srgbClr val="0D2C4B"/>
          </a:solidFill>
          <a:ln/>
        </p:spPr>
      </p:sp>
      <p:sp>
        <p:nvSpPr>
          <p:cNvPr id="7" name="Text 5"/>
          <p:cNvSpPr/>
          <p:nvPr/>
        </p:nvSpPr>
        <p:spPr>
          <a:xfrm>
            <a:off x="822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IT Strategy</a:t>
            </a:r>
            <a:endParaRPr lang="en-US" sz="1550" dirty="0"/>
          </a:p>
        </p:txBody>
      </p:sp>
      <p:sp>
        <p:nvSpPr>
          <p:cNvPr id="8" name="Shape 6"/>
          <p:cNvSpPr/>
          <p:nvPr/>
        </p:nvSpPr>
        <p:spPr>
          <a:xfrm>
            <a:off x="822960" y="2523744"/>
            <a:ext cx="82296" cy="82296"/>
          </a:xfrm>
          <a:prstGeom prst="ellipse">
            <a:avLst/>
          </a:prstGeom>
          <a:solidFill>
            <a:srgbClr val="0D2C4B"/>
          </a:solidFill>
          <a:ln/>
        </p:spPr>
      </p:sp>
      <p:sp>
        <p:nvSpPr>
          <p:cNvPr id="9" name="Text 7"/>
          <p:cNvSpPr/>
          <p:nvPr/>
        </p:nvSpPr>
        <p:spPr>
          <a:xfrm>
            <a:off x="1024128" y="2414016"/>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Defines technology decisions</a:t>
            </a:r>
            <a:endParaRPr lang="en-US" sz="1250" dirty="0"/>
          </a:p>
        </p:txBody>
      </p:sp>
      <p:sp>
        <p:nvSpPr>
          <p:cNvPr id="10" name="Text 8"/>
          <p:cNvSpPr/>
          <p:nvPr/>
        </p:nvSpPr>
        <p:spPr>
          <a:xfrm>
            <a:off x="1024128" y="2651760"/>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Infrastructure (cloud, servers, networks), applications (ERP, CRM, BI tools), cybersecurity, and IT investment priorities.</a:t>
            </a:r>
            <a:endParaRPr lang="en-US" sz="1080" dirty="0"/>
          </a:p>
        </p:txBody>
      </p:sp>
      <p:sp>
        <p:nvSpPr>
          <p:cNvPr id="11" name="Shape 9"/>
          <p:cNvSpPr/>
          <p:nvPr/>
        </p:nvSpPr>
        <p:spPr>
          <a:xfrm>
            <a:off x="822960" y="3182112"/>
            <a:ext cx="82296" cy="82296"/>
          </a:xfrm>
          <a:prstGeom prst="ellipse">
            <a:avLst/>
          </a:prstGeom>
          <a:solidFill>
            <a:srgbClr val="0D2C4B"/>
          </a:solidFill>
          <a:ln/>
        </p:spPr>
      </p:sp>
      <p:sp>
        <p:nvSpPr>
          <p:cNvPr id="12" name="Text 10"/>
          <p:cNvSpPr/>
          <p:nvPr/>
        </p:nvSpPr>
        <p:spPr>
          <a:xfrm>
            <a:off x="1024128" y="3072384"/>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Purpose</a:t>
            </a:r>
            <a:endParaRPr lang="en-US" sz="1250" dirty="0"/>
          </a:p>
        </p:txBody>
      </p:sp>
      <p:sp>
        <p:nvSpPr>
          <p:cNvPr id="13" name="Text 11"/>
          <p:cNvSpPr/>
          <p:nvPr/>
        </p:nvSpPr>
        <p:spPr>
          <a:xfrm>
            <a:off x="1024128" y="3310128"/>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Ensures IT systems enable, support, and strengthen the organization's objectives.</a:t>
            </a:r>
            <a:endParaRPr lang="en-US" sz="1080" dirty="0"/>
          </a:p>
        </p:txBody>
      </p:sp>
      <p:sp>
        <p:nvSpPr>
          <p:cNvPr id="14" name="Shape 12"/>
          <p:cNvSpPr/>
          <p:nvPr/>
        </p:nvSpPr>
        <p:spPr>
          <a:xfrm>
            <a:off x="6263640" y="1691640"/>
            <a:ext cx="5257800" cy="3566160"/>
          </a:xfrm>
          <a:prstGeom prst="roundRect">
            <a:avLst>
              <a:gd name="adj" fmla="val 2051"/>
            </a:avLst>
          </a:prstGeom>
          <a:solidFill>
            <a:srgbClr val="F2F6F9"/>
          </a:solidFill>
          <a:ln/>
        </p:spPr>
      </p:sp>
      <p:sp>
        <p:nvSpPr>
          <p:cNvPr id="15" name="Shape 13"/>
          <p:cNvSpPr/>
          <p:nvPr/>
        </p:nvSpPr>
        <p:spPr>
          <a:xfrm>
            <a:off x="6263640" y="1691640"/>
            <a:ext cx="5257800" cy="566928"/>
          </a:xfrm>
          <a:prstGeom prst="roundRect">
            <a:avLst>
              <a:gd name="adj" fmla="val 12903"/>
            </a:avLst>
          </a:prstGeom>
          <a:solidFill>
            <a:srgbClr val="0B8A9C"/>
          </a:solidFill>
          <a:ln/>
        </p:spPr>
      </p:sp>
      <p:sp>
        <p:nvSpPr>
          <p:cNvPr id="16" name="Shape 14"/>
          <p:cNvSpPr/>
          <p:nvPr/>
        </p:nvSpPr>
        <p:spPr>
          <a:xfrm>
            <a:off x="6263640" y="2011680"/>
            <a:ext cx="5257800" cy="246888"/>
          </a:xfrm>
          <a:prstGeom prst="rect">
            <a:avLst/>
          </a:prstGeom>
          <a:solidFill>
            <a:srgbClr val="0B8A9C"/>
          </a:solidFill>
          <a:ln/>
        </p:spPr>
      </p:sp>
      <p:sp>
        <p:nvSpPr>
          <p:cNvPr id="17" name="Text 15"/>
          <p:cNvSpPr/>
          <p:nvPr/>
        </p:nvSpPr>
        <p:spPr>
          <a:xfrm>
            <a:off x="6537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Alignment Capability</a:t>
            </a:r>
            <a:endParaRPr lang="en-US" sz="1550" dirty="0"/>
          </a:p>
        </p:txBody>
      </p:sp>
      <p:sp>
        <p:nvSpPr>
          <p:cNvPr id="18" name="Shape 16"/>
          <p:cNvSpPr/>
          <p:nvPr/>
        </p:nvSpPr>
        <p:spPr>
          <a:xfrm>
            <a:off x="6537960" y="2523744"/>
            <a:ext cx="82296" cy="82296"/>
          </a:xfrm>
          <a:prstGeom prst="ellipse">
            <a:avLst/>
          </a:prstGeom>
          <a:solidFill>
            <a:srgbClr val="0B8A9C"/>
          </a:solidFill>
          <a:ln/>
        </p:spPr>
      </p:sp>
      <p:sp>
        <p:nvSpPr>
          <p:cNvPr id="19" name="Text 17"/>
          <p:cNvSpPr/>
          <p:nvPr/>
        </p:nvSpPr>
        <p:spPr>
          <a:xfrm>
            <a:off x="6739128" y="2414016"/>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What it includes</a:t>
            </a:r>
            <a:endParaRPr lang="en-US" sz="1250" dirty="0"/>
          </a:p>
        </p:txBody>
      </p:sp>
      <p:sp>
        <p:nvSpPr>
          <p:cNvPr id="20" name="Text 18"/>
          <p:cNvSpPr/>
          <p:nvPr/>
        </p:nvSpPr>
        <p:spPr>
          <a:xfrm>
            <a:off x="6739128" y="2651760"/>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Communication, strong leadership, shared goals, flexible processes, and governance.</a:t>
            </a:r>
            <a:endParaRPr lang="en-US" sz="1080" dirty="0"/>
          </a:p>
        </p:txBody>
      </p:sp>
      <p:sp>
        <p:nvSpPr>
          <p:cNvPr id="21" name="Shape 19"/>
          <p:cNvSpPr/>
          <p:nvPr/>
        </p:nvSpPr>
        <p:spPr>
          <a:xfrm>
            <a:off x="6537960" y="3182112"/>
            <a:ext cx="82296" cy="82296"/>
          </a:xfrm>
          <a:prstGeom prst="ellipse">
            <a:avLst/>
          </a:prstGeom>
          <a:solidFill>
            <a:srgbClr val="0B8A9C"/>
          </a:solidFill>
          <a:ln/>
        </p:spPr>
      </p:sp>
      <p:sp>
        <p:nvSpPr>
          <p:cNvPr id="22" name="Text 20"/>
          <p:cNvSpPr/>
          <p:nvPr/>
        </p:nvSpPr>
        <p:spPr>
          <a:xfrm>
            <a:off x="6739128" y="3072384"/>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Why it matters</a:t>
            </a:r>
            <a:endParaRPr lang="en-US" sz="1250" dirty="0"/>
          </a:p>
        </p:txBody>
      </p:sp>
      <p:sp>
        <p:nvSpPr>
          <p:cNvPr id="23" name="Text 21"/>
          <p:cNvSpPr/>
          <p:nvPr/>
        </p:nvSpPr>
        <p:spPr>
          <a:xfrm>
            <a:off x="6739128" y="3310128"/>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Even a great business plan and strong technology fail if the two aren't aligned.</a:t>
            </a:r>
            <a:endParaRPr lang="en-US" sz="1080" dirty="0"/>
          </a:p>
        </p:txBody>
      </p:sp>
      <p:sp>
        <p:nvSpPr>
          <p:cNvPr id="24"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BUSINESS &amp; IT STRATEGY</a:t>
            </a:r>
            <a:endParaRPr lang="en-US" sz="900" dirty="0"/>
          </a:p>
        </p:txBody>
      </p:sp>
      <p:sp>
        <p:nvSpPr>
          <p:cNvPr id="25" name="Text 2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BUSINESS &amp; IT STRATEGY</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How They Work Together</a:t>
            </a:r>
            <a:endParaRPr lang="en-US" sz="2700" dirty="0"/>
          </a:p>
        </p:txBody>
      </p:sp>
      <p:sp>
        <p:nvSpPr>
          <p:cNvPr id="4" name="Shape 2"/>
          <p:cNvSpPr/>
          <p:nvPr/>
        </p:nvSpPr>
        <p:spPr>
          <a:xfrm>
            <a:off x="548640" y="1920240"/>
            <a:ext cx="3527450" cy="3566160"/>
          </a:xfrm>
          <a:prstGeom prst="roundRect">
            <a:avLst>
              <a:gd name="adj" fmla="val 1815"/>
            </a:avLst>
          </a:prstGeom>
          <a:solidFill>
            <a:srgbClr val="F2F6F9"/>
          </a:solidFill>
          <a:ln/>
        </p:spPr>
      </p:sp>
      <p:sp>
        <p:nvSpPr>
          <p:cNvPr id="5" name="Shape 3"/>
          <p:cNvSpPr/>
          <p:nvPr/>
        </p:nvSpPr>
        <p:spPr>
          <a:xfrm>
            <a:off x="2092909" y="1700784"/>
            <a:ext cx="438912" cy="438912"/>
          </a:xfrm>
          <a:prstGeom prst="ellipse">
            <a:avLst/>
          </a:prstGeom>
          <a:solidFill>
            <a:srgbClr val="0D2C4B"/>
          </a:solidFill>
          <a:ln/>
        </p:spPr>
      </p:sp>
      <p:sp>
        <p:nvSpPr>
          <p:cNvPr id="6" name="Text 4"/>
          <p:cNvSpPr/>
          <p:nvPr/>
        </p:nvSpPr>
        <p:spPr>
          <a:xfrm>
            <a:off x="2092909" y="17007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713232" y="2304288"/>
            <a:ext cx="3198266"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Business Drives IT</a:t>
            </a:r>
            <a:endParaRPr lang="en-US" sz="1250" dirty="0"/>
          </a:p>
        </p:txBody>
      </p:sp>
      <p:sp>
        <p:nvSpPr>
          <p:cNvPr id="8" name="Text 6"/>
          <p:cNvSpPr/>
          <p:nvPr/>
        </p:nvSpPr>
        <p:spPr>
          <a:xfrm>
            <a:off x="713232" y="2834640"/>
            <a:ext cx="3198266" cy="251460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Business goals determine what IT systems are needed — e.g., a focus on customer experience drives CRM and chatbot investment.</a:t>
            </a:r>
            <a:endParaRPr lang="en-US" sz="1030" dirty="0"/>
          </a:p>
        </p:txBody>
      </p:sp>
      <p:sp>
        <p:nvSpPr>
          <p:cNvPr id="9" name="Text 7"/>
          <p:cNvSpPr/>
          <p:nvPr/>
        </p:nvSpPr>
        <p:spPr>
          <a:xfrm>
            <a:off x="4076090" y="3474720"/>
            <a:ext cx="256032" cy="457200"/>
          </a:xfrm>
          <a:prstGeom prst="rect">
            <a:avLst/>
          </a:prstGeom>
          <a:noFill/>
          <a:ln/>
        </p:spPr>
        <p:txBody>
          <a:bodyPr wrap="square" lIns="0" tIns="0" rIns="0" bIns="0" rtlCol="0" anchor="ctr"/>
          <a:lstStyle/>
          <a:p>
            <a:pPr algn="ctr" indent="0" marL="0">
              <a:buNone/>
            </a:pPr>
            <a:r>
              <a:rPr lang="en-US" sz="2000" b="1" dirty="0">
                <a:solidFill>
                  <a:srgbClr val="12B5CB"/>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4332122" y="1920240"/>
            <a:ext cx="3527450" cy="3566160"/>
          </a:xfrm>
          <a:prstGeom prst="roundRect">
            <a:avLst>
              <a:gd name="adj" fmla="val 1815"/>
            </a:avLst>
          </a:prstGeom>
          <a:solidFill>
            <a:srgbClr val="F2F6F9"/>
          </a:solidFill>
          <a:ln/>
        </p:spPr>
      </p:sp>
      <p:sp>
        <p:nvSpPr>
          <p:cNvPr id="11" name="Shape 9"/>
          <p:cNvSpPr/>
          <p:nvPr/>
        </p:nvSpPr>
        <p:spPr>
          <a:xfrm>
            <a:off x="5876392" y="1700784"/>
            <a:ext cx="438912" cy="438912"/>
          </a:xfrm>
          <a:prstGeom prst="ellipse">
            <a:avLst/>
          </a:prstGeom>
          <a:solidFill>
            <a:srgbClr val="0D2C4B"/>
          </a:solidFill>
          <a:ln/>
        </p:spPr>
      </p:sp>
      <p:sp>
        <p:nvSpPr>
          <p:cNvPr id="12" name="Text 10"/>
          <p:cNvSpPr/>
          <p:nvPr/>
        </p:nvSpPr>
        <p:spPr>
          <a:xfrm>
            <a:off x="5876392" y="17007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4496714" y="2304288"/>
            <a:ext cx="3198266"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IT Enables Business</a:t>
            </a:r>
            <a:endParaRPr lang="en-US" sz="1250" dirty="0"/>
          </a:p>
        </p:txBody>
      </p:sp>
      <p:sp>
        <p:nvSpPr>
          <p:cNvPr id="14" name="Text 12"/>
          <p:cNvSpPr/>
          <p:nvPr/>
        </p:nvSpPr>
        <p:spPr>
          <a:xfrm>
            <a:off x="4496714" y="2834640"/>
            <a:ext cx="3198266" cy="251460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IT provides the tools to execute the plan — e.g., global expansion requires cloud platforms and e-commerce systems.</a:t>
            </a:r>
            <a:endParaRPr lang="en-US" sz="1030" dirty="0"/>
          </a:p>
        </p:txBody>
      </p:sp>
      <p:sp>
        <p:nvSpPr>
          <p:cNvPr id="15" name="Text 13"/>
          <p:cNvSpPr/>
          <p:nvPr/>
        </p:nvSpPr>
        <p:spPr>
          <a:xfrm>
            <a:off x="7859573" y="3474720"/>
            <a:ext cx="256032" cy="457200"/>
          </a:xfrm>
          <a:prstGeom prst="rect">
            <a:avLst/>
          </a:prstGeom>
          <a:noFill/>
          <a:ln/>
        </p:spPr>
        <p:txBody>
          <a:bodyPr wrap="square" lIns="0" tIns="0" rIns="0" bIns="0" rtlCol="0" anchor="ctr"/>
          <a:lstStyle/>
          <a:p>
            <a:pPr algn="ctr" indent="0" marL="0">
              <a:buNone/>
            </a:pPr>
            <a:r>
              <a:rPr lang="en-US" sz="2000" b="1" dirty="0">
                <a:solidFill>
                  <a:srgbClr val="12B5CB"/>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8115605" y="1920240"/>
            <a:ext cx="3527450" cy="3566160"/>
          </a:xfrm>
          <a:prstGeom prst="roundRect">
            <a:avLst>
              <a:gd name="adj" fmla="val 1815"/>
            </a:avLst>
          </a:prstGeom>
          <a:solidFill>
            <a:srgbClr val="F2F6F9"/>
          </a:solidFill>
          <a:ln/>
        </p:spPr>
      </p:sp>
      <p:sp>
        <p:nvSpPr>
          <p:cNvPr id="17" name="Shape 15"/>
          <p:cNvSpPr/>
          <p:nvPr/>
        </p:nvSpPr>
        <p:spPr>
          <a:xfrm>
            <a:off x="9659874" y="1700784"/>
            <a:ext cx="438912" cy="438912"/>
          </a:xfrm>
          <a:prstGeom prst="ellipse">
            <a:avLst/>
          </a:prstGeom>
          <a:solidFill>
            <a:srgbClr val="0D2C4B"/>
          </a:solidFill>
          <a:ln/>
        </p:spPr>
      </p:sp>
      <p:sp>
        <p:nvSpPr>
          <p:cNvPr id="18" name="Text 16"/>
          <p:cNvSpPr/>
          <p:nvPr/>
        </p:nvSpPr>
        <p:spPr>
          <a:xfrm>
            <a:off x="9659874" y="17007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8280197" y="2304288"/>
            <a:ext cx="3198266"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Alignment Ensures Fit</a:t>
            </a:r>
            <a:endParaRPr lang="en-US" sz="1250" dirty="0"/>
          </a:p>
        </p:txBody>
      </p:sp>
      <p:sp>
        <p:nvSpPr>
          <p:cNvPr id="20" name="Text 18"/>
          <p:cNvSpPr/>
          <p:nvPr/>
        </p:nvSpPr>
        <p:spPr>
          <a:xfrm>
            <a:off x="8280197" y="2834640"/>
            <a:ext cx="3198266" cy="251460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Regular reviews, cross-department communication, and agile adjustments keep both strategies coordinated over time.</a:t>
            </a:r>
            <a:endParaRPr lang="en-US" sz="1030" dirty="0"/>
          </a:p>
        </p:txBody>
      </p:sp>
      <p:sp>
        <p:nvSpPr>
          <p:cNvPr id="21" name="Text 19"/>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BUSINESS &amp; IT STRATEGY</a:t>
            </a:r>
            <a:endParaRPr lang="en-US" sz="900" dirty="0"/>
          </a:p>
        </p:txBody>
      </p:sp>
      <p:sp>
        <p:nvSpPr>
          <p:cNvPr id="22" name="Text 20"/>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BUSINESS &amp; IT STRATEGY</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The Alignment Cycle</a:t>
            </a:r>
            <a:endParaRPr lang="en-US" sz="2700" dirty="0"/>
          </a:p>
        </p:txBody>
      </p:sp>
      <p:sp>
        <p:nvSpPr>
          <p:cNvPr id="4" name="Shape 2"/>
          <p:cNvSpPr/>
          <p:nvPr/>
        </p:nvSpPr>
        <p:spPr>
          <a:xfrm>
            <a:off x="548640" y="1920240"/>
            <a:ext cx="2581580" cy="3291840"/>
          </a:xfrm>
          <a:prstGeom prst="roundRect">
            <a:avLst>
              <a:gd name="adj" fmla="val 2479"/>
            </a:avLst>
          </a:prstGeom>
          <a:solidFill>
            <a:srgbClr val="F2F6F9"/>
          </a:solidFill>
          <a:ln/>
        </p:spPr>
      </p:sp>
      <p:sp>
        <p:nvSpPr>
          <p:cNvPr id="5" name="Shape 3"/>
          <p:cNvSpPr/>
          <p:nvPr/>
        </p:nvSpPr>
        <p:spPr>
          <a:xfrm>
            <a:off x="1619974" y="1700784"/>
            <a:ext cx="438912" cy="438912"/>
          </a:xfrm>
          <a:prstGeom prst="ellipse">
            <a:avLst/>
          </a:prstGeom>
          <a:solidFill>
            <a:srgbClr val="0D2C4B"/>
          </a:solidFill>
          <a:ln/>
        </p:spPr>
      </p:sp>
      <p:sp>
        <p:nvSpPr>
          <p:cNvPr id="6" name="Text 4"/>
          <p:cNvSpPr/>
          <p:nvPr/>
        </p:nvSpPr>
        <p:spPr>
          <a:xfrm>
            <a:off x="1619974" y="17007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713232" y="2304288"/>
            <a:ext cx="2252396"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Business Strategy Created</a:t>
            </a:r>
            <a:endParaRPr lang="en-US" sz="1250" dirty="0"/>
          </a:p>
        </p:txBody>
      </p:sp>
      <p:sp>
        <p:nvSpPr>
          <p:cNvPr id="8" name="Text 6"/>
          <p:cNvSpPr/>
          <p:nvPr/>
        </p:nvSpPr>
        <p:spPr>
          <a:xfrm>
            <a:off x="713232" y="2834640"/>
            <a:ext cx="2252396" cy="224028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Leadership sets organizational goals and direction.</a:t>
            </a:r>
            <a:endParaRPr lang="en-US" sz="1030" dirty="0"/>
          </a:p>
        </p:txBody>
      </p:sp>
      <p:sp>
        <p:nvSpPr>
          <p:cNvPr id="9" name="Text 7"/>
          <p:cNvSpPr/>
          <p:nvPr/>
        </p:nvSpPr>
        <p:spPr>
          <a:xfrm>
            <a:off x="3130220" y="3337560"/>
            <a:ext cx="256032" cy="457200"/>
          </a:xfrm>
          <a:prstGeom prst="rect">
            <a:avLst/>
          </a:prstGeom>
          <a:noFill/>
          <a:ln/>
        </p:spPr>
        <p:txBody>
          <a:bodyPr wrap="square" lIns="0" tIns="0" rIns="0" bIns="0" rtlCol="0" anchor="ctr"/>
          <a:lstStyle/>
          <a:p>
            <a:pPr algn="ctr" indent="0" marL="0">
              <a:buNone/>
            </a:pPr>
            <a:r>
              <a:rPr lang="en-US" sz="2000" b="1" dirty="0">
                <a:solidFill>
                  <a:srgbClr val="12B5CB"/>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386252" y="1920240"/>
            <a:ext cx="2581580" cy="3291840"/>
          </a:xfrm>
          <a:prstGeom prst="roundRect">
            <a:avLst>
              <a:gd name="adj" fmla="val 2479"/>
            </a:avLst>
          </a:prstGeom>
          <a:solidFill>
            <a:srgbClr val="F2F6F9"/>
          </a:solidFill>
          <a:ln/>
        </p:spPr>
      </p:sp>
      <p:sp>
        <p:nvSpPr>
          <p:cNvPr id="11" name="Shape 9"/>
          <p:cNvSpPr/>
          <p:nvPr/>
        </p:nvSpPr>
        <p:spPr>
          <a:xfrm>
            <a:off x="4457586" y="1700784"/>
            <a:ext cx="438912" cy="438912"/>
          </a:xfrm>
          <a:prstGeom prst="ellipse">
            <a:avLst/>
          </a:prstGeom>
          <a:solidFill>
            <a:srgbClr val="0D2C4B"/>
          </a:solidFill>
          <a:ln/>
        </p:spPr>
      </p:sp>
      <p:sp>
        <p:nvSpPr>
          <p:cNvPr id="12" name="Text 10"/>
          <p:cNvSpPr/>
          <p:nvPr/>
        </p:nvSpPr>
        <p:spPr>
          <a:xfrm>
            <a:off x="4457586" y="17007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3550844" y="2304288"/>
            <a:ext cx="2252396"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IT Strategy Designed</a:t>
            </a:r>
            <a:endParaRPr lang="en-US" sz="1250" dirty="0"/>
          </a:p>
        </p:txBody>
      </p:sp>
      <p:sp>
        <p:nvSpPr>
          <p:cNvPr id="14" name="Text 12"/>
          <p:cNvSpPr/>
          <p:nvPr/>
        </p:nvSpPr>
        <p:spPr>
          <a:xfrm>
            <a:off x="3550844" y="2834640"/>
            <a:ext cx="2252396" cy="224028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Technology plans are built to support those goals.</a:t>
            </a:r>
            <a:endParaRPr lang="en-US" sz="1030" dirty="0"/>
          </a:p>
        </p:txBody>
      </p:sp>
      <p:sp>
        <p:nvSpPr>
          <p:cNvPr id="15" name="Text 13"/>
          <p:cNvSpPr/>
          <p:nvPr/>
        </p:nvSpPr>
        <p:spPr>
          <a:xfrm>
            <a:off x="5967832" y="3337560"/>
            <a:ext cx="256032" cy="457200"/>
          </a:xfrm>
          <a:prstGeom prst="rect">
            <a:avLst/>
          </a:prstGeom>
          <a:noFill/>
          <a:ln/>
        </p:spPr>
        <p:txBody>
          <a:bodyPr wrap="square" lIns="0" tIns="0" rIns="0" bIns="0" rtlCol="0" anchor="ctr"/>
          <a:lstStyle/>
          <a:p>
            <a:pPr algn="ctr" indent="0" marL="0">
              <a:buNone/>
            </a:pPr>
            <a:r>
              <a:rPr lang="en-US" sz="2000" b="1" dirty="0">
                <a:solidFill>
                  <a:srgbClr val="12B5CB"/>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223864" y="1920240"/>
            <a:ext cx="2581580" cy="3291840"/>
          </a:xfrm>
          <a:prstGeom prst="roundRect">
            <a:avLst>
              <a:gd name="adj" fmla="val 2479"/>
            </a:avLst>
          </a:prstGeom>
          <a:solidFill>
            <a:srgbClr val="F2F6F9"/>
          </a:solidFill>
          <a:ln/>
        </p:spPr>
      </p:sp>
      <p:sp>
        <p:nvSpPr>
          <p:cNvPr id="17" name="Shape 15"/>
          <p:cNvSpPr/>
          <p:nvPr/>
        </p:nvSpPr>
        <p:spPr>
          <a:xfrm>
            <a:off x="7295198" y="1700784"/>
            <a:ext cx="438912" cy="438912"/>
          </a:xfrm>
          <a:prstGeom prst="ellipse">
            <a:avLst/>
          </a:prstGeom>
          <a:solidFill>
            <a:srgbClr val="0D2C4B"/>
          </a:solidFill>
          <a:ln/>
        </p:spPr>
      </p:sp>
      <p:sp>
        <p:nvSpPr>
          <p:cNvPr id="18" name="Text 16"/>
          <p:cNvSpPr/>
          <p:nvPr/>
        </p:nvSpPr>
        <p:spPr>
          <a:xfrm>
            <a:off x="7295198" y="17007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6388456" y="2304288"/>
            <a:ext cx="2252396"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Alignment Maintained</a:t>
            </a:r>
            <a:endParaRPr lang="en-US" sz="1250" dirty="0"/>
          </a:p>
        </p:txBody>
      </p:sp>
      <p:sp>
        <p:nvSpPr>
          <p:cNvPr id="20" name="Text 18"/>
          <p:cNvSpPr/>
          <p:nvPr/>
        </p:nvSpPr>
        <p:spPr>
          <a:xfrm>
            <a:off x="6388456" y="2834640"/>
            <a:ext cx="2252396" cy="224028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Ongoing coordination keeps both strategies connected.</a:t>
            </a:r>
            <a:endParaRPr lang="en-US" sz="1030" dirty="0"/>
          </a:p>
        </p:txBody>
      </p:sp>
      <p:sp>
        <p:nvSpPr>
          <p:cNvPr id="21" name="Text 19"/>
          <p:cNvSpPr/>
          <p:nvPr/>
        </p:nvSpPr>
        <p:spPr>
          <a:xfrm>
            <a:off x="8805443" y="3337560"/>
            <a:ext cx="256032" cy="457200"/>
          </a:xfrm>
          <a:prstGeom prst="rect">
            <a:avLst/>
          </a:prstGeom>
          <a:noFill/>
          <a:ln/>
        </p:spPr>
        <p:txBody>
          <a:bodyPr wrap="square" lIns="0" tIns="0" rIns="0" bIns="0" rtlCol="0" anchor="ctr"/>
          <a:lstStyle/>
          <a:p>
            <a:pPr algn="ctr" indent="0" marL="0">
              <a:buNone/>
            </a:pPr>
            <a:r>
              <a:rPr lang="en-US" sz="2000" b="1" dirty="0">
                <a:solidFill>
                  <a:srgbClr val="12B5CB"/>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9061475" y="1920240"/>
            <a:ext cx="2581580" cy="3291840"/>
          </a:xfrm>
          <a:prstGeom prst="roundRect">
            <a:avLst>
              <a:gd name="adj" fmla="val 2479"/>
            </a:avLst>
          </a:prstGeom>
          <a:solidFill>
            <a:srgbClr val="F2F6F9"/>
          </a:solidFill>
          <a:ln/>
        </p:spPr>
      </p:sp>
      <p:sp>
        <p:nvSpPr>
          <p:cNvPr id="23" name="Shape 21"/>
          <p:cNvSpPr/>
          <p:nvPr/>
        </p:nvSpPr>
        <p:spPr>
          <a:xfrm>
            <a:off x="10132809" y="1700784"/>
            <a:ext cx="438912" cy="438912"/>
          </a:xfrm>
          <a:prstGeom prst="ellipse">
            <a:avLst/>
          </a:prstGeom>
          <a:solidFill>
            <a:srgbClr val="0D2C4B"/>
          </a:solidFill>
          <a:ln/>
        </p:spPr>
      </p:sp>
      <p:sp>
        <p:nvSpPr>
          <p:cNvPr id="24" name="Text 22"/>
          <p:cNvSpPr/>
          <p:nvPr/>
        </p:nvSpPr>
        <p:spPr>
          <a:xfrm>
            <a:off x="10132809" y="17007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9226067" y="2304288"/>
            <a:ext cx="2252396"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Performance Improves</a:t>
            </a:r>
            <a:endParaRPr lang="en-US" sz="1250" dirty="0"/>
          </a:p>
        </p:txBody>
      </p:sp>
      <p:sp>
        <p:nvSpPr>
          <p:cNvPr id="26" name="Text 24"/>
          <p:cNvSpPr/>
          <p:nvPr/>
        </p:nvSpPr>
        <p:spPr>
          <a:xfrm>
            <a:off x="9226067" y="2834640"/>
            <a:ext cx="2252396" cy="224028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IT strengthens business performance, shaping the next strategy — and the cycle repeats.</a:t>
            </a:r>
            <a:endParaRPr lang="en-US" sz="1030" dirty="0"/>
          </a:p>
        </p:txBody>
      </p:sp>
      <p:sp>
        <p:nvSpPr>
          <p:cNvPr id="27" name="Text 25"/>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BUSINESS &amp; IT STRATEGY</a:t>
            </a:r>
            <a:endParaRPr lang="en-US" sz="900" dirty="0"/>
          </a:p>
        </p:txBody>
      </p:sp>
      <p:sp>
        <p:nvSpPr>
          <p:cNvPr id="28" name="Text 26"/>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81826"/>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63A5C">
              <a:alpha val="65000"/>
            </a:srgbClr>
          </a:solidFill>
          <a:ln/>
        </p:spPr>
      </p:sp>
      <p:sp>
        <p:nvSpPr>
          <p:cNvPr id="3" name="Shape 1"/>
          <p:cNvSpPr/>
          <p:nvPr/>
        </p:nvSpPr>
        <p:spPr>
          <a:xfrm>
            <a:off x="-1280160" y="4937760"/>
            <a:ext cx="3291840" cy="3291840"/>
          </a:xfrm>
          <a:prstGeom prst="ellipse">
            <a:avLst/>
          </a:prstGeom>
          <a:solidFill>
            <a:srgbClr val="12B5CB">
              <a:alpha val="18000"/>
            </a:srgbClr>
          </a:solidFill>
          <a:ln/>
        </p:spPr>
      </p:sp>
      <p:sp>
        <p:nvSpPr>
          <p:cNvPr id="4" name="Text 2"/>
          <p:cNvSpPr/>
          <p:nvPr/>
        </p:nvSpPr>
        <p:spPr>
          <a:xfrm>
            <a:off x="548640" y="1965960"/>
            <a:ext cx="3657600" cy="1463040"/>
          </a:xfrm>
          <a:prstGeom prst="rect">
            <a:avLst/>
          </a:prstGeom>
          <a:noFill/>
          <a:ln/>
        </p:spPr>
        <p:txBody>
          <a:bodyPr wrap="square" lIns="0" tIns="0" rIns="0" bIns="0" rtlCol="0" anchor="ctr"/>
          <a:lstStyle/>
          <a:p>
            <a:pPr indent="0" marL="0">
              <a:buNone/>
            </a:pPr>
            <a:r>
              <a:rPr lang="en-US" sz="9000" b="1" dirty="0">
                <a:solidFill>
                  <a:srgbClr val="12B5CB"/>
                </a:solidFill>
                <a:latin typeface="Cambria" pitchFamily="34" charset="0"/>
                <a:ea typeface="Cambria" pitchFamily="34" charset="-122"/>
                <a:cs typeface="Cambria" pitchFamily="34" charset="-120"/>
              </a:rPr>
              <a:t>05</a:t>
            </a:r>
            <a:endParaRPr lang="en-US" sz="9000" dirty="0"/>
          </a:p>
        </p:txBody>
      </p:sp>
      <p:sp>
        <p:nvSpPr>
          <p:cNvPr id="5" name="Text 3"/>
          <p:cNvSpPr/>
          <p:nvPr/>
        </p:nvSpPr>
        <p:spPr>
          <a:xfrm>
            <a:off x="548640" y="3429000"/>
            <a:ext cx="9601200" cy="1188720"/>
          </a:xfrm>
          <a:prstGeom prst="rect">
            <a:avLst/>
          </a:prstGeom>
          <a:noFill/>
          <a:ln/>
        </p:spPr>
        <p:txBody>
          <a:bodyPr wrap="square" lIns="0" tIns="0" rIns="0" bIns="0"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Data Fundamentals</a:t>
            </a:r>
            <a:endParaRPr lang="en-US" sz="3400" dirty="0"/>
          </a:p>
        </p:txBody>
      </p:sp>
      <p:sp>
        <p:nvSpPr>
          <p:cNvPr id="6" name="Text 4"/>
          <p:cNvSpPr/>
          <p:nvPr/>
        </p:nvSpPr>
        <p:spPr>
          <a:xfrm>
            <a:off x="548640" y="4526280"/>
            <a:ext cx="8412480" cy="731520"/>
          </a:xfrm>
          <a:prstGeom prst="rect">
            <a:avLst/>
          </a:prstGeom>
          <a:noFill/>
          <a:ln/>
        </p:spPr>
        <p:txBody>
          <a:bodyPr wrap="square" lIns="0" tIns="0" rIns="0" bIns="0" rtlCol="0" anchor="ctr"/>
          <a:lstStyle/>
          <a:p>
            <a:pPr indent="0" marL="0">
              <a:lnSpc>
                <a:spcPts val="1900"/>
              </a:lnSpc>
              <a:buNone/>
            </a:pPr>
            <a:r>
              <a:rPr lang="en-US" sz="1400" dirty="0">
                <a:solidFill>
                  <a:srgbClr val="9FB6C9"/>
                </a:solidFill>
                <a:latin typeface="Calibri" pitchFamily="34" charset="0"/>
                <a:ea typeface="Calibri" pitchFamily="34" charset="-122"/>
                <a:cs typeface="Calibri" pitchFamily="34" charset="-120"/>
              </a:rPr>
              <a:t>How organizations classify, source, collect, and manage data.</a:t>
            </a:r>
            <a:endParaRPr lang="en-US" sz="1400" dirty="0"/>
          </a:p>
        </p:txBody>
      </p:sp>
      <p:sp>
        <p:nvSpPr>
          <p:cNvPr id="7" name="Text 5"/>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9FB6C9"/>
                </a:solidFill>
                <a:latin typeface="Calibri" pitchFamily="34" charset="0"/>
                <a:ea typeface="Calibri" pitchFamily="34" charset="-122"/>
                <a:cs typeface="Calibri" pitchFamily="34" charset="-120"/>
              </a:rPr>
              <a:t>DATA FUNDAMENTALS</a:t>
            </a:r>
            <a:endParaRPr lang="en-US" sz="900" dirty="0"/>
          </a:p>
        </p:txBody>
      </p:sp>
      <p:sp>
        <p:nvSpPr>
          <p:cNvPr id="8" name="Text 6"/>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9FB6C9"/>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18320" y="-914400"/>
            <a:ext cx="3840480" cy="3840480"/>
          </a:xfrm>
          <a:prstGeom prst="ellipse">
            <a:avLst/>
          </a:prstGeom>
          <a:solidFill>
            <a:srgbClr val="F2F6F9"/>
          </a:solidFill>
          <a:ln/>
        </p:spPr>
      </p:sp>
      <p:sp>
        <p:nvSpPr>
          <p:cNvPr id="3" name="Shape 1"/>
          <p:cNvSpPr/>
          <p:nvPr/>
        </p:nvSpPr>
        <p:spPr>
          <a:xfrm>
            <a:off x="10424160" y="91440"/>
            <a:ext cx="1828800" cy="1828800"/>
          </a:xfrm>
          <a:prstGeom prst="ellipse">
            <a:avLst/>
          </a:prstGeom>
          <a:solidFill>
            <a:srgbClr val="12B5CB">
              <a:alpha val="15000"/>
            </a:srgbClr>
          </a:solidFill>
          <a:ln/>
        </p:spPr>
      </p:sp>
      <p:sp>
        <p:nvSpPr>
          <p:cNvPr id="4" name="Text 2"/>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DATA FUNDAMENTALS</a:t>
            </a:r>
            <a:endParaRPr lang="en-US" sz="1150" dirty="0"/>
          </a:p>
        </p:txBody>
      </p:sp>
      <p:sp>
        <p:nvSpPr>
          <p:cNvPr id="5" name="Text 3"/>
          <p:cNvSpPr/>
          <p:nvPr/>
        </p:nvSpPr>
        <p:spPr>
          <a:xfrm>
            <a:off x="548640" y="960120"/>
            <a:ext cx="9692640" cy="1005840"/>
          </a:xfrm>
          <a:prstGeom prst="rect">
            <a:avLst/>
          </a:prstGeom>
          <a:noFill/>
          <a:ln/>
        </p:spPr>
        <p:txBody>
          <a:bodyPr wrap="square" lIns="0" tIns="0" rIns="0" bIns="0" rtlCol="0" anchor="ctr"/>
          <a:lstStyle/>
          <a:p>
            <a:pPr indent="0" marL="0">
              <a:lnSpc>
                <a:spcPts val="3400"/>
              </a:lnSpc>
              <a:buNone/>
            </a:pPr>
            <a:r>
              <a:rPr lang="en-US" sz="3000" b="1" dirty="0">
                <a:solidFill>
                  <a:srgbClr val="0D2C4B"/>
                </a:solidFill>
                <a:latin typeface="Cambria" pitchFamily="34" charset="0"/>
                <a:ea typeface="Cambria" pitchFamily="34" charset="-122"/>
                <a:cs typeface="Cambria" pitchFamily="34" charset="-120"/>
              </a:rPr>
              <a:t>Structured, Semi-Structured &amp; Unstructured Data</a:t>
            </a:r>
            <a:endParaRPr lang="en-US" sz="3000" dirty="0"/>
          </a:p>
        </p:txBody>
      </p:sp>
      <p:sp>
        <p:nvSpPr>
          <p:cNvPr id="6" name="Text 4"/>
          <p:cNvSpPr/>
          <p:nvPr/>
        </p:nvSpPr>
        <p:spPr>
          <a:xfrm>
            <a:off x="548640" y="2148840"/>
            <a:ext cx="9509760" cy="2377440"/>
          </a:xfrm>
          <a:prstGeom prst="rect">
            <a:avLst/>
          </a:prstGeom>
          <a:noFill/>
          <a:ln/>
        </p:spPr>
        <p:txBody>
          <a:bodyPr wrap="square" lIns="0" tIns="0" rIns="0" bIns="0" rtlCol="0" anchor="ctr"/>
          <a:lstStyle/>
          <a:p>
            <a:pPr indent="0" marL="0">
              <a:lnSpc>
                <a:spcPts val="2500"/>
              </a:lnSpc>
              <a:buNone/>
            </a:pPr>
            <a:r>
              <a:rPr lang="en-US" sz="1600" dirty="0">
                <a:solidFill>
                  <a:srgbClr val="1C2B39"/>
                </a:solidFill>
                <a:latin typeface="Calibri" pitchFamily="34" charset="0"/>
                <a:ea typeface="Calibri" pitchFamily="34" charset="-122"/>
                <a:cs typeface="Calibri" pitchFamily="34" charset="-120"/>
              </a:rPr>
              <a:t>In today's data-driven economy, businesses are inundated with information from thousands of sources — CRMs, web apps, IoT devices, social media, internal systems, and third-party APIs. To make sense of it and drive smarter decisions, organizations must understand how data is categorized and handled.</a:t>
            </a:r>
            <a:endParaRPr lang="en-US" sz="1600" dirty="0"/>
          </a:p>
        </p:txBody>
      </p:sp>
      <p:sp>
        <p:nvSpPr>
          <p:cNvPr id="7" name="Shape 5"/>
          <p:cNvSpPr/>
          <p:nvPr/>
        </p:nvSpPr>
        <p:spPr>
          <a:xfrm>
            <a:off x="548640" y="4892040"/>
            <a:ext cx="1252728" cy="384048"/>
          </a:xfrm>
          <a:prstGeom prst="roundRect">
            <a:avLst>
              <a:gd name="adj" fmla="val 50000"/>
            </a:avLst>
          </a:prstGeom>
          <a:solidFill>
            <a:srgbClr val="F2F6F9"/>
          </a:solidFill>
          <a:ln w="12700">
            <a:solidFill>
              <a:srgbClr val="DCE6ED"/>
            </a:solidFill>
            <a:prstDash val="solid"/>
          </a:ln>
        </p:spPr>
      </p:sp>
      <p:sp>
        <p:nvSpPr>
          <p:cNvPr id="8" name="Text 6"/>
          <p:cNvSpPr/>
          <p:nvPr/>
        </p:nvSpPr>
        <p:spPr>
          <a:xfrm>
            <a:off x="548640" y="4892040"/>
            <a:ext cx="1252728"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Structured</a:t>
            </a:r>
            <a:endParaRPr lang="en-US" sz="1150" dirty="0"/>
          </a:p>
        </p:txBody>
      </p:sp>
      <p:sp>
        <p:nvSpPr>
          <p:cNvPr id="9" name="Shape 7"/>
          <p:cNvSpPr/>
          <p:nvPr/>
        </p:nvSpPr>
        <p:spPr>
          <a:xfrm>
            <a:off x="2002536" y="4892040"/>
            <a:ext cx="1732788" cy="384048"/>
          </a:xfrm>
          <a:prstGeom prst="roundRect">
            <a:avLst>
              <a:gd name="adj" fmla="val 50000"/>
            </a:avLst>
          </a:prstGeom>
          <a:solidFill>
            <a:srgbClr val="F2F6F9"/>
          </a:solidFill>
          <a:ln w="12700">
            <a:solidFill>
              <a:srgbClr val="DCE6ED"/>
            </a:solidFill>
            <a:prstDash val="solid"/>
          </a:ln>
        </p:spPr>
      </p:sp>
      <p:sp>
        <p:nvSpPr>
          <p:cNvPr id="10" name="Text 8"/>
          <p:cNvSpPr/>
          <p:nvPr/>
        </p:nvSpPr>
        <p:spPr>
          <a:xfrm>
            <a:off x="2002536" y="4892040"/>
            <a:ext cx="1732788"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Semi-Structured</a:t>
            </a:r>
            <a:endParaRPr lang="en-US" sz="1150" dirty="0"/>
          </a:p>
        </p:txBody>
      </p:sp>
      <p:sp>
        <p:nvSpPr>
          <p:cNvPr id="11" name="Shape 9"/>
          <p:cNvSpPr/>
          <p:nvPr/>
        </p:nvSpPr>
        <p:spPr>
          <a:xfrm>
            <a:off x="3936492" y="4892040"/>
            <a:ext cx="1444752" cy="384048"/>
          </a:xfrm>
          <a:prstGeom prst="roundRect">
            <a:avLst>
              <a:gd name="adj" fmla="val 50000"/>
            </a:avLst>
          </a:prstGeom>
          <a:solidFill>
            <a:srgbClr val="F2F6F9"/>
          </a:solidFill>
          <a:ln w="12700">
            <a:solidFill>
              <a:srgbClr val="DCE6ED"/>
            </a:solidFill>
            <a:prstDash val="solid"/>
          </a:ln>
        </p:spPr>
      </p:sp>
      <p:sp>
        <p:nvSpPr>
          <p:cNvPr id="12" name="Text 10"/>
          <p:cNvSpPr/>
          <p:nvPr/>
        </p:nvSpPr>
        <p:spPr>
          <a:xfrm>
            <a:off x="3936492" y="4892040"/>
            <a:ext cx="1444752"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Unstructured</a:t>
            </a:r>
            <a:endParaRPr lang="en-US" sz="1150" dirty="0"/>
          </a:p>
        </p:txBody>
      </p:sp>
      <p:sp>
        <p:nvSpPr>
          <p:cNvPr id="13" name="Text 11"/>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DATA FUNDAMENTALS</a:t>
            </a:r>
            <a:endParaRPr lang="en-US" sz="900" dirty="0"/>
          </a:p>
        </p:txBody>
      </p:sp>
      <p:sp>
        <p:nvSpPr>
          <p:cNvPr id="14" name="Text 12"/>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DATA FUNDAMENTALS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Structured vs. Semi-Structured Data</a:t>
            </a:r>
            <a:endParaRPr lang="en-US" sz="2700" dirty="0"/>
          </a:p>
        </p:txBody>
      </p:sp>
      <p:sp>
        <p:nvSpPr>
          <p:cNvPr id="4" name="Shape 2"/>
          <p:cNvSpPr/>
          <p:nvPr/>
        </p:nvSpPr>
        <p:spPr>
          <a:xfrm>
            <a:off x="548640" y="1691640"/>
            <a:ext cx="5257800" cy="4206240"/>
          </a:xfrm>
          <a:prstGeom prst="roundRect">
            <a:avLst>
              <a:gd name="adj" fmla="val 1739"/>
            </a:avLst>
          </a:prstGeom>
          <a:solidFill>
            <a:srgbClr val="F2F6F9"/>
          </a:solidFill>
          <a:ln/>
        </p:spPr>
      </p:sp>
      <p:sp>
        <p:nvSpPr>
          <p:cNvPr id="5" name="Shape 3"/>
          <p:cNvSpPr/>
          <p:nvPr/>
        </p:nvSpPr>
        <p:spPr>
          <a:xfrm>
            <a:off x="548640" y="1691640"/>
            <a:ext cx="5257800" cy="566928"/>
          </a:xfrm>
          <a:prstGeom prst="roundRect">
            <a:avLst>
              <a:gd name="adj" fmla="val 12903"/>
            </a:avLst>
          </a:prstGeom>
          <a:solidFill>
            <a:srgbClr val="0D2C4B"/>
          </a:solidFill>
          <a:ln/>
        </p:spPr>
      </p:sp>
      <p:sp>
        <p:nvSpPr>
          <p:cNvPr id="6" name="Shape 4"/>
          <p:cNvSpPr/>
          <p:nvPr/>
        </p:nvSpPr>
        <p:spPr>
          <a:xfrm>
            <a:off x="548640" y="2011680"/>
            <a:ext cx="5257800" cy="246888"/>
          </a:xfrm>
          <a:prstGeom prst="rect">
            <a:avLst/>
          </a:prstGeom>
          <a:solidFill>
            <a:srgbClr val="0D2C4B"/>
          </a:solidFill>
          <a:ln/>
        </p:spPr>
      </p:sp>
      <p:sp>
        <p:nvSpPr>
          <p:cNvPr id="7" name="Text 5"/>
          <p:cNvSpPr/>
          <p:nvPr/>
        </p:nvSpPr>
        <p:spPr>
          <a:xfrm>
            <a:off x="822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Structured Data</a:t>
            </a:r>
            <a:endParaRPr lang="en-US" sz="1550" dirty="0"/>
          </a:p>
        </p:txBody>
      </p:sp>
      <p:sp>
        <p:nvSpPr>
          <p:cNvPr id="8" name="Shape 6"/>
          <p:cNvSpPr/>
          <p:nvPr/>
        </p:nvSpPr>
        <p:spPr>
          <a:xfrm>
            <a:off x="822960" y="2523744"/>
            <a:ext cx="82296" cy="82296"/>
          </a:xfrm>
          <a:prstGeom prst="ellipse">
            <a:avLst/>
          </a:prstGeom>
          <a:solidFill>
            <a:srgbClr val="0D2C4B"/>
          </a:solidFill>
          <a:ln/>
        </p:spPr>
      </p:sp>
      <p:sp>
        <p:nvSpPr>
          <p:cNvPr id="9" name="Text 7"/>
          <p:cNvSpPr/>
          <p:nvPr/>
        </p:nvSpPr>
        <p:spPr>
          <a:xfrm>
            <a:off x="1024128" y="2414016"/>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Definition</a:t>
            </a:r>
            <a:endParaRPr lang="en-US" sz="1250" dirty="0"/>
          </a:p>
        </p:txBody>
      </p:sp>
      <p:sp>
        <p:nvSpPr>
          <p:cNvPr id="10" name="Text 8"/>
          <p:cNvSpPr/>
          <p:nvPr/>
        </p:nvSpPr>
        <p:spPr>
          <a:xfrm>
            <a:off x="1024128" y="2651760"/>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Highly organized data stored in a fixed, tabular format of rows and columns.</a:t>
            </a:r>
            <a:endParaRPr lang="en-US" sz="1080" dirty="0"/>
          </a:p>
        </p:txBody>
      </p:sp>
      <p:sp>
        <p:nvSpPr>
          <p:cNvPr id="11" name="Shape 9"/>
          <p:cNvSpPr/>
          <p:nvPr/>
        </p:nvSpPr>
        <p:spPr>
          <a:xfrm>
            <a:off x="822960" y="3182112"/>
            <a:ext cx="82296" cy="82296"/>
          </a:xfrm>
          <a:prstGeom prst="ellipse">
            <a:avLst/>
          </a:prstGeom>
          <a:solidFill>
            <a:srgbClr val="0D2C4B"/>
          </a:solidFill>
          <a:ln/>
        </p:spPr>
      </p:sp>
      <p:sp>
        <p:nvSpPr>
          <p:cNvPr id="12" name="Text 10"/>
          <p:cNvSpPr/>
          <p:nvPr/>
        </p:nvSpPr>
        <p:spPr>
          <a:xfrm>
            <a:off x="1024128" y="3072384"/>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Characteristics</a:t>
            </a:r>
            <a:endParaRPr lang="en-US" sz="1250" dirty="0"/>
          </a:p>
        </p:txBody>
      </p:sp>
      <p:sp>
        <p:nvSpPr>
          <p:cNvPr id="13" name="Text 11"/>
          <p:cNvSpPr/>
          <p:nvPr/>
        </p:nvSpPr>
        <p:spPr>
          <a:xfrm>
            <a:off x="1024128" y="3310128"/>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Follows a predefined schema; easy to query with SQL; stored in relational databases (RDBMS).</a:t>
            </a:r>
            <a:endParaRPr lang="en-US" sz="1080" dirty="0"/>
          </a:p>
        </p:txBody>
      </p:sp>
      <p:sp>
        <p:nvSpPr>
          <p:cNvPr id="14" name="Shape 12"/>
          <p:cNvSpPr/>
          <p:nvPr/>
        </p:nvSpPr>
        <p:spPr>
          <a:xfrm>
            <a:off x="822960" y="3840480"/>
            <a:ext cx="82296" cy="82296"/>
          </a:xfrm>
          <a:prstGeom prst="ellipse">
            <a:avLst/>
          </a:prstGeom>
          <a:solidFill>
            <a:srgbClr val="0D2C4B"/>
          </a:solidFill>
          <a:ln/>
        </p:spPr>
      </p:sp>
      <p:sp>
        <p:nvSpPr>
          <p:cNvPr id="15" name="Text 13"/>
          <p:cNvSpPr/>
          <p:nvPr/>
        </p:nvSpPr>
        <p:spPr>
          <a:xfrm>
            <a:off x="1024128" y="3730752"/>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Examples</a:t>
            </a:r>
            <a:endParaRPr lang="en-US" sz="1250" dirty="0"/>
          </a:p>
        </p:txBody>
      </p:sp>
      <p:sp>
        <p:nvSpPr>
          <p:cNvPr id="16" name="Text 14"/>
          <p:cNvSpPr/>
          <p:nvPr/>
        </p:nvSpPr>
        <p:spPr>
          <a:xfrm>
            <a:off x="1024128" y="3968496"/>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Excel sheets, SQL tables, bank transaction records, employee records.</a:t>
            </a:r>
            <a:endParaRPr lang="en-US" sz="1080" dirty="0"/>
          </a:p>
        </p:txBody>
      </p:sp>
      <p:sp>
        <p:nvSpPr>
          <p:cNvPr id="17" name="Shape 15"/>
          <p:cNvSpPr/>
          <p:nvPr/>
        </p:nvSpPr>
        <p:spPr>
          <a:xfrm>
            <a:off x="6263640" y="1691640"/>
            <a:ext cx="5257800" cy="4206240"/>
          </a:xfrm>
          <a:prstGeom prst="roundRect">
            <a:avLst>
              <a:gd name="adj" fmla="val 1739"/>
            </a:avLst>
          </a:prstGeom>
          <a:solidFill>
            <a:srgbClr val="F2F6F9"/>
          </a:solidFill>
          <a:ln/>
        </p:spPr>
      </p:sp>
      <p:sp>
        <p:nvSpPr>
          <p:cNvPr id="18" name="Shape 16"/>
          <p:cNvSpPr/>
          <p:nvPr/>
        </p:nvSpPr>
        <p:spPr>
          <a:xfrm>
            <a:off x="6263640" y="1691640"/>
            <a:ext cx="5257800" cy="566928"/>
          </a:xfrm>
          <a:prstGeom prst="roundRect">
            <a:avLst>
              <a:gd name="adj" fmla="val 12903"/>
            </a:avLst>
          </a:prstGeom>
          <a:solidFill>
            <a:srgbClr val="0B8A9C"/>
          </a:solidFill>
          <a:ln/>
        </p:spPr>
      </p:sp>
      <p:sp>
        <p:nvSpPr>
          <p:cNvPr id="19" name="Shape 17"/>
          <p:cNvSpPr/>
          <p:nvPr/>
        </p:nvSpPr>
        <p:spPr>
          <a:xfrm>
            <a:off x="6263640" y="2011680"/>
            <a:ext cx="5257800" cy="246888"/>
          </a:xfrm>
          <a:prstGeom prst="rect">
            <a:avLst/>
          </a:prstGeom>
          <a:solidFill>
            <a:srgbClr val="0B8A9C"/>
          </a:solidFill>
          <a:ln/>
        </p:spPr>
      </p:sp>
      <p:sp>
        <p:nvSpPr>
          <p:cNvPr id="20" name="Text 18"/>
          <p:cNvSpPr/>
          <p:nvPr/>
        </p:nvSpPr>
        <p:spPr>
          <a:xfrm>
            <a:off x="6537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Semi-Structured Data</a:t>
            </a:r>
            <a:endParaRPr lang="en-US" sz="1550" dirty="0"/>
          </a:p>
        </p:txBody>
      </p:sp>
      <p:sp>
        <p:nvSpPr>
          <p:cNvPr id="21" name="Shape 19"/>
          <p:cNvSpPr/>
          <p:nvPr/>
        </p:nvSpPr>
        <p:spPr>
          <a:xfrm>
            <a:off x="6537960" y="2523744"/>
            <a:ext cx="82296" cy="82296"/>
          </a:xfrm>
          <a:prstGeom prst="ellipse">
            <a:avLst/>
          </a:prstGeom>
          <a:solidFill>
            <a:srgbClr val="0B8A9C"/>
          </a:solidFill>
          <a:ln/>
        </p:spPr>
      </p:sp>
      <p:sp>
        <p:nvSpPr>
          <p:cNvPr id="22" name="Text 20"/>
          <p:cNvSpPr/>
          <p:nvPr/>
        </p:nvSpPr>
        <p:spPr>
          <a:xfrm>
            <a:off x="6739128" y="2414016"/>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Definition</a:t>
            </a:r>
            <a:endParaRPr lang="en-US" sz="1250" dirty="0"/>
          </a:p>
        </p:txBody>
      </p:sp>
      <p:sp>
        <p:nvSpPr>
          <p:cNvPr id="23" name="Text 21"/>
          <p:cNvSpPr/>
          <p:nvPr/>
        </p:nvSpPr>
        <p:spPr>
          <a:xfrm>
            <a:off x="6739128" y="2651760"/>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Data with no fixed row-column format, but organized using tags or markers.</a:t>
            </a:r>
            <a:endParaRPr lang="en-US" sz="1080" dirty="0"/>
          </a:p>
        </p:txBody>
      </p:sp>
      <p:sp>
        <p:nvSpPr>
          <p:cNvPr id="24" name="Shape 22"/>
          <p:cNvSpPr/>
          <p:nvPr/>
        </p:nvSpPr>
        <p:spPr>
          <a:xfrm>
            <a:off x="6537960" y="3182112"/>
            <a:ext cx="82296" cy="82296"/>
          </a:xfrm>
          <a:prstGeom prst="ellipse">
            <a:avLst/>
          </a:prstGeom>
          <a:solidFill>
            <a:srgbClr val="0B8A9C"/>
          </a:solidFill>
          <a:ln/>
        </p:spPr>
      </p:sp>
      <p:sp>
        <p:nvSpPr>
          <p:cNvPr id="25" name="Text 23"/>
          <p:cNvSpPr/>
          <p:nvPr/>
        </p:nvSpPr>
        <p:spPr>
          <a:xfrm>
            <a:off x="6739128" y="3072384"/>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Characteristics</a:t>
            </a:r>
            <a:endParaRPr lang="en-US" sz="1250" dirty="0"/>
          </a:p>
        </p:txBody>
      </p:sp>
      <p:sp>
        <p:nvSpPr>
          <p:cNvPr id="26" name="Text 24"/>
          <p:cNvSpPr/>
          <p:nvPr/>
        </p:nvSpPr>
        <p:spPr>
          <a:xfrm>
            <a:off x="6739128" y="3310128"/>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Has tags or key-value pairs; easier to organize than unstructured data.</a:t>
            </a:r>
            <a:endParaRPr lang="en-US" sz="1080" dirty="0"/>
          </a:p>
        </p:txBody>
      </p:sp>
      <p:sp>
        <p:nvSpPr>
          <p:cNvPr id="27" name="Shape 25"/>
          <p:cNvSpPr/>
          <p:nvPr/>
        </p:nvSpPr>
        <p:spPr>
          <a:xfrm>
            <a:off x="6537960" y="3840480"/>
            <a:ext cx="82296" cy="82296"/>
          </a:xfrm>
          <a:prstGeom prst="ellipse">
            <a:avLst/>
          </a:prstGeom>
          <a:solidFill>
            <a:srgbClr val="0B8A9C"/>
          </a:solidFill>
          <a:ln/>
        </p:spPr>
      </p:sp>
      <p:sp>
        <p:nvSpPr>
          <p:cNvPr id="28" name="Text 26"/>
          <p:cNvSpPr/>
          <p:nvPr/>
        </p:nvSpPr>
        <p:spPr>
          <a:xfrm>
            <a:off x="6739128" y="3730752"/>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Examples</a:t>
            </a:r>
            <a:endParaRPr lang="en-US" sz="1250" dirty="0"/>
          </a:p>
        </p:txBody>
      </p:sp>
      <p:sp>
        <p:nvSpPr>
          <p:cNvPr id="29" name="Text 27"/>
          <p:cNvSpPr/>
          <p:nvPr/>
        </p:nvSpPr>
        <p:spPr>
          <a:xfrm>
            <a:off x="6739128" y="3968496"/>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JSON, XML, HTML pages, emails, NoSQL documents (e.g., MongoDB).</a:t>
            </a:r>
            <a:endParaRPr lang="en-US" sz="1080" dirty="0"/>
          </a:p>
        </p:txBody>
      </p:sp>
      <p:sp>
        <p:nvSpPr>
          <p:cNvPr id="30" name="Text 28"/>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DATA FUNDAMENTALS</a:t>
            </a:r>
            <a:endParaRPr lang="en-US" sz="900" dirty="0"/>
          </a:p>
        </p:txBody>
      </p:sp>
      <p:sp>
        <p:nvSpPr>
          <p:cNvPr id="31" name="Text 29"/>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DATA FUNDAMENTALS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Unstructured Data</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Definition</a:t>
            </a:r>
            <a:endParaRPr lang="en-US" sz="1350" dirty="0"/>
          </a:p>
        </p:txBody>
      </p:sp>
      <p:sp>
        <p:nvSpPr>
          <p:cNvPr id="7" name="Text 5"/>
          <p:cNvSpPr/>
          <p:nvPr/>
        </p:nvSpPr>
        <p:spPr>
          <a:xfrm>
            <a:off x="1078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Data with no predefined structure or schema — it doesn't fit into rows and columns.</a:t>
            </a:r>
            <a:endParaRPr lang="en-US" sz="1150" dirty="0"/>
          </a:p>
        </p:txBody>
      </p:sp>
      <p:sp>
        <p:nvSpPr>
          <p:cNvPr id="8" name="Shape 6"/>
          <p:cNvSpPr/>
          <p:nvPr/>
        </p:nvSpPr>
        <p:spPr>
          <a:xfrm>
            <a:off x="548640" y="2642616"/>
            <a:ext cx="384048" cy="384048"/>
          </a:xfrm>
          <a:prstGeom prst="ellipse">
            <a:avLst/>
          </a:prstGeom>
          <a:solidFill>
            <a:srgbClr val="0D2C4B"/>
          </a:solidFill>
          <a:ln/>
        </p:spPr>
      </p:sp>
      <p:sp>
        <p:nvSpPr>
          <p:cNvPr id="9" name="Text 7"/>
          <p:cNvSpPr/>
          <p:nvPr/>
        </p:nvSpPr>
        <p:spPr>
          <a:xfrm>
            <a:off x="548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Characteristics</a:t>
            </a:r>
            <a:endParaRPr lang="en-US" sz="1350" dirty="0"/>
          </a:p>
        </p:txBody>
      </p:sp>
      <p:sp>
        <p:nvSpPr>
          <p:cNvPr id="11" name="Text 9"/>
          <p:cNvSpPr/>
          <p:nvPr/>
        </p:nvSpPr>
        <p:spPr>
          <a:xfrm>
            <a:off x="1078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Mostly free-form; difficult to store in traditional databases; requires text mining, NLP, or image processing to analyze.</a:t>
            </a:r>
            <a:endParaRPr lang="en-US" sz="1150" dirty="0"/>
          </a:p>
        </p:txBody>
      </p:sp>
      <p:sp>
        <p:nvSpPr>
          <p:cNvPr id="12" name="Shape 10"/>
          <p:cNvSpPr/>
          <p:nvPr/>
        </p:nvSpPr>
        <p:spPr>
          <a:xfrm>
            <a:off x="6263640" y="1591056"/>
            <a:ext cx="384048" cy="384048"/>
          </a:xfrm>
          <a:prstGeom prst="ellipse">
            <a:avLst/>
          </a:prstGeom>
          <a:solidFill>
            <a:srgbClr val="0D2C4B"/>
          </a:solidFill>
          <a:ln/>
        </p:spPr>
      </p:sp>
      <p:sp>
        <p:nvSpPr>
          <p:cNvPr id="13" name="Text 11"/>
          <p:cNvSpPr/>
          <p:nvPr/>
        </p:nvSpPr>
        <p:spPr>
          <a:xfrm>
            <a:off x="6263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6793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Scale</a:t>
            </a:r>
            <a:endParaRPr lang="en-US" sz="1350" dirty="0"/>
          </a:p>
        </p:txBody>
      </p:sp>
      <p:sp>
        <p:nvSpPr>
          <p:cNvPr id="15" name="Text 13"/>
          <p:cNvSpPr/>
          <p:nvPr/>
        </p:nvSpPr>
        <p:spPr>
          <a:xfrm>
            <a:off x="6793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Makes up a large portion of all real-world data generated today.</a:t>
            </a:r>
            <a:endParaRPr lang="en-US" sz="1150" dirty="0"/>
          </a:p>
        </p:txBody>
      </p:sp>
      <p:sp>
        <p:nvSpPr>
          <p:cNvPr id="16" name="Shape 14"/>
          <p:cNvSpPr/>
          <p:nvPr/>
        </p:nvSpPr>
        <p:spPr>
          <a:xfrm>
            <a:off x="6263640" y="2642616"/>
            <a:ext cx="384048" cy="384048"/>
          </a:xfrm>
          <a:prstGeom prst="ellipse">
            <a:avLst/>
          </a:prstGeom>
          <a:solidFill>
            <a:srgbClr val="0D2C4B"/>
          </a:solidFill>
          <a:ln/>
        </p:spPr>
      </p:sp>
      <p:sp>
        <p:nvSpPr>
          <p:cNvPr id="17" name="Text 15"/>
          <p:cNvSpPr/>
          <p:nvPr/>
        </p:nvSpPr>
        <p:spPr>
          <a:xfrm>
            <a:off x="6263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6793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Examples</a:t>
            </a:r>
            <a:endParaRPr lang="en-US" sz="1350" dirty="0"/>
          </a:p>
        </p:txBody>
      </p:sp>
      <p:sp>
        <p:nvSpPr>
          <p:cNvPr id="19" name="Text 17"/>
          <p:cNvSpPr/>
          <p:nvPr/>
        </p:nvSpPr>
        <p:spPr>
          <a:xfrm>
            <a:off x="6793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Word documents, PDFs, images, audio and video files, social media posts, scanned documents.</a:t>
            </a:r>
            <a:endParaRPr lang="en-US" sz="1150" dirty="0"/>
          </a:p>
        </p:txBody>
      </p:sp>
      <p:sp>
        <p:nvSpPr>
          <p:cNvPr id="20" name="Text 18"/>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DATA FUNDAMENTALS</a:t>
            </a:r>
            <a:endParaRPr lang="en-US" sz="900" dirty="0"/>
          </a:p>
        </p:txBody>
      </p:sp>
      <p:sp>
        <p:nvSpPr>
          <p:cNvPr id="21" name="Text 19"/>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81826"/>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DATA FUNDAMENTALS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How Much Data Is Created Every Day</a:t>
            </a:r>
            <a:endParaRPr lang="en-US" sz="2700" dirty="0"/>
          </a:p>
        </p:txBody>
      </p:sp>
      <p:sp>
        <p:nvSpPr>
          <p:cNvPr id="4" name="Text 2"/>
          <p:cNvSpPr/>
          <p:nvPr/>
        </p:nvSpPr>
        <p:spPr>
          <a:xfrm>
            <a:off x="548640" y="1536192"/>
            <a:ext cx="10607040" cy="457200"/>
          </a:xfrm>
          <a:prstGeom prst="rect">
            <a:avLst/>
          </a:prstGeom>
          <a:noFill/>
          <a:ln/>
        </p:spPr>
        <p:txBody>
          <a:bodyPr wrap="square" lIns="0" tIns="0" rIns="0" bIns="0" rtlCol="0" anchor="ctr"/>
          <a:lstStyle/>
          <a:p>
            <a:pPr indent="0" marL="0">
              <a:lnSpc>
                <a:spcPts val="1700"/>
              </a:lnSpc>
              <a:buNone/>
            </a:pPr>
            <a:r>
              <a:rPr lang="en-US" sz="1300" dirty="0">
                <a:solidFill>
                  <a:srgbClr val="9FB6C9"/>
                </a:solidFill>
                <a:latin typeface="Calibri" pitchFamily="34" charset="0"/>
                <a:ea typeface="Calibri" pitchFamily="34" charset="-122"/>
                <a:cs typeface="Calibri" pitchFamily="34" charset="-120"/>
              </a:rPr>
              <a:t>The world's data volume keeps compounding — most of it unstructured.</a:t>
            </a:r>
            <a:endParaRPr lang="en-US" sz="1300" dirty="0"/>
          </a:p>
        </p:txBody>
      </p:sp>
      <p:sp>
        <p:nvSpPr>
          <p:cNvPr id="5" name="Shape 3"/>
          <p:cNvSpPr/>
          <p:nvPr/>
        </p:nvSpPr>
        <p:spPr>
          <a:xfrm>
            <a:off x="548640" y="2331720"/>
            <a:ext cx="3454298" cy="3108960"/>
          </a:xfrm>
          <a:prstGeom prst="roundRect">
            <a:avLst>
              <a:gd name="adj" fmla="val 2353"/>
            </a:avLst>
          </a:prstGeom>
          <a:solidFill>
            <a:srgbClr val="16324F"/>
          </a:solidFill>
          <a:ln/>
        </p:spPr>
      </p:sp>
      <p:sp>
        <p:nvSpPr>
          <p:cNvPr id="6" name="Text 4"/>
          <p:cNvSpPr/>
          <p:nvPr/>
        </p:nvSpPr>
        <p:spPr>
          <a:xfrm>
            <a:off x="731520" y="2651760"/>
            <a:ext cx="3088538" cy="1005840"/>
          </a:xfrm>
          <a:prstGeom prst="rect">
            <a:avLst/>
          </a:prstGeom>
          <a:noFill/>
          <a:ln/>
        </p:spPr>
        <p:txBody>
          <a:bodyPr wrap="square" lIns="0" tIns="0" rIns="0" bIns="0" rtlCol="0" anchor="ctr"/>
          <a:lstStyle/>
          <a:p>
            <a:pPr algn="ctr" indent="0" marL="0">
              <a:buNone/>
            </a:pPr>
            <a:r>
              <a:rPr lang="en-US" sz="4000" b="1" dirty="0">
                <a:solidFill>
                  <a:srgbClr val="12B5CB"/>
                </a:solidFill>
                <a:latin typeface="Cambria" pitchFamily="34" charset="0"/>
                <a:ea typeface="Cambria" pitchFamily="34" charset="-122"/>
                <a:cs typeface="Cambria" pitchFamily="34" charset="-120"/>
              </a:rPr>
              <a:t>402M TB</a:t>
            </a:r>
            <a:endParaRPr lang="en-US" sz="4000" dirty="0"/>
          </a:p>
        </p:txBody>
      </p:sp>
      <p:sp>
        <p:nvSpPr>
          <p:cNvPr id="7" name="Text 5"/>
          <p:cNvSpPr/>
          <p:nvPr/>
        </p:nvSpPr>
        <p:spPr>
          <a:xfrm>
            <a:off x="777240" y="3703320"/>
            <a:ext cx="2997098" cy="1371600"/>
          </a:xfrm>
          <a:prstGeom prst="rect">
            <a:avLst/>
          </a:prstGeom>
          <a:noFill/>
          <a:ln/>
        </p:spPr>
        <p:txBody>
          <a:bodyPr wrap="square" lIns="0" tIns="0" rIns="0" bIns="0" rtlCol="0" anchor="ctr"/>
          <a:lstStyle/>
          <a:p>
            <a:pPr algn="ctr" indent="0" marL="0">
              <a:lnSpc>
                <a:spcPts val="1600"/>
              </a:lnSpc>
              <a:buNone/>
            </a:pPr>
            <a:r>
              <a:rPr lang="en-US" sz="1250" dirty="0">
                <a:solidFill>
                  <a:srgbClr val="FFFFFF"/>
                </a:solidFill>
                <a:latin typeface="Calibri" pitchFamily="34" charset="0"/>
                <a:ea typeface="Calibri" pitchFamily="34" charset="-122"/>
                <a:cs typeface="Calibri" pitchFamily="34" charset="-120"/>
              </a:rPr>
              <a:t>Data created, captured, copied, and consumed worldwide each day</a:t>
            </a:r>
            <a:endParaRPr lang="en-US" sz="1250" dirty="0"/>
          </a:p>
        </p:txBody>
      </p:sp>
      <p:sp>
        <p:nvSpPr>
          <p:cNvPr id="8" name="Shape 6"/>
          <p:cNvSpPr/>
          <p:nvPr/>
        </p:nvSpPr>
        <p:spPr>
          <a:xfrm>
            <a:off x="4368698" y="2331720"/>
            <a:ext cx="3454298" cy="3108960"/>
          </a:xfrm>
          <a:prstGeom prst="roundRect">
            <a:avLst>
              <a:gd name="adj" fmla="val 2353"/>
            </a:avLst>
          </a:prstGeom>
          <a:solidFill>
            <a:srgbClr val="16324F"/>
          </a:solidFill>
          <a:ln/>
        </p:spPr>
      </p:sp>
      <p:sp>
        <p:nvSpPr>
          <p:cNvPr id="9" name="Text 7"/>
          <p:cNvSpPr/>
          <p:nvPr/>
        </p:nvSpPr>
        <p:spPr>
          <a:xfrm>
            <a:off x="4551578" y="2651760"/>
            <a:ext cx="3088538" cy="1005840"/>
          </a:xfrm>
          <a:prstGeom prst="rect">
            <a:avLst/>
          </a:prstGeom>
          <a:noFill/>
          <a:ln/>
        </p:spPr>
        <p:txBody>
          <a:bodyPr wrap="square" lIns="0" tIns="0" rIns="0" bIns="0" rtlCol="0" anchor="ctr"/>
          <a:lstStyle/>
          <a:p>
            <a:pPr algn="ctr" indent="0" marL="0">
              <a:buNone/>
            </a:pPr>
            <a:r>
              <a:rPr lang="en-US" sz="4000" b="1" dirty="0">
                <a:solidFill>
                  <a:srgbClr val="12B5CB"/>
                </a:solidFill>
                <a:latin typeface="Cambria" pitchFamily="34" charset="0"/>
                <a:ea typeface="Cambria" pitchFamily="34" charset="-122"/>
                <a:cs typeface="Cambria" pitchFamily="34" charset="-120"/>
              </a:rPr>
              <a:t>90%+</a:t>
            </a:r>
            <a:endParaRPr lang="en-US" sz="4000" dirty="0"/>
          </a:p>
        </p:txBody>
      </p:sp>
      <p:sp>
        <p:nvSpPr>
          <p:cNvPr id="10" name="Text 8"/>
          <p:cNvSpPr/>
          <p:nvPr/>
        </p:nvSpPr>
        <p:spPr>
          <a:xfrm>
            <a:off x="4597298" y="3703320"/>
            <a:ext cx="2997098" cy="1371600"/>
          </a:xfrm>
          <a:prstGeom prst="rect">
            <a:avLst/>
          </a:prstGeom>
          <a:noFill/>
          <a:ln/>
        </p:spPr>
        <p:txBody>
          <a:bodyPr wrap="square" lIns="0" tIns="0" rIns="0" bIns="0" rtlCol="0" anchor="ctr"/>
          <a:lstStyle/>
          <a:p>
            <a:pPr algn="ctr" indent="0" marL="0">
              <a:lnSpc>
                <a:spcPts val="1600"/>
              </a:lnSpc>
              <a:buNone/>
            </a:pPr>
            <a:r>
              <a:rPr lang="en-US" sz="1250" dirty="0">
                <a:solidFill>
                  <a:srgbClr val="FFFFFF"/>
                </a:solidFill>
                <a:latin typeface="Calibri" pitchFamily="34" charset="0"/>
                <a:ea typeface="Calibri" pitchFamily="34" charset="-122"/>
                <a:cs typeface="Calibri" pitchFamily="34" charset="-120"/>
              </a:rPr>
              <a:t>Share of the world's data estimated to be unstructured</a:t>
            </a:r>
            <a:endParaRPr lang="en-US" sz="1250" dirty="0"/>
          </a:p>
        </p:txBody>
      </p:sp>
      <p:sp>
        <p:nvSpPr>
          <p:cNvPr id="11" name="Shape 9"/>
          <p:cNvSpPr/>
          <p:nvPr/>
        </p:nvSpPr>
        <p:spPr>
          <a:xfrm>
            <a:off x="8188757" y="2331720"/>
            <a:ext cx="3454298" cy="3108960"/>
          </a:xfrm>
          <a:prstGeom prst="roundRect">
            <a:avLst>
              <a:gd name="adj" fmla="val 2353"/>
            </a:avLst>
          </a:prstGeom>
          <a:solidFill>
            <a:srgbClr val="16324F"/>
          </a:solidFill>
          <a:ln/>
        </p:spPr>
      </p:sp>
      <p:sp>
        <p:nvSpPr>
          <p:cNvPr id="12" name="Text 10"/>
          <p:cNvSpPr/>
          <p:nvPr/>
        </p:nvSpPr>
        <p:spPr>
          <a:xfrm>
            <a:off x="8371637" y="2651760"/>
            <a:ext cx="3088538" cy="1005840"/>
          </a:xfrm>
          <a:prstGeom prst="rect">
            <a:avLst/>
          </a:prstGeom>
          <a:noFill/>
          <a:ln/>
        </p:spPr>
        <p:txBody>
          <a:bodyPr wrap="square" lIns="0" tIns="0" rIns="0" bIns="0" rtlCol="0" anchor="ctr"/>
          <a:lstStyle/>
          <a:p>
            <a:pPr algn="ctr" indent="0" marL="0">
              <a:buNone/>
            </a:pPr>
            <a:r>
              <a:rPr lang="en-US" sz="4000" b="1" dirty="0">
                <a:solidFill>
                  <a:srgbClr val="12B5CB"/>
                </a:solidFill>
                <a:latin typeface="Cambria" pitchFamily="34" charset="0"/>
                <a:ea typeface="Cambria" pitchFamily="34" charset="-122"/>
                <a:cs typeface="Cambria" pitchFamily="34" charset="-120"/>
              </a:rPr>
              <a:t>181 ZB</a:t>
            </a:r>
            <a:endParaRPr lang="en-US" sz="4000" dirty="0"/>
          </a:p>
        </p:txBody>
      </p:sp>
      <p:sp>
        <p:nvSpPr>
          <p:cNvPr id="13" name="Text 11"/>
          <p:cNvSpPr/>
          <p:nvPr/>
        </p:nvSpPr>
        <p:spPr>
          <a:xfrm>
            <a:off x="8417357" y="3703320"/>
            <a:ext cx="2997098" cy="1371600"/>
          </a:xfrm>
          <a:prstGeom prst="rect">
            <a:avLst/>
          </a:prstGeom>
          <a:noFill/>
          <a:ln/>
        </p:spPr>
        <p:txBody>
          <a:bodyPr wrap="square" lIns="0" tIns="0" rIns="0" bIns="0" rtlCol="0" anchor="ctr"/>
          <a:lstStyle/>
          <a:p>
            <a:pPr algn="ctr" indent="0" marL="0">
              <a:lnSpc>
                <a:spcPts val="1600"/>
              </a:lnSpc>
              <a:buNone/>
            </a:pPr>
            <a:r>
              <a:rPr lang="en-US" sz="1250" dirty="0">
                <a:solidFill>
                  <a:srgbClr val="FFFFFF"/>
                </a:solidFill>
                <a:latin typeface="Calibri" pitchFamily="34" charset="0"/>
                <a:ea typeface="Calibri" pitchFamily="34" charset="-122"/>
                <a:cs typeface="Calibri" pitchFamily="34" charset="-120"/>
              </a:rPr>
              <a:t>Total global data volume projected for 2025</a:t>
            </a:r>
            <a:endParaRPr lang="en-US" sz="1250" dirty="0"/>
          </a:p>
        </p:txBody>
      </p:sp>
      <p:sp>
        <p:nvSpPr>
          <p:cNvPr id="14" name="Text 12"/>
          <p:cNvSpPr/>
          <p:nvPr/>
        </p:nvSpPr>
        <p:spPr>
          <a:xfrm>
            <a:off x="548640" y="5605272"/>
            <a:ext cx="10607040" cy="320040"/>
          </a:xfrm>
          <a:prstGeom prst="rect">
            <a:avLst/>
          </a:prstGeom>
          <a:noFill/>
          <a:ln/>
        </p:spPr>
        <p:txBody>
          <a:bodyPr wrap="square" lIns="0" tIns="0" rIns="0" bIns="0" rtlCol="0" anchor="ctr"/>
          <a:lstStyle/>
          <a:p>
            <a:pPr indent="0" marL="0">
              <a:buNone/>
            </a:pPr>
            <a:r>
              <a:rPr lang="en-US" sz="950" i="1" dirty="0">
                <a:solidFill>
                  <a:srgbClr val="9FB6C9"/>
                </a:solidFill>
                <a:latin typeface="Calibri" pitchFamily="34" charset="0"/>
                <a:ea typeface="Calibri" pitchFamily="34" charset="-122"/>
                <a:cs typeface="Calibri" pitchFamily="34" charset="-120"/>
              </a:rPr>
              <a:t>Source: Statista Digital Economy Compass; IDC Global DataSphere (approximate, illustrative figures).</a:t>
            </a:r>
            <a:endParaRPr lang="en-US" sz="950" dirty="0"/>
          </a:p>
        </p:txBody>
      </p:sp>
      <p:sp>
        <p:nvSpPr>
          <p:cNvPr id="15" name="Text 13"/>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9FB6C9"/>
                </a:solidFill>
                <a:latin typeface="Calibri" pitchFamily="34" charset="0"/>
                <a:ea typeface="Calibri" pitchFamily="34" charset="-122"/>
                <a:cs typeface="Calibri" pitchFamily="34" charset="-120"/>
              </a:rPr>
              <a:t>DATA FUNDAMENTALS</a:t>
            </a:r>
            <a:endParaRPr lang="en-US" sz="900" dirty="0"/>
          </a:p>
        </p:txBody>
      </p:sp>
      <p:sp>
        <p:nvSpPr>
          <p:cNvPr id="16" name="Text 14"/>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9FB6C9"/>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DATA FUNDAMENTALS</a:t>
            </a:r>
            <a:endParaRPr lang="en-US" sz="1150" dirty="0"/>
          </a:p>
        </p:txBody>
      </p:sp>
      <p:sp>
        <p:nvSpPr>
          <p:cNvPr id="3" name="Text 1"/>
          <p:cNvSpPr/>
          <p:nvPr/>
        </p:nvSpPr>
        <p:spPr>
          <a:xfrm>
            <a:off x="548640" y="868680"/>
            <a:ext cx="10607040" cy="54864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Common Data Sources</a:t>
            </a:r>
            <a:endParaRPr lang="en-US" sz="2700" dirty="0"/>
          </a:p>
        </p:txBody>
      </p:sp>
      <p:sp>
        <p:nvSpPr>
          <p:cNvPr id="4" name="Text 2"/>
          <p:cNvSpPr/>
          <p:nvPr/>
        </p:nvSpPr>
        <p:spPr>
          <a:xfrm>
            <a:off x="548640" y="1508760"/>
            <a:ext cx="10607040" cy="411480"/>
          </a:xfrm>
          <a:prstGeom prst="rect">
            <a:avLst/>
          </a:prstGeom>
          <a:noFill/>
          <a:ln/>
        </p:spPr>
        <p:txBody>
          <a:bodyPr wrap="square" lIns="0" tIns="0" rIns="0" bIns="0" rtlCol="0" anchor="ctr"/>
          <a:lstStyle/>
          <a:p>
            <a:pPr indent="0" marL="0">
              <a:lnSpc>
                <a:spcPts val="1600"/>
              </a:lnSpc>
              <a:buNone/>
            </a:pPr>
            <a:r>
              <a:rPr lang="en-US" sz="1250" dirty="0">
                <a:solidFill>
                  <a:srgbClr val="5B6B7C"/>
                </a:solidFill>
                <a:latin typeface="Calibri" pitchFamily="34" charset="0"/>
                <a:ea typeface="Calibri" pitchFamily="34" charset="-122"/>
                <a:cs typeface="Calibri" pitchFamily="34" charset="-120"/>
              </a:rPr>
              <a:t>Organizations draw on four broad categories of data for analysis and decision-making.</a:t>
            </a:r>
            <a:endParaRPr lang="en-US" sz="1250" dirty="0"/>
          </a:p>
        </p:txBody>
      </p:sp>
      <p:sp>
        <p:nvSpPr>
          <p:cNvPr id="5" name="Shape 3"/>
          <p:cNvSpPr/>
          <p:nvPr/>
        </p:nvSpPr>
        <p:spPr>
          <a:xfrm>
            <a:off x="548640" y="2011680"/>
            <a:ext cx="5364328" cy="2011680"/>
          </a:xfrm>
          <a:prstGeom prst="roundRect">
            <a:avLst>
              <a:gd name="adj" fmla="val 3636"/>
            </a:avLst>
          </a:prstGeom>
          <a:solidFill>
            <a:srgbClr val="F2F6F9"/>
          </a:solidFill>
          <a:ln/>
        </p:spPr>
      </p:sp>
      <p:sp>
        <p:nvSpPr>
          <p:cNvPr id="6" name="Shape 4"/>
          <p:cNvSpPr/>
          <p:nvPr/>
        </p:nvSpPr>
        <p:spPr>
          <a:xfrm>
            <a:off x="777240" y="2240280"/>
            <a:ext cx="384048" cy="384048"/>
          </a:xfrm>
          <a:prstGeom prst="ellipse">
            <a:avLst/>
          </a:prstGeom>
          <a:solidFill>
            <a:srgbClr val="0D2C4B"/>
          </a:solidFill>
          <a:ln/>
        </p:spPr>
      </p:sp>
      <p:sp>
        <p:nvSpPr>
          <p:cNvPr id="7" name="Text 5"/>
          <p:cNvSpPr/>
          <p:nvPr/>
        </p:nvSpPr>
        <p:spPr>
          <a:xfrm>
            <a:off x="777240" y="22402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a:t>
            </a:r>
            <a:endParaRPr lang="en-US" sz="1200" dirty="0"/>
          </a:p>
        </p:txBody>
      </p:sp>
      <p:sp>
        <p:nvSpPr>
          <p:cNvPr id="8" name="Text 6"/>
          <p:cNvSpPr/>
          <p:nvPr/>
        </p:nvSpPr>
        <p:spPr>
          <a:xfrm>
            <a:off x="1298448" y="223113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Internal Data</a:t>
            </a:r>
            <a:endParaRPr lang="en-US" sz="1450" dirty="0"/>
          </a:p>
        </p:txBody>
      </p:sp>
      <p:sp>
        <p:nvSpPr>
          <p:cNvPr id="9" name="Text 7"/>
          <p:cNvSpPr/>
          <p:nvPr/>
        </p:nvSpPr>
        <p:spPr>
          <a:xfrm>
            <a:off x="777240" y="2761488"/>
            <a:ext cx="4907128" cy="109728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Generated within the organization — sales records, CRM, payroll, inventory. Reliable and confidential; the main source for KPIs and reports.</a:t>
            </a:r>
            <a:endParaRPr lang="en-US" sz="1080" dirty="0"/>
          </a:p>
        </p:txBody>
      </p:sp>
      <p:sp>
        <p:nvSpPr>
          <p:cNvPr id="10" name="Shape 8"/>
          <p:cNvSpPr/>
          <p:nvPr/>
        </p:nvSpPr>
        <p:spPr>
          <a:xfrm>
            <a:off x="6278728" y="2011680"/>
            <a:ext cx="5364328" cy="2011680"/>
          </a:xfrm>
          <a:prstGeom prst="roundRect">
            <a:avLst>
              <a:gd name="adj" fmla="val 3636"/>
            </a:avLst>
          </a:prstGeom>
          <a:solidFill>
            <a:srgbClr val="F2F6F9"/>
          </a:solidFill>
          <a:ln/>
        </p:spPr>
      </p:sp>
      <p:sp>
        <p:nvSpPr>
          <p:cNvPr id="11" name="Shape 9"/>
          <p:cNvSpPr/>
          <p:nvPr/>
        </p:nvSpPr>
        <p:spPr>
          <a:xfrm>
            <a:off x="6507328" y="2240280"/>
            <a:ext cx="384048" cy="384048"/>
          </a:xfrm>
          <a:prstGeom prst="ellipse">
            <a:avLst/>
          </a:prstGeom>
          <a:solidFill>
            <a:srgbClr val="0B8A9C"/>
          </a:solidFill>
          <a:ln/>
        </p:spPr>
      </p:sp>
      <p:sp>
        <p:nvSpPr>
          <p:cNvPr id="12" name="Text 10"/>
          <p:cNvSpPr/>
          <p:nvPr/>
        </p:nvSpPr>
        <p:spPr>
          <a:xfrm>
            <a:off x="6507328" y="22402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3P</a:t>
            </a:r>
            <a:endParaRPr lang="en-US" sz="1200" dirty="0"/>
          </a:p>
        </p:txBody>
      </p:sp>
      <p:sp>
        <p:nvSpPr>
          <p:cNvPr id="13" name="Text 11"/>
          <p:cNvSpPr/>
          <p:nvPr/>
        </p:nvSpPr>
        <p:spPr>
          <a:xfrm>
            <a:off x="7028536" y="223113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Third-Party Analytics</a:t>
            </a:r>
            <a:endParaRPr lang="en-US" sz="1450" dirty="0"/>
          </a:p>
        </p:txBody>
      </p:sp>
      <p:sp>
        <p:nvSpPr>
          <p:cNvPr id="14" name="Text 12"/>
          <p:cNvSpPr/>
          <p:nvPr/>
        </p:nvSpPr>
        <p:spPr>
          <a:xfrm>
            <a:off x="6507328" y="2761488"/>
            <a:ext cx="4907128" cy="109728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Insights from external providers — Google Analytics, social platforms, market research. Delivered via dashboards, reports, or APIs.</a:t>
            </a:r>
            <a:endParaRPr lang="en-US" sz="1080" dirty="0"/>
          </a:p>
        </p:txBody>
      </p:sp>
      <p:sp>
        <p:nvSpPr>
          <p:cNvPr id="15" name="Shape 13"/>
          <p:cNvSpPr/>
          <p:nvPr/>
        </p:nvSpPr>
        <p:spPr>
          <a:xfrm>
            <a:off x="548640" y="4389120"/>
            <a:ext cx="5364328" cy="2011680"/>
          </a:xfrm>
          <a:prstGeom prst="roundRect">
            <a:avLst>
              <a:gd name="adj" fmla="val 3636"/>
            </a:avLst>
          </a:prstGeom>
          <a:solidFill>
            <a:srgbClr val="F2F6F9"/>
          </a:solidFill>
          <a:ln/>
        </p:spPr>
      </p:sp>
      <p:sp>
        <p:nvSpPr>
          <p:cNvPr id="16" name="Shape 14"/>
          <p:cNvSpPr/>
          <p:nvPr/>
        </p:nvSpPr>
        <p:spPr>
          <a:xfrm>
            <a:off x="777240" y="4617720"/>
            <a:ext cx="384048" cy="384048"/>
          </a:xfrm>
          <a:prstGeom prst="ellipse">
            <a:avLst/>
          </a:prstGeom>
          <a:solidFill>
            <a:srgbClr val="E8934C"/>
          </a:solidFill>
          <a:ln/>
        </p:spPr>
      </p:sp>
      <p:sp>
        <p:nvSpPr>
          <p:cNvPr id="17" name="Text 15"/>
          <p:cNvSpPr/>
          <p:nvPr/>
        </p:nvSpPr>
        <p:spPr>
          <a:xfrm>
            <a:off x="777240" y="4617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a:t>
            </a:r>
            <a:endParaRPr lang="en-US" sz="1200" dirty="0"/>
          </a:p>
        </p:txBody>
      </p:sp>
      <p:sp>
        <p:nvSpPr>
          <p:cNvPr id="18" name="Text 16"/>
          <p:cNvSpPr/>
          <p:nvPr/>
        </p:nvSpPr>
        <p:spPr>
          <a:xfrm>
            <a:off x="1298448" y="460857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External Data</a:t>
            </a:r>
            <a:endParaRPr lang="en-US" sz="1450" dirty="0"/>
          </a:p>
        </p:txBody>
      </p:sp>
      <p:sp>
        <p:nvSpPr>
          <p:cNvPr id="19" name="Text 17"/>
          <p:cNvSpPr/>
          <p:nvPr/>
        </p:nvSpPr>
        <p:spPr>
          <a:xfrm>
            <a:off x="777240" y="5138928"/>
            <a:ext cx="4907128" cy="109728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Data from outside the organization — market trends, competitor and demographic data. Complements internal data for forecasting.</a:t>
            </a:r>
            <a:endParaRPr lang="en-US" sz="1080" dirty="0"/>
          </a:p>
        </p:txBody>
      </p:sp>
      <p:sp>
        <p:nvSpPr>
          <p:cNvPr id="20" name="Shape 18"/>
          <p:cNvSpPr/>
          <p:nvPr/>
        </p:nvSpPr>
        <p:spPr>
          <a:xfrm>
            <a:off x="6278728" y="4389120"/>
            <a:ext cx="5364328" cy="2011680"/>
          </a:xfrm>
          <a:prstGeom prst="roundRect">
            <a:avLst>
              <a:gd name="adj" fmla="val 3636"/>
            </a:avLst>
          </a:prstGeom>
          <a:solidFill>
            <a:srgbClr val="F2F6F9"/>
          </a:solidFill>
          <a:ln/>
        </p:spPr>
      </p:sp>
      <p:sp>
        <p:nvSpPr>
          <p:cNvPr id="21" name="Shape 19"/>
          <p:cNvSpPr/>
          <p:nvPr/>
        </p:nvSpPr>
        <p:spPr>
          <a:xfrm>
            <a:off x="6507328" y="4617720"/>
            <a:ext cx="384048" cy="384048"/>
          </a:xfrm>
          <a:prstGeom prst="ellipse">
            <a:avLst/>
          </a:prstGeom>
          <a:solidFill>
            <a:srgbClr val="C85A46"/>
          </a:solidFill>
          <a:ln/>
        </p:spPr>
      </p:sp>
      <p:sp>
        <p:nvSpPr>
          <p:cNvPr id="22" name="Text 20"/>
          <p:cNvSpPr/>
          <p:nvPr/>
        </p:nvSpPr>
        <p:spPr>
          <a:xfrm>
            <a:off x="6507328" y="4617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a:t>
            </a:r>
            <a:endParaRPr lang="en-US" sz="1200" dirty="0"/>
          </a:p>
        </p:txBody>
      </p:sp>
      <p:sp>
        <p:nvSpPr>
          <p:cNvPr id="23" name="Text 21"/>
          <p:cNvSpPr/>
          <p:nvPr/>
        </p:nvSpPr>
        <p:spPr>
          <a:xfrm>
            <a:off x="7028536" y="460857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Open Data</a:t>
            </a:r>
            <a:endParaRPr lang="en-US" sz="1450" dirty="0"/>
          </a:p>
        </p:txBody>
      </p:sp>
      <p:sp>
        <p:nvSpPr>
          <p:cNvPr id="24" name="Text 22"/>
          <p:cNvSpPr/>
          <p:nvPr/>
        </p:nvSpPr>
        <p:spPr>
          <a:xfrm>
            <a:off x="6507328" y="5138928"/>
            <a:ext cx="4907128" cy="109728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Freely available data published by governments and institutions — census, health, weather, and transport data.</a:t>
            </a:r>
            <a:endParaRPr lang="en-US" sz="1080" dirty="0"/>
          </a:p>
        </p:txBody>
      </p:sp>
      <p:sp>
        <p:nvSpPr>
          <p:cNvPr id="25" name="Text 23"/>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DATA FUNDAMENTALS</a:t>
            </a:r>
            <a:endParaRPr lang="en-US" sz="900" dirty="0"/>
          </a:p>
        </p:txBody>
      </p:sp>
      <p:sp>
        <p:nvSpPr>
          <p:cNvPr id="26" name="Text 24"/>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DATA FUNDAMENTALS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Data Collection: Qualitative vs. Quantitative</a:t>
            </a:r>
            <a:endParaRPr lang="en-US" sz="2700" dirty="0"/>
          </a:p>
        </p:txBody>
      </p:sp>
      <p:sp>
        <p:nvSpPr>
          <p:cNvPr id="4" name="Shape 2"/>
          <p:cNvSpPr/>
          <p:nvPr/>
        </p:nvSpPr>
        <p:spPr>
          <a:xfrm>
            <a:off x="548640" y="1691640"/>
            <a:ext cx="5257800" cy="2926080"/>
          </a:xfrm>
          <a:prstGeom prst="roundRect">
            <a:avLst>
              <a:gd name="adj" fmla="val 2500"/>
            </a:avLst>
          </a:prstGeom>
          <a:solidFill>
            <a:srgbClr val="F2F6F9"/>
          </a:solidFill>
          <a:ln/>
        </p:spPr>
      </p:sp>
      <p:sp>
        <p:nvSpPr>
          <p:cNvPr id="5" name="Shape 3"/>
          <p:cNvSpPr/>
          <p:nvPr/>
        </p:nvSpPr>
        <p:spPr>
          <a:xfrm>
            <a:off x="548640" y="1691640"/>
            <a:ext cx="5257800" cy="566928"/>
          </a:xfrm>
          <a:prstGeom prst="roundRect">
            <a:avLst>
              <a:gd name="adj" fmla="val 12903"/>
            </a:avLst>
          </a:prstGeom>
          <a:solidFill>
            <a:srgbClr val="0D2C4B"/>
          </a:solidFill>
          <a:ln/>
        </p:spPr>
      </p:sp>
      <p:sp>
        <p:nvSpPr>
          <p:cNvPr id="6" name="Shape 4"/>
          <p:cNvSpPr/>
          <p:nvPr/>
        </p:nvSpPr>
        <p:spPr>
          <a:xfrm>
            <a:off x="548640" y="2011680"/>
            <a:ext cx="5257800" cy="246888"/>
          </a:xfrm>
          <a:prstGeom prst="rect">
            <a:avLst/>
          </a:prstGeom>
          <a:solidFill>
            <a:srgbClr val="0D2C4B"/>
          </a:solidFill>
          <a:ln/>
        </p:spPr>
      </p:sp>
      <p:sp>
        <p:nvSpPr>
          <p:cNvPr id="7" name="Text 5"/>
          <p:cNvSpPr/>
          <p:nvPr/>
        </p:nvSpPr>
        <p:spPr>
          <a:xfrm>
            <a:off x="822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Qualitative Data</a:t>
            </a:r>
            <a:endParaRPr lang="en-US" sz="1550" dirty="0"/>
          </a:p>
        </p:txBody>
      </p:sp>
      <p:sp>
        <p:nvSpPr>
          <p:cNvPr id="8" name="Shape 6"/>
          <p:cNvSpPr/>
          <p:nvPr/>
        </p:nvSpPr>
        <p:spPr>
          <a:xfrm>
            <a:off x="822960" y="2523744"/>
            <a:ext cx="82296" cy="82296"/>
          </a:xfrm>
          <a:prstGeom prst="ellipse">
            <a:avLst/>
          </a:prstGeom>
          <a:solidFill>
            <a:srgbClr val="0D2C4B"/>
          </a:solidFill>
          <a:ln/>
        </p:spPr>
      </p:sp>
      <p:sp>
        <p:nvSpPr>
          <p:cNvPr id="9" name="Text 7"/>
          <p:cNvSpPr/>
          <p:nvPr/>
        </p:nvSpPr>
        <p:spPr>
          <a:xfrm>
            <a:off x="1024128" y="2414016"/>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Non-numerical</a:t>
            </a:r>
            <a:endParaRPr lang="en-US" sz="1250" dirty="0"/>
          </a:p>
        </p:txBody>
      </p:sp>
      <p:sp>
        <p:nvSpPr>
          <p:cNvPr id="10" name="Text 8"/>
          <p:cNvSpPr/>
          <p:nvPr/>
        </p:nvSpPr>
        <p:spPr>
          <a:xfrm>
            <a:off x="1024128" y="2651760"/>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Descriptive, textual information that answers “why” and “how.”</a:t>
            </a:r>
            <a:endParaRPr lang="en-US" sz="1080" dirty="0"/>
          </a:p>
        </p:txBody>
      </p:sp>
      <p:sp>
        <p:nvSpPr>
          <p:cNvPr id="11" name="Shape 9"/>
          <p:cNvSpPr/>
          <p:nvPr/>
        </p:nvSpPr>
        <p:spPr>
          <a:xfrm>
            <a:off x="822960" y="3182112"/>
            <a:ext cx="82296" cy="82296"/>
          </a:xfrm>
          <a:prstGeom prst="ellipse">
            <a:avLst/>
          </a:prstGeom>
          <a:solidFill>
            <a:srgbClr val="0D2C4B"/>
          </a:solidFill>
          <a:ln/>
        </p:spPr>
      </p:sp>
      <p:sp>
        <p:nvSpPr>
          <p:cNvPr id="12" name="Text 10"/>
          <p:cNvSpPr/>
          <p:nvPr/>
        </p:nvSpPr>
        <p:spPr>
          <a:xfrm>
            <a:off x="1024128" y="3072384"/>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Examples</a:t>
            </a:r>
            <a:endParaRPr lang="en-US" sz="1250" dirty="0"/>
          </a:p>
        </p:txBody>
      </p:sp>
      <p:sp>
        <p:nvSpPr>
          <p:cNvPr id="13" name="Text 11"/>
          <p:cNvSpPr/>
          <p:nvPr/>
        </p:nvSpPr>
        <p:spPr>
          <a:xfrm>
            <a:off x="1024128" y="3310128"/>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Opinions, feedback, comments, interview responses.</a:t>
            </a:r>
            <a:endParaRPr lang="en-US" sz="1080" dirty="0"/>
          </a:p>
        </p:txBody>
      </p:sp>
      <p:sp>
        <p:nvSpPr>
          <p:cNvPr id="14" name="Shape 12"/>
          <p:cNvSpPr/>
          <p:nvPr/>
        </p:nvSpPr>
        <p:spPr>
          <a:xfrm>
            <a:off x="6263640" y="1691640"/>
            <a:ext cx="5257800" cy="2926080"/>
          </a:xfrm>
          <a:prstGeom prst="roundRect">
            <a:avLst>
              <a:gd name="adj" fmla="val 2500"/>
            </a:avLst>
          </a:prstGeom>
          <a:solidFill>
            <a:srgbClr val="F2F6F9"/>
          </a:solidFill>
          <a:ln/>
        </p:spPr>
      </p:sp>
      <p:sp>
        <p:nvSpPr>
          <p:cNvPr id="15" name="Shape 13"/>
          <p:cNvSpPr/>
          <p:nvPr/>
        </p:nvSpPr>
        <p:spPr>
          <a:xfrm>
            <a:off x="6263640" y="1691640"/>
            <a:ext cx="5257800" cy="566928"/>
          </a:xfrm>
          <a:prstGeom prst="roundRect">
            <a:avLst>
              <a:gd name="adj" fmla="val 12903"/>
            </a:avLst>
          </a:prstGeom>
          <a:solidFill>
            <a:srgbClr val="0B8A9C"/>
          </a:solidFill>
          <a:ln/>
        </p:spPr>
      </p:sp>
      <p:sp>
        <p:nvSpPr>
          <p:cNvPr id="16" name="Shape 14"/>
          <p:cNvSpPr/>
          <p:nvPr/>
        </p:nvSpPr>
        <p:spPr>
          <a:xfrm>
            <a:off x="6263640" y="2011680"/>
            <a:ext cx="5257800" cy="246888"/>
          </a:xfrm>
          <a:prstGeom prst="rect">
            <a:avLst/>
          </a:prstGeom>
          <a:solidFill>
            <a:srgbClr val="0B8A9C"/>
          </a:solidFill>
          <a:ln/>
        </p:spPr>
      </p:sp>
      <p:sp>
        <p:nvSpPr>
          <p:cNvPr id="17" name="Text 15"/>
          <p:cNvSpPr/>
          <p:nvPr/>
        </p:nvSpPr>
        <p:spPr>
          <a:xfrm>
            <a:off x="6537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Quantitative Data</a:t>
            </a:r>
            <a:endParaRPr lang="en-US" sz="1550" dirty="0"/>
          </a:p>
        </p:txBody>
      </p:sp>
      <p:sp>
        <p:nvSpPr>
          <p:cNvPr id="18" name="Shape 16"/>
          <p:cNvSpPr/>
          <p:nvPr/>
        </p:nvSpPr>
        <p:spPr>
          <a:xfrm>
            <a:off x="6537960" y="2523744"/>
            <a:ext cx="82296" cy="82296"/>
          </a:xfrm>
          <a:prstGeom prst="ellipse">
            <a:avLst/>
          </a:prstGeom>
          <a:solidFill>
            <a:srgbClr val="0B8A9C"/>
          </a:solidFill>
          <a:ln/>
        </p:spPr>
      </p:sp>
      <p:sp>
        <p:nvSpPr>
          <p:cNvPr id="19" name="Text 17"/>
          <p:cNvSpPr/>
          <p:nvPr/>
        </p:nvSpPr>
        <p:spPr>
          <a:xfrm>
            <a:off x="6739128" y="2414016"/>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Numerical</a:t>
            </a:r>
            <a:endParaRPr lang="en-US" sz="1250" dirty="0"/>
          </a:p>
        </p:txBody>
      </p:sp>
      <p:sp>
        <p:nvSpPr>
          <p:cNvPr id="20" name="Text 18"/>
          <p:cNvSpPr/>
          <p:nvPr/>
        </p:nvSpPr>
        <p:spPr>
          <a:xfrm>
            <a:off x="6739128" y="2651760"/>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Data in numbers that answers “how much” and “how many.”</a:t>
            </a:r>
            <a:endParaRPr lang="en-US" sz="1080" dirty="0"/>
          </a:p>
        </p:txBody>
      </p:sp>
      <p:sp>
        <p:nvSpPr>
          <p:cNvPr id="21" name="Shape 19"/>
          <p:cNvSpPr/>
          <p:nvPr/>
        </p:nvSpPr>
        <p:spPr>
          <a:xfrm>
            <a:off x="6537960" y="3182112"/>
            <a:ext cx="82296" cy="82296"/>
          </a:xfrm>
          <a:prstGeom prst="ellipse">
            <a:avLst/>
          </a:prstGeom>
          <a:solidFill>
            <a:srgbClr val="0B8A9C"/>
          </a:solidFill>
          <a:ln/>
        </p:spPr>
      </p:sp>
      <p:sp>
        <p:nvSpPr>
          <p:cNvPr id="22" name="Text 20"/>
          <p:cNvSpPr/>
          <p:nvPr/>
        </p:nvSpPr>
        <p:spPr>
          <a:xfrm>
            <a:off x="6739128" y="3072384"/>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Examples</a:t>
            </a:r>
            <a:endParaRPr lang="en-US" sz="1250" dirty="0"/>
          </a:p>
        </p:txBody>
      </p:sp>
      <p:sp>
        <p:nvSpPr>
          <p:cNvPr id="23" name="Text 21"/>
          <p:cNvSpPr/>
          <p:nvPr/>
        </p:nvSpPr>
        <p:spPr>
          <a:xfrm>
            <a:off x="6739128" y="3310128"/>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Marks, sales figures, age, income, ratings (1–5).</a:t>
            </a:r>
            <a:endParaRPr lang="en-US" sz="1080" dirty="0"/>
          </a:p>
        </p:txBody>
      </p:sp>
      <p:sp>
        <p:nvSpPr>
          <p:cNvPr id="24"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DATA FUNDAMENTALS</a:t>
            </a:r>
            <a:endParaRPr lang="en-US" sz="900" dirty="0"/>
          </a:p>
        </p:txBody>
      </p:sp>
      <p:sp>
        <p:nvSpPr>
          <p:cNvPr id="25" name="Text 2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DATA FUNDAMENTALS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Primary vs. Secondary Data Collection</a:t>
            </a:r>
            <a:endParaRPr lang="en-US" sz="2700" dirty="0"/>
          </a:p>
        </p:txBody>
      </p:sp>
      <p:sp>
        <p:nvSpPr>
          <p:cNvPr id="4" name="Shape 2"/>
          <p:cNvSpPr/>
          <p:nvPr/>
        </p:nvSpPr>
        <p:spPr>
          <a:xfrm>
            <a:off x="548640" y="1691640"/>
            <a:ext cx="5341468" cy="4434840"/>
          </a:xfrm>
          <a:prstGeom prst="roundRect">
            <a:avLst>
              <a:gd name="adj" fmla="val 1649"/>
            </a:avLst>
          </a:prstGeom>
          <a:solidFill>
            <a:srgbClr val="F2F6F9"/>
          </a:solidFill>
          <a:ln/>
        </p:spPr>
      </p:sp>
      <p:sp>
        <p:nvSpPr>
          <p:cNvPr id="5" name="Shape 3"/>
          <p:cNvSpPr/>
          <p:nvPr/>
        </p:nvSpPr>
        <p:spPr>
          <a:xfrm>
            <a:off x="548640" y="1691640"/>
            <a:ext cx="5341468" cy="502920"/>
          </a:xfrm>
          <a:prstGeom prst="roundRect">
            <a:avLst>
              <a:gd name="adj" fmla="val 14545"/>
            </a:avLst>
          </a:prstGeom>
          <a:solidFill>
            <a:srgbClr val="0D2C4B"/>
          </a:solidFill>
          <a:ln/>
        </p:spPr>
      </p:sp>
      <p:sp>
        <p:nvSpPr>
          <p:cNvPr id="6" name="Shape 4"/>
          <p:cNvSpPr/>
          <p:nvPr/>
        </p:nvSpPr>
        <p:spPr>
          <a:xfrm>
            <a:off x="548640" y="1965960"/>
            <a:ext cx="5341468" cy="228600"/>
          </a:xfrm>
          <a:prstGeom prst="rect">
            <a:avLst/>
          </a:prstGeom>
          <a:solidFill>
            <a:srgbClr val="0D2C4B"/>
          </a:solidFill>
          <a:ln/>
        </p:spPr>
      </p:sp>
      <p:sp>
        <p:nvSpPr>
          <p:cNvPr id="7" name="Text 5"/>
          <p:cNvSpPr/>
          <p:nvPr/>
        </p:nvSpPr>
        <p:spPr>
          <a:xfrm>
            <a:off x="749808" y="1691640"/>
            <a:ext cx="4939132"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Primary Data</a:t>
            </a:r>
            <a:endParaRPr lang="en-US" sz="1400" dirty="0"/>
          </a:p>
        </p:txBody>
      </p:sp>
      <p:sp>
        <p:nvSpPr>
          <p:cNvPr id="8" name="Shape 6"/>
          <p:cNvSpPr/>
          <p:nvPr/>
        </p:nvSpPr>
        <p:spPr>
          <a:xfrm>
            <a:off x="768096" y="2450592"/>
            <a:ext cx="73152" cy="73152"/>
          </a:xfrm>
          <a:prstGeom prst="ellipse">
            <a:avLst/>
          </a:prstGeom>
          <a:solidFill>
            <a:srgbClr val="0D2C4B"/>
          </a:solidFill>
          <a:ln/>
        </p:spPr>
      </p:sp>
      <p:sp>
        <p:nvSpPr>
          <p:cNvPr id="9" name="Text 7"/>
          <p:cNvSpPr/>
          <p:nvPr/>
        </p:nvSpPr>
        <p:spPr>
          <a:xfrm>
            <a:off x="950976" y="23225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Collected first-hand for a specific purpose</a:t>
            </a:r>
            <a:endParaRPr lang="en-US" sz="1060" dirty="0"/>
          </a:p>
        </p:txBody>
      </p:sp>
      <p:sp>
        <p:nvSpPr>
          <p:cNvPr id="10" name="Shape 8"/>
          <p:cNvSpPr/>
          <p:nvPr/>
        </p:nvSpPr>
        <p:spPr>
          <a:xfrm>
            <a:off x="768096" y="2907792"/>
            <a:ext cx="73152" cy="73152"/>
          </a:xfrm>
          <a:prstGeom prst="ellipse">
            <a:avLst/>
          </a:prstGeom>
          <a:solidFill>
            <a:srgbClr val="0D2C4B"/>
          </a:solidFill>
          <a:ln/>
        </p:spPr>
      </p:sp>
      <p:sp>
        <p:nvSpPr>
          <p:cNvPr id="11" name="Text 9"/>
          <p:cNvSpPr/>
          <p:nvPr/>
        </p:nvSpPr>
        <p:spPr>
          <a:xfrm>
            <a:off x="950976" y="27797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Methods: surveys, interviews, experiments, observations</a:t>
            </a:r>
            <a:endParaRPr lang="en-US" sz="1060" dirty="0"/>
          </a:p>
        </p:txBody>
      </p:sp>
      <p:sp>
        <p:nvSpPr>
          <p:cNvPr id="12" name="Text 10"/>
          <p:cNvSpPr/>
          <p:nvPr/>
        </p:nvSpPr>
        <p:spPr>
          <a:xfrm>
            <a:off x="749808" y="3364992"/>
            <a:ext cx="4939132" cy="256032"/>
          </a:xfrm>
          <a:prstGeom prst="rect">
            <a:avLst/>
          </a:prstGeom>
          <a:noFill/>
          <a:ln/>
        </p:spPr>
        <p:txBody>
          <a:bodyPr wrap="square" lIns="0" tIns="0" rIns="0" bIns="0" rtlCol="0" anchor="ctr"/>
          <a:lstStyle/>
          <a:p>
            <a:pPr indent="0" marL="0">
              <a:buNone/>
            </a:pPr>
            <a:r>
              <a:rPr lang="en-US" sz="1150" b="1" dirty="0">
                <a:solidFill>
                  <a:srgbClr val="0D2C4B"/>
                </a:solidFill>
                <a:latin typeface="Calibri" pitchFamily="34" charset="0"/>
                <a:ea typeface="Calibri" pitchFamily="34" charset="-122"/>
                <a:cs typeface="Calibri" pitchFamily="34" charset="-120"/>
              </a:rPr>
              <a:t>Trade-off</a:t>
            </a:r>
            <a:endParaRPr lang="en-US" sz="1150" dirty="0"/>
          </a:p>
        </p:txBody>
      </p:sp>
      <p:sp>
        <p:nvSpPr>
          <p:cNvPr id="13" name="Shape 11"/>
          <p:cNvSpPr/>
          <p:nvPr/>
        </p:nvSpPr>
        <p:spPr>
          <a:xfrm>
            <a:off x="768096" y="3730752"/>
            <a:ext cx="73152" cy="73152"/>
          </a:xfrm>
          <a:prstGeom prst="ellipse">
            <a:avLst/>
          </a:prstGeom>
          <a:solidFill>
            <a:srgbClr val="0D2C4B"/>
          </a:solidFill>
          <a:ln/>
        </p:spPr>
      </p:sp>
      <p:sp>
        <p:nvSpPr>
          <p:cNvPr id="14" name="Text 12"/>
          <p:cNvSpPr/>
          <p:nvPr/>
        </p:nvSpPr>
        <p:spPr>
          <a:xfrm>
            <a:off x="950976" y="3602736"/>
            <a:ext cx="4719676" cy="41148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 Original and specific</a:t>
            </a:r>
            <a:endParaRPr lang="en-US" sz="1060" dirty="0"/>
          </a:p>
        </p:txBody>
      </p:sp>
      <p:sp>
        <p:nvSpPr>
          <p:cNvPr id="15" name="Shape 13"/>
          <p:cNvSpPr/>
          <p:nvPr/>
        </p:nvSpPr>
        <p:spPr>
          <a:xfrm>
            <a:off x="768096" y="4133088"/>
            <a:ext cx="73152" cy="73152"/>
          </a:xfrm>
          <a:prstGeom prst="ellipse">
            <a:avLst/>
          </a:prstGeom>
          <a:solidFill>
            <a:srgbClr val="0D2C4B"/>
          </a:solidFill>
          <a:ln/>
        </p:spPr>
      </p:sp>
      <p:sp>
        <p:nvSpPr>
          <p:cNvPr id="16" name="Text 14"/>
          <p:cNvSpPr/>
          <p:nvPr/>
        </p:nvSpPr>
        <p:spPr>
          <a:xfrm>
            <a:off x="950976" y="4005072"/>
            <a:ext cx="4719676" cy="41148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 Takes more time and cost</a:t>
            </a:r>
            <a:endParaRPr lang="en-US" sz="1060" dirty="0"/>
          </a:p>
        </p:txBody>
      </p:sp>
      <p:sp>
        <p:nvSpPr>
          <p:cNvPr id="17" name="Shape 15"/>
          <p:cNvSpPr/>
          <p:nvPr/>
        </p:nvSpPr>
        <p:spPr>
          <a:xfrm>
            <a:off x="6301588" y="1691640"/>
            <a:ext cx="5341468" cy="4434840"/>
          </a:xfrm>
          <a:prstGeom prst="roundRect">
            <a:avLst>
              <a:gd name="adj" fmla="val 1649"/>
            </a:avLst>
          </a:prstGeom>
          <a:solidFill>
            <a:srgbClr val="F2F6F9"/>
          </a:solidFill>
          <a:ln/>
        </p:spPr>
      </p:sp>
      <p:sp>
        <p:nvSpPr>
          <p:cNvPr id="18" name="Shape 16"/>
          <p:cNvSpPr/>
          <p:nvPr/>
        </p:nvSpPr>
        <p:spPr>
          <a:xfrm>
            <a:off x="6301588" y="1691640"/>
            <a:ext cx="5341468" cy="502920"/>
          </a:xfrm>
          <a:prstGeom prst="roundRect">
            <a:avLst>
              <a:gd name="adj" fmla="val 14545"/>
            </a:avLst>
          </a:prstGeom>
          <a:solidFill>
            <a:srgbClr val="0B8A9C"/>
          </a:solidFill>
          <a:ln/>
        </p:spPr>
      </p:sp>
      <p:sp>
        <p:nvSpPr>
          <p:cNvPr id="19" name="Shape 17"/>
          <p:cNvSpPr/>
          <p:nvPr/>
        </p:nvSpPr>
        <p:spPr>
          <a:xfrm>
            <a:off x="6301588" y="1965960"/>
            <a:ext cx="5341468" cy="228600"/>
          </a:xfrm>
          <a:prstGeom prst="rect">
            <a:avLst/>
          </a:prstGeom>
          <a:solidFill>
            <a:srgbClr val="0B8A9C"/>
          </a:solidFill>
          <a:ln/>
        </p:spPr>
      </p:sp>
      <p:sp>
        <p:nvSpPr>
          <p:cNvPr id="20" name="Text 18"/>
          <p:cNvSpPr/>
          <p:nvPr/>
        </p:nvSpPr>
        <p:spPr>
          <a:xfrm>
            <a:off x="6502756" y="1691640"/>
            <a:ext cx="4939132"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Secondary Data</a:t>
            </a:r>
            <a:endParaRPr lang="en-US" sz="1400" dirty="0"/>
          </a:p>
        </p:txBody>
      </p:sp>
      <p:sp>
        <p:nvSpPr>
          <p:cNvPr id="21" name="Shape 19"/>
          <p:cNvSpPr/>
          <p:nvPr/>
        </p:nvSpPr>
        <p:spPr>
          <a:xfrm>
            <a:off x="6521044" y="2450592"/>
            <a:ext cx="73152" cy="73152"/>
          </a:xfrm>
          <a:prstGeom prst="ellipse">
            <a:avLst/>
          </a:prstGeom>
          <a:solidFill>
            <a:srgbClr val="0B8A9C"/>
          </a:solidFill>
          <a:ln/>
        </p:spPr>
      </p:sp>
      <p:sp>
        <p:nvSpPr>
          <p:cNvPr id="22" name="Text 20"/>
          <p:cNvSpPr/>
          <p:nvPr/>
        </p:nvSpPr>
        <p:spPr>
          <a:xfrm>
            <a:off x="6703924" y="23225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Collected from existing sources gathered by others</a:t>
            </a:r>
            <a:endParaRPr lang="en-US" sz="1060" dirty="0"/>
          </a:p>
        </p:txBody>
      </p:sp>
      <p:sp>
        <p:nvSpPr>
          <p:cNvPr id="23" name="Shape 21"/>
          <p:cNvSpPr/>
          <p:nvPr/>
        </p:nvSpPr>
        <p:spPr>
          <a:xfrm>
            <a:off x="6521044" y="2907792"/>
            <a:ext cx="73152" cy="73152"/>
          </a:xfrm>
          <a:prstGeom prst="ellipse">
            <a:avLst/>
          </a:prstGeom>
          <a:solidFill>
            <a:srgbClr val="0B8A9C"/>
          </a:solidFill>
          <a:ln/>
        </p:spPr>
      </p:sp>
      <p:sp>
        <p:nvSpPr>
          <p:cNvPr id="24" name="Text 22"/>
          <p:cNvSpPr/>
          <p:nvPr/>
        </p:nvSpPr>
        <p:spPr>
          <a:xfrm>
            <a:off x="6703924" y="27797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Sources: books, websites, reports, government data</a:t>
            </a:r>
            <a:endParaRPr lang="en-US" sz="1060" dirty="0"/>
          </a:p>
        </p:txBody>
      </p:sp>
      <p:sp>
        <p:nvSpPr>
          <p:cNvPr id="25" name="Text 23"/>
          <p:cNvSpPr/>
          <p:nvPr/>
        </p:nvSpPr>
        <p:spPr>
          <a:xfrm>
            <a:off x="6502756" y="3364992"/>
            <a:ext cx="4939132" cy="256032"/>
          </a:xfrm>
          <a:prstGeom prst="rect">
            <a:avLst/>
          </a:prstGeom>
          <a:noFill/>
          <a:ln/>
        </p:spPr>
        <p:txBody>
          <a:bodyPr wrap="square" lIns="0" tIns="0" rIns="0" bIns="0" rtlCol="0" anchor="ctr"/>
          <a:lstStyle/>
          <a:p>
            <a:pPr indent="0" marL="0">
              <a:buNone/>
            </a:pPr>
            <a:r>
              <a:rPr lang="en-US" sz="1150" b="1" dirty="0">
                <a:solidFill>
                  <a:srgbClr val="0B8A9C"/>
                </a:solidFill>
                <a:latin typeface="Calibri" pitchFamily="34" charset="0"/>
                <a:ea typeface="Calibri" pitchFamily="34" charset="-122"/>
                <a:cs typeface="Calibri" pitchFamily="34" charset="-120"/>
              </a:rPr>
              <a:t>Trade-off</a:t>
            </a:r>
            <a:endParaRPr lang="en-US" sz="1150" dirty="0"/>
          </a:p>
        </p:txBody>
      </p:sp>
      <p:sp>
        <p:nvSpPr>
          <p:cNvPr id="26" name="Shape 24"/>
          <p:cNvSpPr/>
          <p:nvPr/>
        </p:nvSpPr>
        <p:spPr>
          <a:xfrm>
            <a:off x="6521044" y="3730752"/>
            <a:ext cx="73152" cy="73152"/>
          </a:xfrm>
          <a:prstGeom prst="ellipse">
            <a:avLst/>
          </a:prstGeom>
          <a:solidFill>
            <a:srgbClr val="0B8A9C"/>
          </a:solidFill>
          <a:ln/>
        </p:spPr>
      </p:sp>
      <p:sp>
        <p:nvSpPr>
          <p:cNvPr id="27" name="Text 25"/>
          <p:cNvSpPr/>
          <p:nvPr/>
        </p:nvSpPr>
        <p:spPr>
          <a:xfrm>
            <a:off x="6703924" y="3602736"/>
            <a:ext cx="4719676" cy="41148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 Quick and cheap</a:t>
            </a:r>
            <a:endParaRPr lang="en-US" sz="1060" dirty="0"/>
          </a:p>
        </p:txBody>
      </p:sp>
      <p:sp>
        <p:nvSpPr>
          <p:cNvPr id="28" name="Shape 26"/>
          <p:cNvSpPr/>
          <p:nvPr/>
        </p:nvSpPr>
        <p:spPr>
          <a:xfrm>
            <a:off x="6521044" y="4133088"/>
            <a:ext cx="73152" cy="73152"/>
          </a:xfrm>
          <a:prstGeom prst="ellipse">
            <a:avLst/>
          </a:prstGeom>
          <a:solidFill>
            <a:srgbClr val="0B8A9C"/>
          </a:solidFill>
          <a:ln/>
        </p:spPr>
      </p:sp>
      <p:sp>
        <p:nvSpPr>
          <p:cNvPr id="29" name="Text 27"/>
          <p:cNvSpPr/>
          <p:nvPr/>
        </p:nvSpPr>
        <p:spPr>
          <a:xfrm>
            <a:off x="6703924" y="4005072"/>
            <a:ext cx="4719676" cy="41148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 May be less relevant or outdated</a:t>
            </a:r>
            <a:endParaRPr lang="en-US" sz="1060" dirty="0"/>
          </a:p>
        </p:txBody>
      </p:sp>
      <p:sp>
        <p:nvSpPr>
          <p:cNvPr id="30" name="Text 28"/>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DATA FUNDAMENTALS</a:t>
            </a:r>
            <a:endParaRPr lang="en-US" sz="900" dirty="0"/>
          </a:p>
        </p:txBody>
      </p:sp>
      <p:sp>
        <p:nvSpPr>
          <p:cNvPr id="31" name="Text 29"/>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DATA FUNDAMENTALS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The Data Life Cycle</a:t>
            </a:r>
            <a:endParaRPr lang="en-US" sz="2700" dirty="0"/>
          </a:p>
        </p:txBody>
      </p:sp>
      <p:sp>
        <p:nvSpPr>
          <p:cNvPr id="4" name="Text 2"/>
          <p:cNvSpPr/>
          <p:nvPr/>
        </p:nvSpPr>
        <p:spPr>
          <a:xfrm>
            <a:off x="548640" y="1536192"/>
            <a:ext cx="10607040" cy="411480"/>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Data Life Cycle Management (DLM) governs how data is handled from creation until it is archived or deleted.</a:t>
            </a:r>
            <a:endParaRPr lang="en-US" sz="1250" dirty="0"/>
          </a:p>
        </p:txBody>
      </p:sp>
      <p:sp>
        <p:nvSpPr>
          <p:cNvPr id="5" name="Shape 3"/>
          <p:cNvSpPr/>
          <p:nvPr/>
        </p:nvSpPr>
        <p:spPr>
          <a:xfrm>
            <a:off x="548640" y="2148840"/>
            <a:ext cx="2014057" cy="3017520"/>
          </a:xfrm>
          <a:prstGeom prst="roundRect">
            <a:avLst>
              <a:gd name="adj" fmla="val 3178"/>
            </a:avLst>
          </a:prstGeom>
          <a:solidFill>
            <a:srgbClr val="F2F6F9"/>
          </a:solidFill>
          <a:ln/>
        </p:spPr>
      </p:sp>
      <p:sp>
        <p:nvSpPr>
          <p:cNvPr id="6" name="Shape 4"/>
          <p:cNvSpPr/>
          <p:nvPr/>
        </p:nvSpPr>
        <p:spPr>
          <a:xfrm>
            <a:off x="1336213" y="1929384"/>
            <a:ext cx="438912" cy="438912"/>
          </a:xfrm>
          <a:prstGeom prst="ellipse">
            <a:avLst/>
          </a:prstGeom>
          <a:solidFill>
            <a:srgbClr val="0D2C4B"/>
          </a:solidFill>
          <a:ln/>
        </p:spPr>
      </p:sp>
      <p:sp>
        <p:nvSpPr>
          <p:cNvPr id="7" name="Text 5"/>
          <p:cNvSpPr/>
          <p:nvPr/>
        </p:nvSpPr>
        <p:spPr>
          <a:xfrm>
            <a:off x="1336213" y="19293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713232" y="2532888"/>
            <a:ext cx="1684873"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Create / Collect</a:t>
            </a:r>
            <a:endParaRPr lang="en-US" sz="1250" dirty="0"/>
          </a:p>
        </p:txBody>
      </p:sp>
      <p:sp>
        <p:nvSpPr>
          <p:cNvPr id="9" name="Text 7"/>
          <p:cNvSpPr/>
          <p:nvPr/>
        </p:nvSpPr>
        <p:spPr>
          <a:xfrm>
            <a:off x="713232" y="3063240"/>
            <a:ext cx="1684873" cy="196596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Data is generated or gathered from a source.</a:t>
            </a:r>
            <a:endParaRPr lang="en-US" sz="1030" dirty="0"/>
          </a:p>
        </p:txBody>
      </p:sp>
      <p:sp>
        <p:nvSpPr>
          <p:cNvPr id="10" name="Text 8"/>
          <p:cNvSpPr/>
          <p:nvPr/>
        </p:nvSpPr>
        <p:spPr>
          <a:xfrm>
            <a:off x="2562697" y="3429000"/>
            <a:ext cx="256032" cy="457200"/>
          </a:xfrm>
          <a:prstGeom prst="rect">
            <a:avLst/>
          </a:prstGeom>
          <a:noFill/>
          <a:ln/>
        </p:spPr>
        <p:txBody>
          <a:bodyPr wrap="square" lIns="0" tIns="0" rIns="0" bIns="0" rtlCol="0" anchor="ctr"/>
          <a:lstStyle/>
          <a:p>
            <a:pPr algn="ctr" indent="0" marL="0">
              <a:buNone/>
            </a:pPr>
            <a:r>
              <a:rPr lang="en-US" sz="2000" b="1" dirty="0">
                <a:solidFill>
                  <a:srgbClr val="12B5CB"/>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2818729" y="2148840"/>
            <a:ext cx="2014057" cy="3017520"/>
          </a:xfrm>
          <a:prstGeom prst="roundRect">
            <a:avLst>
              <a:gd name="adj" fmla="val 3178"/>
            </a:avLst>
          </a:prstGeom>
          <a:solidFill>
            <a:srgbClr val="F2F6F9"/>
          </a:solidFill>
          <a:ln/>
        </p:spPr>
      </p:sp>
      <p:sp>
        <p:nvSpPr>
          <p:cNvPr id="12" name="Shape 10"/>
          <p:cNvSpPr/>
          <p:nvPr/>
        </p:nvSpPr>
        <p:spPr>
          <a:xfrm>
            <a:off x="3606302" y="1929384"/>
            <a:ext cx="438912" cy="438912"/>
          </a:xfrm>
          <a:prstGeom prst="ellipse">
            <a:avLst/>
          </a:prstGeom>
          <a:solidFill>
            <a:srgbClr val="0D2C4B"/>
          </a:solidFill>
          <a:ln/>
        </p:spPr>
      </p:sp>
      <p:sp>
        <p:nvSpPr>
          <p:cNvPr id="13" name="Text 11"/>
          <p:cNvSpPr/>
          <p:nvPr/>
        </p:nvSpPr>
        <p:spPr>
          <a:xfrm>
            <a:off x="3606302" y="19293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2983321" y="2532888"/>
            <a:ext cx="1684873"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Store</a:t>
            </a:r>
            <a:endParaRPr lang="en-US" sz="1250" dirty="0"/>
          </a:p>
        </p:txBody>
      </p:sp>
      <p:sp>
        <p:nvSpPr>
          <p:cNvPr id="15" name="Text 13"/>
          <p:cNvSpPr/>
          <p:nvPr/>
        </p:nvSpPr>
        <p:spPr>
          <a:xfrm>
            <a:off x="2983321" y="3063240"/>
            <a:ext cx="1684873" cy="196596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Data is saved in databases or data warehouses.</a:t>
            </a:r>
            <a:endParaRPr lang="en-US" sz="1030" dirty="0"/>
          </a:p>
        </p:txBody>
      </p:sp>
      <p:sp>
        <p:nvSpPr>
          <p:cNvPr id="16" name="Text 14"/>
          <p:cNvSpPr/>
          <p:nvPr/>
        </p:nvSpPr>
        <p:spPr>
          <a:xfrm>
            <a:off x="4832787" y="3429000"/>
            <a:ext cx="256032" cy="457200"/>
          </a:xfrm>
          <a:prstGeom prst="rect">
            <a:avLst/>
          </a:prstGeom>
          <a:noFill/>
          <a:ln/>
        </p:spPr>
        <p:txBody>
          <a:bodyPr wrap="square" lIns="0" tIns="0" rIns="0" bIns="0" rtlCol="0" anchor="ctr"/>
          <a:lstStyle/>
          <a:p>
            <a:pPr algn="ctr" indent="0" marL="0">
              <a:buNone/>
            </a:pPr>
            <a:r>
              <a:rPr lang="en-US" sz="2000" b="1" dirty="0">
                <a:solidFill>
                  <a:srgbClr val="12B5CB"/>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5088819" y="2148840"/>
            <a:ext cx="2014057" cy="3017520"/>
          </a:xfrm>
          <a:prstGeom prst="roundRect">
            <a:avLst>
              <a:gd name="adj" fmla="val 3178"/>
            </a:avLst>
          </a:prstGeom>
          <a:solidFill>
            <a:srgbClr val="F2F6F9"/>
          </a:solidFill>
          <a:ln/>
        </p:spPr>
      </p:sp>
      <p:sp>
        <p:nvSpPr>
          <p:cNvPr id="18" name="Shape 16"/>
          <p:cNvSpPr/>
          <p:nvPr/>
        </p:nvSpPr>
        <p:spPr>
          <a:xfrm>
            <a:off x="5876392" y="1929384"/>
            <a:ext cx="438912" cy="438912"/>
          </a:xfrm>
          <a:prstGeom prst="ellipse">
            <a:avLst/>
          </a:prstGeom>
          <a:solidFill>
            <a:srgbClr val="0D2C4B"/>
          </a:solidFill>
          <a:ln/>
        </p:spPr>
      </p:sp>
      <p:sp>
        <p:nvSpPr>
          <p:cNvPr id="19" name="Text 17"/>
          <p:cNvSpPr/>
          <p:nvPr/>
        </p:nvSpPr>
        <p:spPr>
          <a:xfrm>
            <a:off x="5876392" y="19293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5253411" y="2532888"/>
            <a:ext cx="1684873"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Use / Analyze</a:t>
            </a:r>
            <a:endParaRPr lang="en-US" sz="1250" dirty="0"/>
          </a:p>
        </p:txBody>
      </p:sp>
      <p:sp>
        <p:nvSpPr>
          <p:cNvPr id="21" name="Text 19"/>
          <p:cNvSpPr/>
          <p:nvPr/>
        </p:nvSpPr>
        <p:spPr>
          <a:xfrm>
            <a:off x="5253411" y="3063240"/>
            <a:ext cx="1684873" cy="196596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Data is processed to generate insight.</a:t>
            </a:r>
            <a:endParaRPr lang="en-US" sz="1030" dirty="0"/>
          </a:p>
        </p:txBody>
      </p:sp>
      <p:sp>
        <p:nvSpPr>
          <p:cNvPr id="22" name="Text 20"/>
          <p:cNvSpPr/>
          <p:nvPr/>
        </p:nvSpPr>
        <p:spPr>
          <a:xfrm>
            <a:off x="7102876" y="3429000"/>
            <a:ext cx="256032" cy="457200"/>
          </a:xfrm>
          <a:prstGeom prst="rect">
            <a:avLst/>
          </a:prstGeom>
          <a:noFill/>
          <a:ln/>
        </p:spPr>
        <p:txBody>
          <a:bodyPr wrap="square" lIns="0" tIns="0" rIns="0" bIns="0" rtlCol="0" anchor="ctr"/>
          <a:lstStyle/>
          <a:p>
            <a:pPr algn="ctr" indent="0" marL="0">
              <a:buNone/>
            </a:pPr>
            <a:r>
              <a:rPr lang="en-US" sz="2000" b="1" dirty="0">
                <a:solidFill>
                  <a:srgbClr val="12B5CB"/>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7358908" y="2148840"/>
            <a:ext cx="2014057" cy="3017520"/>
          </a:xfrm>
          <a:prstGeom prst="roundRect">
            <a:avLst>
              <a:gd name="adj" fmla="val 3178"/>
            </a:avLst>
          </a:prstGeom>
          <a:solidFill>
            <a:srgbClr val="F2F6F9"/>
          </a:solidFill>
          <a:ln/>
        </p:spPr>
      </p:sp>
      <p:sp>
        <p:nvSpPr>
          <p:cNvPr id="24" name="Shape 22"/>
          <p:cNvSpPr/>
          <p:nvPr/>
        </p:nvSpPr>
        <p:spPr>
          <a:xfrm>
            <a:off x="8146481" y="1929384"/>
            <a:ext cx="438912" cy="438912"/>
          </a:xfrm>
          <a:prstGeom prst="ellipse">
            <a:avLst/>
          </a:prstGeom>
          <a:solidFill>
            <a:srgbClr val="0D2C4B"/>
          </a:solidFill>
          <a:ln/>
        </p:spPr>
      </p:sp>
      <p:sp>
        <p:nvSpPr>
          <p:cNvPr id="25" name="Text 23"/>
          <p:cNvSpPr/>
          <p:nvPr/>
        </p:nvSpPr>
        <p:spPr>
          <a:xfrm>
            <a:off x="8146481" y="19293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4"/>
          <p:cNvSpPr/>
          <p:nvPr/>
        </p:nvSpPr>
        <p:spPr>
          <a:xfrm>
            <a:off x="7523500" y="2532888"/>
            <a:ext cx="1684873"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Share</a:t>
            </a:r>
            <a:endParaRPr lang="en-US" sz="1250" dirty="0"/>
          </a:p>
        </p:txBody>
      </p:sp>
      <p:sp>
        <p:nvSpPr>
          <p:cNvPr id="27" name="Text 25"/>
          <p:cNvSpPr/>
          <p:nvPr/>
        </p:nvSpPr>
        <p:spPr>
          <a:xfrm>
            <a:off x="7523500" y="3063240"/>
            <a:ext cx="1684873" cy="196596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Data is distributed to those who need it.</a:t>
            </a:r>
            <a:endParaRPr lang="en-US" sz="1030" dirty="0"/>
          </a:p>
        </p:txBody>
      </p:sp>
      <p:sp>
        <p:nvSpPr>
          <p:cNvPr id="28" name="Text 26"/>
          <p:cNvSpPr/>
          <p:nvPr/>
        </p:nvSpPr>
        <p:spPr>
          <a:xfrm>
            <a:off x="9372966" y="3429000"/>
            <a:ext cx="256032" cy="457200"/>
          </a:xfrm>
          <a:prstGeom prst="rect">
            <a:avLst/>
          </a:prstGeom>
          <a:noFill/>
          <a:ln/>
        </p:spPr>
        <p:txBody>
          <a:bodyPr wrap="square" lIns="0" tIns="0" rIns="0" bIns="0" rtlCol="0" anchor="ctr"/>
          <a:lstStyle/>
          <a:p>
            <a:pPr algn="ctr" indent="0" marL="0">
              <a:buNone/>
            </a:pPr>
            <a:r>
              <a:rPr lang="en-US" sz="2000" b="1" dirty="0">
                <a:solidFill>
                  <a:srgbClr val="12B5CB"/>
                </a:solidFill>
                <a:latin typeface="Calibri" pitchFamily="34" charset="0"/>
                <a:ea typeface="Calibri" pitchFamily="34" charset="-122"/>
                <a:cs typeface="Calibri" pitchFamily="34" charset="-120"/>
              </a:rPr>
              <a:t>›</a:t>
            </a:r>
            <a:endParaRPr lang="en-US" sz="2000" dirty="0"/>
          </a:p>
        </p:txBody>
      </p:sp>
      <p:sp>
        <p:nvSpPr>
          <p:cNvPr id="29" name="Shape 27"/>
          <p:cNvSpPr/>
          <p:nvPr/>
        </p:nvSpPr>
        <p:spPr>
          <a:xfrm>
            <a:off x="9628998" y="2148840"/>
            <a:ext cx="2014057" cy="3017520"/>
          </a:xfrm>
          <a:prstGeom prst="roundRect">
            <a:avLst>
              <a:gd name="adj" fmla="val 3178"/>
            </a:avLst>
          </a:prstGeom>
          <a:solidFill>
            <a:srgbClr val="F2F6F9"/>
          </a:solidFill>
          <a:ln/>
        </p:spPr>
      </p:sp>
      <p:sp>
        <p:nvSpPr>
          <p:cNvPr id="30" name="Shape 28"/>
          <p:cNvSpPr/>
          <p:nvPr/>
        </p:nvSpPr>
        <p:spPr>
          <a:xfrm>
            <a:off x="10416570" y="1929384"/>
            <a:ext cx="438912" cy="438912"/>
          </a:xfrm>
          <a:prstGeom prst="ellipse">
            <a:avLst/>
          </a:prstGeom>
          <a:solidFill>
            <a:srgbClr val="0D2C4B"/>
          </a:solidFill>
          <a:ln/>
        </p:spPr>
      </p:sp>
      <p:sp>
        <p:nvSpPr>
          <p:cNvPr id="31" name="Text 29"/>
          <p:cNvSpPr/>
          <p:nvPr/>
        </p:nvSpPr>
        <p:spPr>
          <a:xfrm>
            <a:off x="10416570" y="19293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2" name="Text 30"/>
          <p:cNvSpPr/>
          <p:nvPr/>
        </p:nvSpPr>
        <p:spPr>
          <a:xfrm>
            <a:off x="9793590" y="2532888"/>
            <a:ext cx="1684873"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Archive or Delete</a:t>
            </a:r>
            <a:endParaRPr lang="en-US" sz="1250" dirty="0"/>
          </a:p>
        </p:txBody>
      </p:sp>
      <p:sp>
        <p:nvSpPr>
          <p:cNvPr id="33" name="Text 31"/>
          <p:cNvSpPr/>
          <p:nvPr/>
        </p:nvSpPr>
        <p:spPr>
          <a:xfrm>
            <a:off x="9793590" y="3063240"/>
            <a:ext cx="1684873" cy="196596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Data is retained per policy or securely disposed of.</a:t>
            </a:r>
            <a:endParaRPr lang="en-US" sz="1030" dirty="0"/>
          </a:p>
        </p:txBody>
      </p:sp>
      <p:sp>
        <p:nvSpPr>
          <p:cNvPr id="34" name="Text 3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DATA FUNDAMENTALS</a:t>
            </a:r>
            <a:endParaRPr lang="en-US" sz="900" dirty="0"/>
          </a:p>
        </p:txBody>
      </p:sp>
      <p:sp>
        <p:nvSpPr>
          <p:cNvPr id="35" name="Text 3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81826"/>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63A5C">
              <a:alpha val="65000"/>
            </a:srgbClr>
          </a:solidFill>
          <a:ln/>
        </p:spPr>
      </p:sp>
      <p:sp>
        <p:nvSpPr>
          <p:cNvPr id="3" name="Shape 1"/>
          <p:cNvSpPr/>
          <p:nvPr/>
        </p:nvSpPr>
        <p:spPr>
          <a:xfrm>
            <a:off x="-1280160" y="4937760"/>
            <a:ext cx="3291840" cy="3291840"/>
          </a:xfrm>
          <a:prstGeom prst="ellipse">
            <a:avLst/>
          </a:prstGeom>
          <a:solidFill>
            <a:srgbClr val="12B5CB">
              <a:alpha val="18000"/>
            </a:srgbClr>
          </a:solidFill>
          <a:ln/>
        </p:spPr>
      </p:sp>
      <p:sp>
        <p:nvSpPr>
          <p:cNvPr id="4" name="Text 2"/>
          <p:cNvSpPr/>
          <p:nvPr/>
        </p:nvSpPr>
        <p:spPr>
          <a:xfrm>
            <a:off x="548640" y="1965960"/>
            <a:ext cx="3657600" cy="1463040"/>
          </a:xfrm>
          <a:prstGeom prst="rect">
            <a:avLst/>
          </a:prstGeom>
          <a:noFill/>
          <a:ln/>
        </p:spPr>
        <p:txBody>
          <a:bodyPr wrap="square" lIns="0" tIns="0" rIns="0" bIns="0" rtlCol="0" anchor="ctr"/>
          <a:lstStyle/>
          <a:p>
            <a:pPr indent="0" marL="0">
              <a:buNone/>
            </a:pPr>
            <a:r>
              <a:rPr lang="en-US" sz="9000" b="1" dirty="0">
                <a:solidFill>
                  <a:srgbClr val="12B5CB"/>
                </a:solidFill>
                <a:latin typeface="Cambria" pitchFamily="34" charset="0"/>
                <a:ea typeface="Cambria" pitchFamily="34" charset="-122"/>
                <a:cs typeface="Cambria" pitchFamily="34" charset="-120"/>
              </a:rPr>
              <a:t>06</a:t>
            </a:r>
            <a:endParaRPr lang="en-US" sz="9000" dirty="0"/>
          </a:p>
        </p:txBody>
      </p:sp>
      <p:sp>
        <p:nvSpPr>
          <p:cNvPr id="5" name="Text 3"/>
          <p:cNvSpPr/>
          <p:nvPr/>
        </p:nvSpPr>
        <p:spPr>
          <a:xfrm>
            <a:off x="548640" y="3429000"/>
            <a:ext cx="9601200" cy="1188720"/>
          </a:xfrm>
          <a:prstGeom prst="rect">
            <a:avLst/>
          </a:prstGeom>
          <a:noFill/>
          <a:ln/>
        </p:spPr>
        <p:txBody>
          <a:bodyPr wrap="square" lIns="0" tIns="0" rIns="0" bIns="0"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Business Analysis</a:t>
            </a:r>
            <a:endParaRPr lang="en-US" sz="3400" dirty="0"/>
          </a:p>
        </p:txBody>
      </p:sp>
      <p:sp>
        <p:nvSpPr>
          <p:cNvPr id="6" name="Text 4"/>
          <p:cNvSpPr/>
          <p:nvPr/>
        </p:nvSpPr>
        <p:spPr>
          <a:xfrm>
            <a:off x="548640" y="4526280"/>
            <a:ext cx="8412480" cy="731520"/>
          </a:xfrm>
          <a:prstGeom prst="rect">
            <a:avLst/>
          </a:prstGeom>
          <a:noFill/>
          <a:ln/>
        </p:spPr>
        <p:txBody>
          <a:bodyPr wrap="square" lIns="0" tIns="0" rIns="0" bIns="0" rtlCol="0" anchor="ctr"/>
          <a:lstStyle/>
          <a:p>
            <a:pPr indent="0" marL="0">
              <a:lnSpc>
                <a:spcPts val="1900"/>
              </a:lnSpc>
              <a:buNone/>
            </a:pPr>
            <a:r>
              <a:rPr lang="en-US" sz="1400" dirty="0">
                <a:solidFill>
                  <a:srgbClr val="9FB6C9"/>
                </a:solidFill>
                <a:latin typeface="Calibri" pitchFamily="34" charset="0"/>
                <a:ea typeface="Calibri" pitchFamily="34" charset="-122"/>
                <a:cs typeface="Calibri" pitchFamily="34" charset="-120"/>
              </a:rPr>
              <a:t>The people, skills, and methods that turn business needs into working solutions.</a:t>
            </a:r>
            <a:endParaRPr lang="en-US" sz="1400" dirty="0"/>
          </a:p>
        </p:txBody>
      </p:sp>
      <p:sp>
        <p:nvSpPr>
          <p:cNvPr id="7" name="Text 5"/>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9FB6C9"/>
                </a:solidFill>
                <a:latin typeface="Calibri" pitchFamily="34" charset="0"/>
                <a:ea typeface="Calibri" pitchFamily="34" charset="-122"/>
                <a:cs typeface="Calibri" pitchFamily="34" charset="-120"/>
              </a:rPr>
              <a:t>BUSINESS ANALYSIS</a:t>
            </a:r>
            <a:endParaRPr lang="en-US" sz="900" dirty="0"/>
          </a:p>
        </p:txBody>
      </p:sp>
      <p:sp>
        <p:nvSpPr>
          <p:cNvPr id="8" name="Text 6"/>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9FB6C9"/>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18320" y="-914400"/>
            <a:ext cx="3840480" cy="3840480"/>
          </a:xfrm>
          <a:prstGeom prst="ellipse">
            <a:avLst/>
          </a:prstGeom>
          <a:solidFill>
            <a:srgbClr val="F2F6F9"/>
          </a:solidFill>
          <a:ln/>
        </p:spPr>
      </p:sp>
      <p:sp>
        <p:nvSpPr>
          <p:cNvPr id="3" name="Shape 1"/>
          <p:cNvSpPr/>
          <p:nvPr/>
        </p:nvSpPr>
        <p:spPr>
          <a:xfrm>
            <a:off x="10424160" y="91440"/>
            <a:ext cx="1828800" cy="1828800"/>
          </a:xfrm>
          <a:prstGeom prst="ellipse">
            <a:avLst/>
          </a:prstGeom>
          <a:solidFill>
            <a:srgbClr val="12B5CB">
              <a:alpha val="15000"/>
            </a:srgbClr>
          </a:solidFill>
          <a:ln/>
        </p:spPr>
      </p:sp>
      <p:sp>
        <p:nvSpPr>
          <p:cNvPr id="4" name="Text 2"/>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BUSINESS ANALYSIS</a:t>
            </a:r>
            <a:endParaRPr lang="en-US" sz="1150" dirty="0"/>
          </a:p>
        </p:txBody>
      </p:sp>
      <p:sp>
        <p:nvSpPr>
          <p:cNvPr id="5" name="Text 3"/>
          <p:cNvSpPr/>
          <p:nvPr/>
        </p:nvSpPr>
        <p:spPr>
          <a:xfrm>
            <a:off x="548640" y="960120"/>
            <a:ext cx="9692640" cy="1005840"/>
          </a:xfrm>
          <a:prstGeom prst="rect">
            <a:avLst/>
          </a:prstGeom>
          <a:noFill/>
          <a:ln/>
        </p:spPr>
        <p:txBody>
          <a:bodyPr wrap="square" lIns="0" tIns="0" rIns="0" bIns="0" rtlCol="0" anchor="ctr"/>
          <a:lstStyle/>
          <a:p>
            <a:pPr indent="0" marL="0">
              <a:lnSpc>
                <a:spcPts val="3400"/>
              </a:lnSpc>
              <a:buNone/>
            </a:pPr>
            <a:r>
              <a:rPr lang="en-US" sz="3000" b="1" dirty="0">
                <a:solidFill>
                  <a:srgbClr val="0D2C4B"/>
                </a:solidFill>
                <a:latin typeface="Cambria" pitchFamily="34" charset="0"/>
                <a:ea typeface="Cambria" pitchFamily="34" charset="-122"/>
                <a:cs typeface="Cambria" pitchFamily="34" charset="-120"/>
              </a:rPr>
              <a:t>What Do Business Analysts Do?</a:t>
            </a:r>
            <a:endParaRPr lang="en-US" sz="3000" dirty="0"/>
          </a:p>
        </p:txBody>
      </p:sp>
      <p:sp>
        <p:nvSpPr>
          <p:cNvPr id="6" name="Text 4"/>
          <p:cNvSpPr/>
          <p:nvPr/>
        </p:nvSpPr>
        <p:spPr>
          <a:xfrm>
            <a:off x="548640" y="2148840"/>
            <a:ext cx="9509760" cy="2377440"/>
          </a:xfrm>
          <a:prstGeom prst="rect">
            <a:avLst/>
          </a:prstGeom>
          <a:noFill/>
          <a:ln/>
        </p:spPr>
        <p:txBody>
          <a:bodyPr wrap="square" lIns="0" tIns="0" rIns="0" bIns="0" rtlCol="0" anchor="ctr"/>
          <a:lstStyle/>
          <a:p>
            <a:pPr indent="0" marL="0">
              <a:lnSpc>
                <a:spcPts val="2500"/>
              </a:lnSpc>
              <a:buNone/>
            </a:pPr>
            <a:r>
              <a:rPr lang="en-US" sz="1600" dirty="0">
                <a:solidFill>
                  <a:srgbClr val="1C2B39"/>
                </a:solidFill>
                <a:latin typeface="Calibri" pitchFamily="34" charset="0"/>
                <a:ea typeface="Calibri" pitchFamily="34" charset="-122"/>
                <a:cs typeface="Calibri" pitchFamily="34" charset="-120"/>
              </a:rPr>
              <a:t>Business analysts assess an organization's current processes, systems, and products to identify areas for improvement, increase efficiency, and boost revenue. They bridge business needs and solutions by gathering requirements, analyzing data, and communicating insights to guide strategic decisions and implement change.</a:t>
            </a:r>
            <a:endParaRPr lang="en-US" sz="1600" dirty="0"/>
          </a:p>
        </p:txBody>
      </p:sp>
      <p:sp>
        <p:nvSpPr>
          <p:cNvPr id="7" name="Shape 5"/>
          <p:cNvSpPr/>
          <p:nvPr/>
        </p:nvSpPr>
        <p:spPr>
          <a:xfrm>
            <a:off x="548640" y="4892040"/>
            <a:ext cx="1444752" cy="384048"/>
          </a:xfrm>
          <a:prstGeom prst="roundRect">
            <a:avLst>
              <a:gd name="adj" fmla="val 50000"/>
            </a:avLst>
          </a:prstGeom>
          <a:solidFill>
            <a:srgbClr val="F2F6F9"/>
          </a:solidFill>
          <a:ln w="12700">
            <a:solidFill>
              <a:srgbClr val="DCE6ED"/>
            </a:solidFill>
            <a:prstDash val="solid"/>
          </a:ln>
        </p:spPr>
      </p:sp>
      <p:sp>
        <p:nvSpPr>
          <p:cNvPr id="8" name="Text 6"/>
          <p:cNvSpPr/>
          <p:nvPr/>
        </p:nvSpPr>
        <p:spPr>
          <a:xfrm>
            <a:off x="548640" y="4892040"/>
            <a:ext cx="1444752"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Requirements</a:t>
            </a:r>
            <a:endParaRPr lang="en-US" sz="1150" dirty="0"/>
          </a:p>
        </p:txBody>
      </p:sp>
      <p:sp>
        <p:nvSpPr>
          <p:cNvPr id="9" name="Shape 7"/>
          <p:cNvSpPr/>
          <p:nvPr/>
        </p:nvSpPr>
        <p:spPr>
          <a:xfrm>
            <a:off x="2194560" y="4892040"/>
            <a:ext cx="1060704" cy="384048"/>
          </a:xfrm>
          <a:prstGeom prst="roundRect">
            <a:avLst>
              <a:gd name="adj" fmla="val 50000"/>
            </a:avLst>
          </a:prstGeom>
          <a:solidFill>
            <a:srgbClr val="F2F6F9"/>
          </a:solidFill>
          <a:ln w="12700">
            <a:solidFill>
              <a:srgbClr val="DCE6ED"/>
            </a:solidFill>
            <a:prstDash val="solid"/>
          </a:ln>
        </p:spPr>
      </p:sp>
      <p:sp>
        <p:nvSpPr>
          <p:cNvPr id="10" name="Text 8"/>
          <p:cNvSpPr/>
          <p:nvPr/>
        </p:nvSpPr>
        <p:spPr>
          <a:xfrm>
            <a:off x="2194560" y="4892040"/>
            <a:ext cx="1060704"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Analysis</a:t>
            </a:r>
            <a:endParaRPr lang="en-US" sz="1150" dirty="0"/>
          </a:p>
        </p:txBody>
      </p:sp>
      <p:sp>
        <p:nvSpPr>
          <p:cNvPr id="11" name="Shape 9"/>
          <p:cNvSpPr/>
          <p:nvPr/>
        </p:nvSpPr>
        <p:spPr>
          <a:xfrm>
            <a:off x="3456432" y="4892040"/>
            <a:ext cx="1444752" cy="384048"/>
          </a:xfrm>
          <a:prstGeom prst="roundRect">
            <a:avLst>
              <a:gd name="adj" fmla="val 50000"/>
            </a:avLst>
          </a:prstGeom>
          <a:solidFill>
            <a:srgbClr val="F2F6F9"/>
          </a:solidFill>
          <a:ln w="12700">
            <a:solidFill>
              <a:srgbClr val="DCE6ED"/>
            </a:solidFill>
            <a:prstDash val="solid"/>
          </a:ln>
        </p:spPr>
      </p:sp>
      <p:sp>
        <p:nvSpPr>
          <p:cNvPr id="12" name="Text 10"/>
          <p:cNvSpPr/>
          <p:nvPr/>
        </p:nvSpPr>
        <p:spPr>
          <a:xfrm>
            <a:off x="3456432" y="4892040"/>
            <a:ext cx="1444752"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Stakeholders</a:t>
            </a:r>
            <a:endParaRPr lang="en-US" sz="1150" dirty="0"/>
          </a:p>
        </p:txBody>
      </p:sp>
      <p:sp>
        <p:nvSpPr>
          <p:cNvPr id="13" name="Shape 11"/>
          <p:cNvSpPr/>
          <p:nvPr/>
        </p:nvSpPr>
        <p:spPr>
          <a:xfrm>
            <a:off x="5102352" y="4892040"/>
            <a:ext cx="868680" cy="384048"/>
          </a:xfrm>
          <a:prstGeom prst="roundRect">
            <a:avLst>
              <a:gd name="adj" fmla="val 50000"/>
            </a:avLst>
          </a:prstGeom>
          <a:solidFill>
            <a:srgbClr val="F2F6F9"/>
          </a:solidFill>
          <a:ln w="12700">
            <a:solidFill>
              <a:srgbClr val="DCE6ED"/>
            </a:solidFill>
            <a:prstDash val="solid"/>
          </a:ln>
        </p:spPr>
      </p:sp>
      <p:sp>
        <p:nvSpPr>
          <p:cNvPr id="14" name="Text 12"/>
          <p:cNvSpPr/>
          <p:nvPr/>
        </p:nvSpPr>
        <p:spPr>
          <a:xfrm>
            <a:off x="5102352" y="4892040"/>
            <a:ext cx="868680"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Change</a:t>
            </a:r>
            <a:endParaRPr lang="en-US" sz="1150" dirty="0"/>
          </a:p>
        </p:txBody>
      </p:sp>
      <p:sp>
        <p:nvSpPr>
          <p:cNvPr id="15" name="Text 13"/>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BUSINESS ANALYSIS</a:t>
            </a:r>
            <a:endParaRPr lang="en-US" sz="900" dirty="0"/>
          </a:p>
        </p:txBody>
      </p:sp>
      <p:sp>
        <p:nvSpPr>
          <p:cNvPr id="16" name="Text 14"/>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BUSINESS ANALYSIS</a:t>
            </a:r>
            <a:endParaRPr lang="en-US" sz="1150" dirty="0"/>
          </a:p>
        </p:txBody>
      </p:sp>
      <p:sp>
        <p:nvSpPr>
          <p:cNvPr id="3" name="Text 1"/>
          <p:cNvSpPr/>
          <p:nvPr/>
        </p:nvSpPr>
        <p:spPr>
          <a:xfrm>
            <a:off x="548640" y="868680"/>
            <a:ext cx="10607040" cy="54864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Key Responsibilities of a BA</a:t>
            </a:r>
            <a:endParaRPr lang="en-US" sz="2700" dirty="0"/>
          </a:p>
        </p:txBody>
      </p:sp>
      <p:sp>
        <p:nvSpPr>
          <p:cNvPr id="4" name="Shape 2"/>
          <p:cNvSpPr/>
          <p:nvPr/>
        </p:nvSpPr>
        <p:spPr>
          <a:xfrm>
            <a:off x="548640" y="1508760"/>
            <a:ext cx="5364328" cy="2263140"/>
          </a:xfrm>
          <a:prstGeom prst="roundRect">
            <a:avLst>
              <a:gd name="adj" fmla="val 3232"/>
            </a:avLst>
          </a:prstGeom>
          <a:solidFill>
            <a:srgbClr val="F2F6F9"/>
          </a:solidFill>
          <a:ln/>
        </p:spPr>
      </p:sp>
      <p:sp>
        <p:nvSpPr>
          <p:cNvPr id="5" name="Shape 3"/>
          <p:cNvSpPr/>
          <p:nvPr/>
        </p:nvSpPr>
        <p:spPr>
          <a:xfrm>
            <a:off x="777240" y="1737360"/>
            <a:ext cx="384048" cy="384048"/>
          </a:xfrm>
          <a:prstGeom prst="ellipse">
            <a:avLst/>
          </a:prstGeom>
          <a:solidFill>
            <a:srgbClr val="0D2C4B"/>
          </a:solidFill>
          <a:ln/>
        </p:spPr>
      </p:sp>
      <p:sp>
        <p:nvSpPr>
          <p:cNvPr id="6" name="Text 4"/>
          <p:cNvSpPr/>
          <p:nvPr/>
        </p:nvSpPr>
        <p:spPr>
          <a:xfrm>
            <a:off x="777240" y="17373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98448" y="17282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Analyzing Business Needs</a:t>
            </a:r>
            <a:endParaRPr lang="en-US" sz="1450" dirty="0"/>
          </a:p>
        </p:txBody>
      </p:sp>
      <p:sp>
        <p:nvSpPr>
          <p:cNvPr id="8" name="Text 6"/>
          <p:cNvSpPr/>
          <p:nvPr/>
        </p:nvSpPr>
        <p:spPr>
          <a:xfrm>
            <a:off x="777240" y="22585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Research and identify functional and technical needs to solve problems or capitalize on opportunities.</a:t>
            </a:r>
            <a:endParaRPr lang="en-US" sz="1080" dirty="0"/>
          </a:p>
        </p:txBody>
      </p:sp>
      <p:sp>
        <p:nvSpPr>
          <p:cNvPr id="9" name="Shape 7"/>
          <p:cNvSpPr/>
          <p:nvPr/>
        </p:nvSpPr>
        <p:spPr>
          <a:xfrm>
            <a:off x="6278728" y="1508760"/>
            <a:ext cx="5364328" cy="2263140"/>
          </a:xfrm>
          <a:prstGeom prst="roundRect">
            <a:avLst>
              <a:gd name="adj" fmla="val 3232"/>
            </a:avLst>
          </a:prstGeom>
          <a:solidFill>
            <a:srgbClr val="F2F6F9"/>
          </a:solidFill>
          <a:ln/>
        </p:spPr>
      </p:sp>
      <p:sp>
        <p:nvSpPr>
          <p:cNvPr id="10" name="Shape 8"/>
          <p:cNvSpPr/>
          <p:nvPr/>
        </p:nvSpPr>
        <p:spPr>
          <a:xfrm>
            <a:off x="6507328" y="1737360"/>
            <a:ext cx="384048" cy="384048"/>
          </a:xfrm>
          <a:prstGeom prst="ellipse">
            <a:avLst/>
          </a:prstGeom>
          <a:solidFill>
            <a:srgbClr val="0B8A9C"/>
          </a:solidFill>
          <a:ln/>
        </p:spPr>
      </p:sp>
      <p:sp>
        <p:nvSpPr>
          <p:cNvPr id="11" name="Text 9"/>
          <p:cNvSpPr/>
          <p:nvPr/>
        </p:nvSpPr>
        <p:spPr>
          <a:xfrm>
            <a:off x="6507328" y="17373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7028536" y="17282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Data Analysis</a:t>
            </a:r>
            <a:endParaRPr lang="en-US" sz="1450" dirty="0"/>
          </a:p>
        </p:txBody>
      </p:sp>
      <p:sp>
        <p:nvSpPr>
          <p:cNvPr id="13" name="Text 11"/>
          <p:cNvSpPr/>
          <p:nvPr/>
        </p:nvSpPr>
        <p:spPr>
          <a:xfrm>
            <a:off x="6507328" y="22585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Analyze large datasets with tools like SQL and Excel to find trends and build financial models.</a:t>
            </a:r>
            <a:endParaRPr lang="en-US" sz="1080" dirty="0"/>
          </a:p>
        </p:txBody>
      </p:sp>
      <p:sp>
        <p:nvSpPr>
          <p:cNvPr id="14" name="Shape 12"/>
          <p:cNvSpPr/>
          <p:nvPr/>
        </p:nvSpPr>
        <p:spPr>
          <a:xfrm>
            <a:off x="548640" y="4137660"/>
            <a:ext cx="5364328" cy="2263140"/>
          </a:xfrm>
          <a:prstGeom prst="roundRect">
            <a:avLst>
              <a:gd name="adj" fmla="val 3232"/>
            </a:avLst>
          </a:prstGeom>
          <a:solidFill>
            <a:srgbClr val="F2F6F9"/>
          </a:solidFill>
          <a:ln/>
        </p:spPr>
      </p:sp>
      <p:sp>
        <p:nvSpPr>
          <p:cNvPr id="15" name="Shape 13"/>
          <p:cNvSpPr/>
          <p:nvPr/>
        </p:nvSpPr>
        <p:spPr>
          <a:xfrm>
            <a:off x="777240" y="4366260"/>
            <a:ext cx="384048" cy="384048"/>
          </a:xfrm>
          <a:prstGeom prst="ellipse">
            <a:avLst/>
          </a:prstGeom>
          <a:solidFill>
            <a:srgbClr val="E8934C"/>
          </a:solidFill>
          <a:ln/>
        </p:spPr>
      </p:sp>
      <p:sp>
        <p:nvSpPr>
          <p:cNvPr id="16" name="Text 14"/>
          <p:cNvSpPr/>
          <p:nvPr/>
        </p:nvSpPr>
        <p:spPr>
          <a:xfrm>
            <a:off x="777240" y="43662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298448" y="43571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Process Improvement</a:t>
            </a:r>
            <a:endParaRPr lang="en-US" sz="1450" dirty="0"/>
          </a:p>
        </p:txBody>
      </p:sp>
      <p:sp>
        <p:nvSpPr>
          <p:cNvPr id="18" name="Text 16"/>
          <p:cNvSpPr/>
          <p:nvPr/>
        </p:nvSpPr>
        <p:spPr>
          <a:xfrm>
            <a:off x="777240" y="48874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Evaluate processes, identify inefficiencies, and recommend new technology, policy, or system changes.</a:t>
            </a:r>
            <a:endParaRPr lang="en-US" sz="1080" dirty="0"/>
          </a:p>
        </p:txBody>
      </p:sp>
      <p:sp>
        <p:nvSpPr>
          <p:cNvPr id="19" name="Shape 17"/>
          <p:cNvSpPr/>
          <p:nvPr/>
        </p:nvSpPr>
        <p:spPr>
          <a:xfrm>
            <a:off x="6278728" y="4137660"/>
            <a:ext cx="5364328" cy="2263140"/>
          </a:xfrm>
          <a:prstGeom prst="roundRect">
            <a:avLst>
              <a:gd name="adj" fmla="val 3232"/>
            </a:avLst>
          </a:prstGeom>
          <a:solidFill>
            <a:srgbClr val="F2F6F9"/>
          </a:solidFill>
          <a:ln/>
        </p:spPr>
      </p:sp>
      <p:sp>
        <p:nvSpPr>
          <p:cNvPr id="20" name="Shape 18"/>
          <p:cNvSpPr/>
          <p:nvPr/>
        </p:nvSpPr>
        <p:spPr>
          <a:xfrm>
            <a:off x="6507328" y="4366260"/>
            <a:ext cx="384048" cy="384048"/>
          </a:xfrm>
          <a:prstGeom prst="ellipse">
            <a:avLst/>
          </a:prstGeom>
          <a:solidFill>
            <a:srgbClr val="C85A46"/>
          </a:solidFill>
          <a:ln/>
        </p:spPr>
      </p:sp>
      <p:sp>
        <p:nvSpPr>
          <p:cNvPr id="21" name="Text 19"/>
          <p:cNvSpPr/>
          <p:nvPr/>
        </p:nvSpPr>
        <p:spPr>
          <a:xfrm>
            <a:off x="6507328" y="43662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7028536" y="43571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Requirements &amp; Delivery</a:t>
            </a:r>
            <a:endParaRPr lang="en-US" sz="1450" dirty="0"/>
          </a:p>
        </p:txBody>
      </p:sp>
      <p:sp>
        <p:nvSpPr>
          <p:cNvPr id="23" name="Text 21"/>
          <p:cNvSpPr/>
          <p:nvPr/>
        </p:nvSpPr>
        <p:spPr>
          <a:xfrm>
            <a:off x="6507328" y="48874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Gather stakeholder requirements, document findings, and help oversee solution implementation.</a:t>
            </a:r>
            <a:endParaRPr lang="en-US" sz="1080" dirty="0"/>
          </a:p>
        </p:txBody>
      </p:sp>
      <p:sp>
        <p:nvSpPr>
          <p:cNvPr id="24"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BUSINESS ANALYSIS</a:t>
            </a:r>
            <a:endParaRPr lang="en-US" sz="900" dirty="0"/>
          </a:p>
        </p:txBody>
      </p:sp>
      <p:sp>
        <p:nvSpPr>
          <p:cNvPr id="25" name="Text 2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BUSINESS ANALYSIS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Skills &amp; Tools of a Business Analyst</a:t>
            </a:r>
            <a:endParaRPr lang="en-US" sz="2700" dirty="0"/>
          </a:p>
        </p:txBody>
      </p:sp>
      <p:sp>
        <p:nvSpPr>
          <p:cNvPr id="4" name="Shape 2"/>
          <p:cNvSpPr/>
          <p:nvPr/>
        </p:nvSpPr>
        <p:spPr>
          <a:xfrm>
            <a:off x="548640" y="1691640"/>
            <a:ext cx="5257800" cy="4023360"/>
          </a:xfrm>
          <a:prstGeom prst="roundRect">
            <a:avLst>
              <a:gd name="adj" fmla="val 1818"/>
            </a:avLst>
          </a:prstGeom>
          <a:solidFill>
            <a:srgbClr val="F2F6F9"/>
          </a:solidFill>
          <a:ln/>
        </p:spPr>
      </p:sp>
      <p:sp>
        <p:nvSpPr>
          <p:cNvPr id="5" name="Shape 3"/>
          <p:cNvSpPr/>
          <p:nvPr/>
        </p:nvSpPr>
        <p:spPr>
          <a:xfrm>
            <a:off x="548640" y="1691640"/>
            <a:ext cx="5257800" cy="566928"/>
          </a:xfrm>
          <a:prstGeom prst="roundRect">
            <a:avLst>
              <a:gd name="adj" fmla="val 12903"/>
            </a:avLst>
          </a:prstGeom>
          <a:solidFill>
            <a:srgbClr val="0D2C4B"/>
          </a:solidFill>
          <a:ln/>
        </p:spPr>
      </p:sp>
      <p:sp>
        <p:nvSpPr>
          <p:cNvPr id="6" name="Shape 4"/>
          <p:cNvSpPr/>
          <p:nvPr/>
        </p:nvSpPr>
        <p:spPr>
          <a:xfrm>
            <a:off x="548640" y="2011680"/>
            <a:ext cx="5257800" cy="246888"/>
          </a:xfrm>
          <a:prstGeom prst="rect">
            <a:avLst/>
          </a:prstGeom>
          <a:solidFill>
            <a:srgbClr val="0D2C4B"/>
          </a:solidFill>
          <a:ln/>
        </p:spPr>
      </p:sp>
      <p:sp>
        <p:nvSpPr>
          <p:cNvPr id="7" name="Text 5"/>
          <p:cNvSpPr/>
          <p:nvPr/>
        </p:nvSpPr>
        <p:spPr>
          <a:xfrm>
            <a:off x="822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Core Skills</a:t>
            </a:r>
            <a:endParaRPr lang="en-US" sz="1550" dirty="0"/>
          </a:p>
        </p:txBody>
      </p:sp>
      <p:sp>
        <p:nvSpPr>
          <p:cNvPr id="8" name="Shape 6"/>
          <p:cNvSpPr/>
          <p:nvPr/>
        </p:nvSpPr>
        <p:spPr>
          <a:xfrm>
            <a:off x="822960" y="2523744"/>
            <a:ext cx="82296" cy="82296"/>
          </a:xfrm>
          <a:prstGeom prst="ellipse">
            <a:avLst/>
          </a:prstGeom>
          <a:solidFill>
            <a:srgbClr val="0D2C4B"/>
          </a:solidFill>
          <a:ln/>
        </p:spPr>
      </p:sp>
      <p:sp>
        <p:nvSpPr>
          <p:cNvPr id="9" name="Text 7"/>
          <p:cNvSpPr/>
          <p:nvPr/>
        </p:nvSpPr>
        <p:spPr>
          <a:xfrm>
            <a:off x="1024128" y="2395728"/>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Analytical thinking</a:t>
            </a:r>
            <a:endParaRPr lang="en-US" sz="1200" dirty="0"/>
          </a:p>
        </p:txBody>
      </p:sp>
      <p:sp>
        <p:nvSpPr>
          <p:cNvPr id="10" name="Shape 8"/>
          <p:cNvSpPr/>
          <p:nvPr/>
        </p:nvSpPr>
        <p:spPr>
          <a:xfrm>
            <a:off x="822960" y="2944368"/>
            <a:ext cx="82296" cy="82296"/>
          </a:xfrm>
          <a:prstGeom prst="ellipse">
            <a:avLst/>
          </a:prstGeom>
          <a:solidFill>
            <a:srgbClr val="0D2C4B"/>
          </a:solidFill>
          <a:ln/>
        </p:spPr>
      </p:sp>
      <p:sp>
        <p:nvSpPr>
          <p:cNvPr id="11" name="Text 9"/>
          <p:cNvSpPr/>
          <p:nvPr/>
        </p:nvSpPr>
        <p:spPr>
          <a:xfrm>
            <a:off x="1024128" y="2816352"/>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Communication (business &amp; technical)</a:t>
            </a:r>
            <a:endParaRPr lang="en-US" sz="1200" dirty="0"/>
          </a:p>
        </p:txBody>
      </p:sp>
      <p:sp>
        <p:nvSpPr>
          <p:cNvPr id="12" name="Shape 10"/>
          <p:cNvSpPr/>
          <p:nvPr/>
        </p:nvSpPr>
        <p:spPr>
          <a:xfrm>
            <a:off x="822960" y="3364992"/>
            <a:ext cx="82296" cy="82296"/>
          </a:xfrm>
          <a:prstGeom prst="ellipse">
            <a:avLst/>
          </a:prstGeom>
          <a:solidFill>
            <a:srgbClr val="0D2C4B"/>
          </a:solidFill>
          <a:ln/>
        </p:spPr>
      </p:sp>
      <p:sp>
        <p:nvSpPr>
          <p:cNvPr id="13" name="Text 11"/>
          <p:cNvSpPr/>
          <p:nvPr/>
        </p:nvSpPr>
        <p:spPr>
          <a:xfrm>
            <a:off x="1024128" y="3236976"/>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Problem-solving</a:t>
            </a:r>
            <a:endParaRPr lang="en-US" sz="1200" dirty="0"/>
          </a:p>
        </p:txBody>
      </p:sp>
      <p:sp>
        <p:nvSpPr>
          <p:cNvPr id="14" name="Shape 12"/>
          <p:cNvSpPr/>
          <p:nvPr/>
        </p:nvSpPr>
        <p:spPr>
          <a:xfrm>
            <a:off x="822960" y="3785616"/>
            <a:ext cx="82296" cy="82296"/>
          </a:xfrm>
          <a:prstGeom prst="ellipse">
            <a:avLst/>
          </a:prstGeom>
          <a:solidFill>
            <a:srgbClr val="0D2C4B"/>
          </a:solidFill>
          <a:ln/>
        </p:spPr>
      </p:sp>
      <p:sp>
        <p:nvSpPr>
          <p:cNvPr id="15" name="Text 13"/>
          <p:cNvSpPr/>
          <p:nvPr/>
        </p:nvSpPr>
        <p:spPr>
          <a:xfrm>
            <a:off x="1024128" y="3657600"/>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Documentation and modelling</a:t>
            </a:r>
            <a:endParaRPr lang="en-US" sz="1200" dirty="0"/>
          </a:p>
        </p:txBody>
      </p:sp>
      <p:sp>
        <p:nvSpPr>
          <p:cNvPr id="16" name="Shape 14"/>
          <p:cNvSpPr/>
          <p:nvPr/>
        </p:nvSpPr>
        <p:spPr>
          <a:xfrm>
            <a:off x="822960" y="4206240"/>
            <a:ext cx="82296" cy="82296"/>
          </a:xfrm>
          <a:prstGeom prst="ellipse">
            <a:avLst/>
          </a:prstGeom>
          <a:solidFill>
            <a:srgbClr val="0D2C4B"/>
          </a:solidFill>
          <a:ln/>
        </p:spPr>
      </p:sp>
      <p:sp>
        <p:nvSpPr>
          <p:cNvPr id="17" name="Text 15"/>
          <p:cNvSpPr/>
          <p:nvPr/>
        </p:nvSpPr>
        <p:spPr>
          <a:xfrm>
            <a:off x="1024128" y="4078224"/>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Databases, Excel, and BI tools</a:t>
            </a:r>
            <a:endParaRPr lang="en-US" sz="1200" dirty="0"/>
          </a:p>
        </p:txBody>
      </p:sp>
      <p:sp>
        <p:nvSpPr>
          <p:cNvPr id="18" name="Shape 16"/>
          <p:cNvSpPr/>
          <p:nvPr/>
        </p:nvSpPr>
        <p:spPr>
          <a:xfrm>
            <a:off x="6263640" y="1691640"/>
            <a:ext cx="5257800" cy="4023360"/>
          </a:xfrm>
          <a:prstGeom prst="roundRect">
            <a:avLst>
              <a:gd name="adj" fmla="val 1818"/>
            </a:avLst>
          </a:prstGeom>
          <a:solidFill>
            <a:srgbClr val="F2F6F9"/>
          </a:solidFill>
          <a:ln/>
        </p:spPr>
      </p:sp>
      <p:sp>
        <p:nvSpPr>
          <p:cNvPr id="19" name="Shape 17"/>
          <p:cNvSpPr/>
          <p:nvPr/>
        </p:nvSpPr>
        <p:spPr>
          <a:xfrm>
            <a:off x="6263640" y="1691640"/>
            <a:ext cx="5257800" cy="566928"/>
          </a:xfrm>
          <a:prstGeom prst="roundRect">
            <a:avLst>
              <a:gd name="adj" fmla="val 12903"/>
            </a:avLst>
          </a:prstGeom>
          <a:solidFill>
            <a:srgbClr val="0B8A9C"/>
          </a:solidFill>
          <a:ln/>
        </p:spPr>
      </p:sp>
      <p:sp>
        <p:nvSpPr>
          <p:cNvPr id="20" name="Shape 18"/>
          <p:cNvSpPr/>
          <p:nvPr/>
        </p:nvSpPr>
        <p:spPr>
          <a:xfrm>
            <a:off x="6263640" y="2011680"/>
            <a:ext cx="5257800" cy="246888"/>
          </a:xfrm>
          <a:prstGeom prst="rect">
            <a:avLst/>
          </a:prstGeom>
          <a:solidFill>
            <a:srgbClr val="0B8A9C"/>
          </a:solidFill>
          <a:ln/>
        </p:spPr>
      </p:sp>
      <p:sp>
        <p:nvSpPr>
          <p:cNvPr id="21" name="Text 19"/>
          <p:cNvSpPr/>
          <p:nvPr/>
        </p:nvSpPr>
        <p:spPr>
          <a:xfrm>
            <a:off x="6537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Common Tools</a:t>
            </a:r>
            <a:endParaRPr lang="en-US" sz="1550" dirty="0"/>
          </a:p>
        </p:txBody>
      </p:sp>
      <p:sp>
        <p:nvSpPr>
          <p:cNvPr id="22" name="Shape 20"/>
          <p:cNvSpPr/>
          <p:nvPr/>
        </p:nvSpPr>
        <p:spPr>
          <a:xfrm>
            <a:off x="6537960" y="2523744"/>
            <a:ext cx="82296" cy="82296"/>
          </a:xfrm>
          <a:prstGeom prst="ellipse">
            <a:avLst/>
          </a:prstGeom>
          <a:solidFill>
            <a:srgbClr val="0B8A9C"/>
          </a:solidFill>
          <a:ln/>
        </p:spPr>
      </p:sp>
      <p:sp>
        <p:nvSpPr>
          <p:cNvPr id="23" name="Text 21"/>
          <p:cNvSpPr/>
          <p:nvPr/>
        </p:nvSpPr>
        <p:spPr>
          <a:xfrm>
            <a:off x="6739128" y="2414016"/>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Requirements Management</a:t>
            </a:r>
            <a:endParaRPr lang="en-US" sz="1250" dirty="0"/>
          </a:p>
        </p:txBody>
      </p:sp>
      <p:sp>
        <p:nvSpPr>
          <p:cNvPr id="24" name="Text 22"/>
          <p:cNvSpPr/>
          <p:nvPr/>
        </p:nvSpPr>
        <p:spPr>
          <a:xfrm>
            <a:off x="6739128" y="2651760"/>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JIRA, Confluence, Trello</a:t>
            </a:r>
            <a:endParaRPr lang="en-US" sz="1080" dirty="0"/>
          </a:p>
        </p:txBody>
      </p:sp>
      <p:sp>
        <p:nvSpPr>
          <p:cNvPr id="25" name="Shape 23"/>
          <p:cNvSpPr/>
          <p:nvPr/>
        </p:nvSpPr>
        <p:spPr>
          <a:xfrm>
            <a:off x="6537960" y="3182112"/>
            <a:ext cx="82296" cy="82296"/>
          </a:xfrm>
          <a:prstGeom prst="ellipse">
            <a:avLst/>
          </a:prstGeom>
          <a:solidFill>
            <a:srgbClr val="0B8A9C"/>
          </a:solidFill>
          <a:ln/>
        </p:spPr>
      </p:sp>
      <p:sp>
        <p:nvSpPr>
          <p:cNvPr id="26" name="Text 24"/>
          <p:cNvSpPr/>
          <p:nvPr/>
        </p:nvSpPr>
        <p:spPr>
          <a:xfrm>
            <a:off x="6739128" y="3072384"/>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Data Analysis</a:t>
            </a:r>
            <a:endParaRPr lang="en-US" sz="1250" dirty="0"/>
          </a:p>
        </p:txBody>
      </p:sp>
      <p:sp>
        <p:nvSpPr>
          <p:cNvPr id="27" name="Text 25"/>
          <p:cNvSpPr/>
          <p:nvPr/>
        </p:nvSpPr>
        <p:spPr>
          <a:xfrm>
            <a:off x="6739128" y="3310128"/>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Excel, Google Analytics, Tableau</a:t>
            </a:r>
            <a:endParaRPr lang="en-US" sz="1080" dirty="0"/>
          </a:p>
        </p:txBody>
      </p:sp>
      <p:sp>
        <p:nvSpPr>
          <p:cNvPr id="28" name="Shape 26"/>
          <p:cNvSpPr/>
          <p:nvPr/>
        </p:nvSpPr>
        <p:spPr>
          <a:xfrm>
            <a:off x="6537960" y="3840480"/>
            <a:ext cx="82296" cy="82296"/>
          </a:xfrm>
          <a:prstGeom prst="ellipse">
            <a:avLst/>
          </a:prstGeom>
          <a:solidFill>
            <a:srgbClr val="0B8A9C"/>
          </a:solidFill>
          <a:ln/>
        </p:spPr>
      </p:sp>
      <p:sp>
        <p:nvSpPr>
          <p:cNvPr id="29" name="Text 27"/>
          <p:cNvSpPr/>
          <p:nvPr/>
        </p:nvSpPr>
        <p:spPr>
          <a:xfrm>
            <a:off x="6739128" y="3730752"/>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Process Mapping</a:t>
            </a:r>
            <a:endParaRPr lang="en-US" sz="1250" dirty="0"/>
          </a:p>
        </p:txBody>
      </p:sp>
      <p:sp>
        <p:nvSpPr>
          <p:cNvPr id="30" name="Text 28"/>
          <p:cNvSpPr/>
          <p:nvPr/>
        </p:nvSpPr>
        <p:spPr>
          <a:xfrm>
            <a:off x="6739128" y="3968496"/>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Microsoft Visio, Lucidchart</a:t>
            </a:r>
            <a:endParaRPr lang="en-US" sz="1080" dirty="0"/>
          </a:p>
        </p:txBody>
      </p:sp>
      <p:sp>
        <p:nvSpPr>
          <p:cNvPr id="31" name="Shape 29"/>
          <p:cNvSpPr/>
          <p:nvPr/>
        </p:nvSpPr>
        <p:spPr>
          <a:xfrm>
            <a:off x="6537960" y="4498848"/>
            <a:ext cx="82296" cy="82296"/>
          </a:xfrm>
          <a:prstGeom prst="ellipse">
            <a:avLst/>
          </a:prstGeom>
          <a:solidFill>
            <a:srgbClr val="0B8A9C"/>
          </a:solidFill>
          <a:ln/>
        </p:spPr>
      </p:sp>
      <p:sp>
        <p:nvSpPr>
          <p:cNvPr id="32" name="Text 30"/>
          <p:cNvSpPr/>
          <p:nvPr/>
        </p:nvSpPr>
        <p:spPr>
          <a:xfrm>
            <a:off x="6739128" y="4389120"/>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Collaboration</a:t>
            </a:r>
            <a:endParaRPr lang="en-US" sz="1250" dirty="0"/>
          </a:p>
        </p:txBody>
      </p:sp>
      <p:sp>
        <p:nvSpPr>
          <p:cNvPr id="33" name="Text 31"/>
          <p:cNvSpPr/>
          <p:nvPr/>
        </p:nvSpPr>
        <p:spPr>
          <a:xfrm>
            <a:off x="6739128" y="4626864"/>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Slack, Zoom, Microsoft Teams</a:t>
            </a:r>
            <a:endParaRPr lang="en-US" sz="1080" dirty="0"/>
          </a:p>
        </p:txBody>
      </p:sp>
      <p:sp>
        <p:nvSpPr>
          <p:cNvPr id="34" name="Text 3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BUSINESS ANALYSIS</a:t>
            </a:r>
            <a:endParaRPr lang="en-US" sz="900" dirty="0"/>
          </a:p>
        </p:txBody>
      </p:sp>
      <p:sp>
        <p:nvSpPr>
          <p:cNvPr id="35" name="Text 3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BUSINESS ANALYSIS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Collaboration &amp; Relationship-Building</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Comprehensive Requirements</a:t>
            </a:r>
            <a:endParaRPr lang="en-US" sz="1350" dirty="0"/>
          </a:p>
        </p:txBody>
      </p:sp>
      <p:sp>
        <p:nvSpPr>
          <p:cNvPr id="7" name="Text 5"/>
          <p:cNvSpPr/>
          <p:nvPr/>
        </p:nvSpPr>
        <p:spPr>
          <a:xfrm>
            <a:off x="1078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Working closely with diverse stakeholders uncovers complete, accurate requirements.</a:t>
            </a:r>
            <a:endParaRPr lang="en-US" sz="1150" dirty="0"/>
          </a:p>
        </p:txBody>
      </p:sp>
      <p:sp>
        <p:nvSpPr>
          <p:cNvPr id="8" name="Shape 6"/>
          <p:cNvSpPr/>
          <p:nvPr/>
        </p:nvSpPr>
        <p:spPr>
          <a:xfrm>
            <a:off x="548640" y="2642616"/>
            <a:ext cx="384048" cy="384048"/>
          </a:xfrm>
          <a:prstGeom prst="ellipse">
            <a:avLst/>
          </a:prstGeom>
          <a:solidFill>
            <a:srgbClr val="0D2C4B"/>
          </a:solidFill>
          <a:ln/>
        </p:spPr>
      </p:sp>
      <p:sp>
        <p:nvSpPr>
          <p:cNvPr id="9" name="Text 7"/>
          <p:cNvSpPr/>
          <p:nvPr/>
        </p:nvSpPr>
        <p:spPr>
          <a:xfrm>
            <a:off x="548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Increased Buy-In</a:t>
            </a:r>
            <a:endParaRPr lang="en-US" sz="1350" dirty="0"/>
          </a:p>
        </p:txBody>
      </p:sp>
      <p:sp>
        <p:nvSpPr>
          <p:cNvPr id="11" name="Text 9"/>
          <p:cNvSpPr/>
          <p:nvPr/>
        </p:nvSpPr>
        <p:spPr>
          <a:xfrm>
            <a:off x="1078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Involving stakeholders in analysis makes them feel heard, increasing support for the solution.</a:t>
            </a:r>
            <a:endParaRPr lang="en-US" sz="1150" dirty="0"/>
          </a:p>
        </p:txBody>
      </p:sp>
      <p:sp>
        <p:nvSpPr>
          <p:cNvPr id="12" name="Shape 10"/>
          <p:cNvSpPr/>
          <p:nvPr/>
        </p:nvSpPr>
        <p:spPr>
          <a:xfrm>
            <a:off x="6263640" y="1591056"/>
            <a:ext cx="384048" cy="384048"/>
          </a:xfrm>
          <a:prstGeom prst="ellipse">
            <a:avLst/>
          </a:prstGeom>
          <a:solidFill>
            <a:srgbClr val="0D2C4B"/>
          </a:solidFill>
          <a:ln/>
        </p:spPr>
      </p:sp>
      <p:sp>
        <p:nvSpPr>
          <p:cNvPr id="13" name="Text 11"/>
          <p:cNvSpPr/>
          <p:nvPr/>
        </p:nvSpPr>
        <p:spPr>
          <a:xfrm>
            <a:off x="6263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6793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Risk Mitigation</a:t>
            </a:r>
            <a:endParaRPr lang="en-US" sz="1350" dirty="0"/>
          </a:p>
        </p:txBody>
      </p:sp>
      <p:sp>
        <p:nvSpPr>
          <p:cNvPr id="15" name="Text 13"/>
          <p:cNvSpPr/>
          <p:nvPr/>
        </p:nvSpPr>
        <p:spPr>
          <a:xfrm>
            <a:off x="6793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Open communication surfaces potential issues early so teams can address them proactively.</a:t>
            </a:r>
            <a:endParaRPr lang="en-US" sz="1150" dirty="0"/>
          </a:p>
        </p:txBody>
      </p:sp>
      <p:sp>
        <p:nvSpPr>
          <p:cNvPr id="16" name="Shape 14"/>
          <p:cNvSpPr/>
          <p:nvPr/>
        </p:nvSpPr>
        <p:spPr>
          <a:xfrm>
            <a:off x="6263640" y="2642616"/>
            <a:ext cx="384048" cy="384048"/>
          </a:xfrm>
          <a:prstGeom prst="ellipse">
            <a:avLst/>
          </a:prstGeom>
          <a:solidFill>
            <a:srgbClr val="0D2C4B"/>
          </a:solidFill>
          <a:ln/>
        </p:spPr>
      </p:sp>
      <p:sp>
        <p:nvSpPr>
          <p:cNvPr id="17" name="Text 15"/>
          <p:cNvSpPr/>
          <p:nvPr/>
        </p:nvSpPr>
        <p:spPr>
          <a:xfrm>
            <a:off x="6263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6793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Faster Decisions</a:t>
            </a:r>
            <a:endParaRPr lang="en-US" sz="1350" dirty="0"/>
          </a:p>
        </p:txBody>
      </p:sp>
      <p:sp>
        <p:nvSpPr>
          <p:cNvPr id="19" name="Text 17"/>
          <p:cNvSpPr/>
          <p:nvPr/>
        </p:nvSpPr>
        <p:spPr>
          <a:xfrm>
            <a:off x="6793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Trusting relationships allow more efficient conflict resolution.</a:t>
            </a:r>
            <a:endParaRPr lang="en-US" sz="1150" dirty="0"/>
          </a:p>
        </p:txBody>
      </p:sp>
      <p:sp>
        <p:nvSpPr>
          <p:cNvPr id="20" name="Text 18"/>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BUSINESS ANALYSIS</a:t>
            </a:r>
            <a:endParaRPr lang="en-US" sz="900" dirty="0"/>
          </a:p>
        </p:txBody>
      </p:sp>
      <p:sp>
        <p:nvSpPr>
          <p:cNvPr id="21" name="Text 19"/>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BUSINESS ANALYSIS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BA Methodologies: Agile vs. Waterfall</a:t>
            </a:r>
            <a:endParaRPr lang="en-US" sz="2700" dirty="0"/>
          </a:p>
        </p:txBody>
      </p:sp>
      <p:sp>
        <p:nvSpPr>
          <p:cNvPr id="4" name="Shape 2"/>
          <p:cNvSpPr/>
          <p:nvPr/>
        </p:nvSpPr>
        <p:spPr>
          <a:xfrm>
            <a:off x="548640" y="1691640"/>
            <a:ext cx="5257800" cy="2651760"/>
          </a:xfrm>
          <a:prstGeom prst="roundRect">
            <a:avLst>
              <a:gd name="adj" fmla="val 2759"/>
            </a:avLst>
          </a:prstGeom>
          <a:solidFill>
            <a:srgbClr val="F2F6F9"/>
          </a:solidFill>
          <a:ln/>
        </p:spPr>
      </p:sp>
      <p:sp>
        <p:nvSpPr>
          <p:cNvPr id="5" name="Shape 3"/>
          <p:cNvSpPr/>
          <p:nvPr/>
        </p:nvSpPr>
        <p:spPr>
          <a:xfrm>
            <a:off x="548640" y="1691640"/>
            <a:ext cx="5257800" cy="566928"/>
          </a:xfrm>
          <a:prstGeom prst="roundRect">
            <a:avLst>
              <a:gd name="adj" fmla="val 12903"/>
            </a:avLst>
          </a:prstGeom>
          <a:solidFill>
            <a:srgbClr val="0D2C4B"/>
          </a:solidFill>
          <a:ln/>
        </p:spPr>
      </p:sp>
      <p:sp>
        <p:nvSpPr>
          <p:cNvPr id="6" name="Shape 4"/>
          <p:cNvSpPr/>
          <p:nvPr/>
        </p:nvSpPr>
        <p:spPr>
          <a:xfrm>
            <a:off x="548640" y="2011680"/>
            <a:ext cx="5257800" cy="246888"/>
          </a:xfrm>
          <a:prstGeom prst="rect">
            <a:avLst/>
          </a:prstGeom>
          <a:solidFill>
            <a:srgbClr val="0D2C4B"/>
          </a:solidFill>
          <a:ln/>
        </p:spPr>
      </p:sp>
      <p:sp>
        <p:nvSpPr>
          <p:cNvPr id="7" name="Text 5"/>
          <p:cNvSpPr/>
          <p:nvPr/>
        </p:nvSpPr>
        <p:spPr>
          <a:xfrm>
            <a:off x="822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Waterfall</a:t>
            </a:r>
            <a:endParaRPr lang="en-US" sz="1550" dirty="0"/>
          </a:p>
        </p:txBody>
      </p:sp>
      <p:sp>
        <p:nvSpPr>
          <p:cNvPr id="8" name="Text 6"/>
          <p:cNvSpPr/>
          <p:nvPr/>
        </p:nvSpPr>
        <p:spPr>
          <a:xfrm>
            <a:off x="822960" y="2468880"/>
            <a:ext cx="4709160" cy="1645920"/>
          </a:xfrm>
          <a:prstGeom prst="rect">
            <a:avLst/>
          </a:prstGeom>
          <a:noFill/>
          <a:ln/>
        </p:spPr>
        <p:txBody>
          <a:bodyPr wrap="square" lIns="0" tIns="0" rIns="0" bIns="0" rtlCol="0" anchor="ctr"/>
          <a:lstStyle/>
          <a:p>
            <a:pPr indent="0" marL="0">
              <a:lnSpc>
                <a:spcPts val="1700"/>
              </a:lnSpc>
              <a:buNone/>
            </a:pPr>
            <a:r>
              <a:rPr lang="en-US" sz="1250" dirty="0">
                <a:solidFill>
                  <a:srgbClr val="1C2B39"/>
                </a:solidFill>
                <a:latin typeface="Calibri" pitchFamily="34" charset="0"/>
                <a:ea typeface="Calibri" pitchFamily="34" charset="-122"/>
                <a:cs typeface="Calibri" pitchFamily="34" charset="-120"/>
              </a:rPr>
              <a:t>A linear, sequential process where each phase must be completed before the next begins. Best for projects with stable, well-defined requirements.</a:t>
            </a:r>
            <a:endParaRPr lang="en-US" sz="1250" dirty="0"/>
          </a:p>
        </p:txBody>
      </p:sp>
      <p:sp>
        <p:nvSpPr>
          <p:cNvPr id="9" name="Shape 7"/>
          <p:cNvSpPr/>
          <p:nvPr/>
        </p:nvSpPr>
        <p:spPr>
          <a:xfrm>
            <a:off x="6263640" y="1691640"/>
            <a:ext cx="5257800" cy="2651760"/>
          </a:xfrm>
          <a:prstGeom prst="roundRect">
            <a:avLst>
              <a:gd name="adj" fmla="val 2759"/>
            </a:avLst>
          </a:prstGeom>
          <a:solidFill>
            <a:srgbClr val="F2F6F9"/>
          </a:solidFill>
          <a:ln/>
        </p:spPr>
      </p:sp>
      <p:sp>
        <p:nvSpPr>
          <p:cNvPr id="10" name="Shape 8"/>
          <p:cNvSpPr/>
          <p:nvPr/>
        </p:nvSpPr>
        <p:spPr>
          <a:xfrm>
            <a:off x="6263640" y="1691640"/>
            <a:ext cx="5257800" cy="566928"/>
          </a:xfrm>
          <a:prstGeom prst="roundRect">
            <a:avLst>
              <a:gd name="adj" fmla="val 12903"/>
            </a:avLst>
          </a:prstGeom>
          <a:solidFill>
            <a:srgbClr val="0B8A9C"/>
          </a:solidFill>
          <a:ln/>
        </p:spPr>
      </p:sp>
      <p:sp>
        <p:nvSpPr>
          <p:cNvPr id="11" name="Shape 9"/>
          <p:cNvSpPr/>
          <p:nvPr/>
        </p:nvSpPr>
        <p:spPr>
          <a:xfrm>
            <a:off x="6263640" y="2011680"/>
            <a:ext cx="5257800" cy="246888"/>
          </a:xfrm>
          <a:prstGeom prst="rect">
            <a:avLst/>
          </a:prstGeom>
          <a:solidFill>
            <a:srgbClr val="0B8A9C"/>
          </a:solidFill>
          <a:ln/>
        </p:spPr>
      </p:sp>
      <p:sp>
        <p:nvSpPr>
          <p:cNvPr id="12" name="Text 10"/>
          <p:cNvSpPr/>
          <p:nvPr/>
        </p:nvSpPr>
        <p:spPr>
          <a:xfrm>
            <a:off x="6537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Agile</a:t>
            </a:r>
            <a:endParaRPr lang="en-US" sz="1550" dirty="0"/>
          </a:p>
        </p:txBody>
      </p:sp>
      <p:sp>
        <p:nvSpPr>
          <p:cNvPr id="13" name="Text 11"/>
          <p:cNvSpPr/>
          <p:nvPr/>
        </p:nvSpPr>
        <p:spPr>
          <a:xfrm>
            <a:off x="6537960" y="2468880"/>
            <a:ext cx="4709160" cy="1645920"/>
          </a:xfrm>
          <a:prstGeom prst="rect">
            <a:avLst/>
          </a:prstGeom>
          <a:noFill/>
          <a:ln/>
        </p:spPr>
        <p:txBody>
          <a:bodyPr wrap="square" lIns="0" tIns="0" rIns="0" bIns="0" rtlCol="0" anchor="ctr"/>
          <a:lstStyle/>
          <a:p>
            <a:pPr indent="0" marL="0">
              <a:lnSpc>
                <a:spcPts val="1700"/>
              </a:lnSpc>
              <a:buNone/>
            </a:pPr>
            <a:r>
              <a:rPr lang="en-US" sz="1250" dirty="0">
                <a:solidFill>
                  <a:srgbClr val="1C2B39"/>
                </a:solidFill>
                <a:latin typeface="Calibri" pitchFamily="34" charset="0"/>
                <a:ea typeface="Calibri" pitchFamily="34" charset="-122"/>
                <a:cs typeface="Calibri" pitchFamily="34" charset="-120"/>
              </a:rPr>
              <a:t>An iterative, incremental approach focused on flexibility, collaboration, and responding to change through short, time-boxed sprints.</a:t>
            </a:r>
            <a:endParaRPr lang="en-US" sz="1250" dirty="0"/>
          </a:p>
        </p:txBody>
      </p:sp>
      <p:sp>
        <p:nvSpPr>
          <p:cNvPr id="14" name="Text 1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BUSINESS ANALYSIS</a:t>
            </a:r>
            <a:endParaRPr lang="en-US" sz="900" dirty="0"/>
          </a:p>
        </p:txBody>
      </p:sp>
      <p:sp>
        <p:nvSpPr>
          <p:cNvPr id="15" name="Text 1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BUSINESS ANALYSIS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Waterfall Methodology &amp; the Role of the BA</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Approach</a:t>
            </a:r>
            <a:endParaRPr lang="en-US" sz="1350" dirty="0"/>
          </a:p>
        </p:txBody>
      </p:sp>
      <p:sp>
        <p:nvSpPr>
          <p:cNvPr id="7" name="Text 5"/>
          <p:cNvSpPr/>
          <p:nvPr/>
        </p:nvSpPr>
        <p:spPr>
          <a:xfrm>
            <a:off x="1078992" y="180136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A linear, sequential process — requirements, design, implementation, verification, and maintenance.</a:t>
            </a:r>
            <a:endParaRPr lang="en-US" sz="1150" dirty="0"/>
          </a:p>
        </p:txBody>
      </p:sp>
      <p:sp>
        <p:nvSpPr>
          <p:cNvPr id="8" name="Shape 6"/>
          <p:cNvSpPr/>
          <p:nvPr/>
        </p:nvSpPr>
        <p:spPr>
          <a:xfrm>
            <a:off x="548640" y="2551176"/>
            <a:ext cx="384048" cy="384048"/>
          </a:xfrm>
          <a:prstGeom prst="ellipse">
            <a:avLst/>
          </a:prstGeom>
          <a:solidFill>
            <a:srgbClr val="0D2C4B"/>
          </a:solidFill>
          <a:ln/>
        </p:spPr>
      </p:sp>
      <p:sp>
        <p:nvSpPr>
          <p:cNvPr id="9" name="Text 7"/>
          <p:cNvSpPr/>
          <p:nvPr/>
        </p:nvSpPr>
        <p:spPr>
          <a:xfrm>
            <a:off x="548640" y="2551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48716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BA's Role</a:t>
            </a:r>
            <a:endParaRPr lang="en-US" sz="1350" dirty="0"/>
          </a:p>
        </p:txBody>
      </p:sp>
      <p:sp>
        <p:nvSpPr>
          <p:cNvPr id="11" name="Text 9"/>
          <p:cNvSpPr/>
          <p:nvPr/>
        </p:nvSpPr>
        <p:spPr>
          <a:xfrm>
            <a:off x="1078992" y="276148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Gather complete requirements upfront, prepare detailed documentation (BRD, SRS, use cases), and get stakeholder sign-off before development starts.</a:t>
            </a:r>
            <a:endParaRPr lang="en-US" sz="1150" dirty="0"/>
          </a:p>
        </p:txBody>
      </p:sp>
      <p:sp>
        <p:nvSpPr>
          <p:cNvPr id="12" name="Shape 10"/>
          <p:cNvSpPr/>
          <p:nvPr/>
        </p:nvSpPr>
        <p:spPr>
          <a:xfrm>
            <a:off x="548640" y="3511296"/>
            <a:ext cx="384048" cy="384048"/>
          </a:xfrm>
          <a:prstGeom prst="ellipse">
            <a:avLst/>
          </a:prstGeom>
          <a:solidFill>
            <a:srgbClr val="0D2C4B"/>
          </a:solidFill>
          <a:ln/>
        </p:spPr>
      </p:sp>
      <p:sp>
        <p:nvSpPr>
          <p:cNvPr id="13" name="Text 11"/>
          <p:cNvSpPr/>
          <p:nvPr/>
        </p:nvSpPr>
        <p:spPr>
          <a:xfrm>
            <a:off x="548640" y="35112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78992" y="344728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Best For</a:t>
            </a:r>
            <a:endParaRPr lang="en-US" sz="1350" dirty="0"/>
          </a:p>
        </p:txBody>
      </p:sp>
      <p:sp>
        <p:nvSpPr>
          <p:cNvPr id="15" name="Text 13"/>
          <p:cNvSpPr/>
          <p:nvPr/>
        </p:nvSpPr>
        <p:spPr>
          <a:xfrm>
            <a:off x="1078992" y="372160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Projects with stable, well-understood requirements from the start.</a:t>
            </a:r>
            <a:endParaRPr lang="en-US" sz="1150" dirty="0"/>
          </a:p>
        </p:txBody>
      </p:sp>
      <p:sp>
        <p:nvSpPr>
          <p:cNvPr id="16" name="Text 14"/>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BUSINESS ANALYSIS</a:t>
            </a:r>
            <a:endParaRPr lang="en-US" sz="900" dirty="0"/>
          </a:p>
        </p:txBody>
      </p:sp>
      <p:sp>
        <p:nvSpPr>
          <p:cNvPr id="17" name="Text 15"/>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BUSINESS ANALYSIS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Waterfall — Advantages &amp; Disadvantages</a:t>
            </a:r>
            <a:endParaRPr lang="en-US" sz="2700" dirty="0"/>
          </a:p>
        </p:txBody>
      </p:sp>
      <p:sp>
        <p:nvSpPr>
          <p:cNvPr id="4" name="Shape 2"/>
          <p:cNvSpPr/>
          <p:nvPr/>
        </p:nvSpPr>
        <p:spPr>
          <a:xfrm>
            <a:off x="548640" y="1691640"/>
            <a:ext cx="5341468" cy="4434840"/>
          </a:xfrm>
          <a:prstGeom prst="roundRect">
            <a:avLst>
              <a:gd name="adj" fmla="val 1649"/>
            </a:avLst>
          </a:prstGeom>
          <a:solidFill>
            <a:srgbClr val="F2F6F9"/>
          </a:solidFill>
          <a:ln/>
        </p:spPr>
      </p:sp>
      <p:sp>
        <p:nvSpPr>
          <p:cNvPr id="5" name="Shape 3"/>
          <p:cNvSpPr/>
          <p:nvPr/>
        </p:nvSpPr>
        <p:spPr>
          <a:xfrm>
            <a:off x="548640" y="1691640"/>
            <a:ext cx="5341468" cy="502920"/>
          </a:xfrm>
          <a:prstGeom prst="roundRect">
            <a:avLst>
              <a:gd name="adj" fmla="val 14545"/>
            </a:avLst>
          </a:prstGeom>
          <a:solidFill>
            <a:srgbClr val="0B8A9C"/>
          </a:solidFill>
          <a:ln/>
        </p:spPr>
      </p:sp>
      <p:sp>
        <p:nvSpPr>
          <p:cNvPr id="6" name="Shape 4"/>
          <p:cNvSpPr/>
          <p:nvPr/>
        </p:nvSpPr>
        <p:spPr>
          <a:xfrm>
            <a:off x="548640" y="1965960"/>
            <a:ext cx="5341468" cy="228600"/>
          </a:xfrm>
          <a:prstGeom prst="rect">
            <a:avLst/>
          </a:prstGeom>
          <a:solidFill>
            <a:srgbClr val="0B8A9C"/>
          </a:solidFill>
          <a:ln/>
        </p:spPr>
      </p:sp>
      <p:sp>
        <p:nvSpPr>
          <p:cNvPr id="7" name="Text 5"/>
          <p:cNvSpPr/>
          <p:nvPr/>
        </p:nvSpPr>
        <p:spPr>
          <a:xfrm>
            <a:off x="749808" y="1691640"/>
            <a:ext cx="4939132"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Advantages</a:t>
            </a:r>
            <a:endParaRPr lang="en-US" sz="1400" dirty="0"/>
          </a:p>
        </p:txBody>
      </p:sp>
      <p:sp>
        <p:nvSpPr>
          <p:cNvPr id="8" name="Shape 6"/>
          <p:cNvSpPr/>
          <p:nvPr/>
        </p:nvSpPr>
        <p:spPr>
          <a:xfrm>
            <a:off x="768096" y="2450592"/>
            <a:ext cx="73152" cy="73152"/>
          </a:xfrm>
          <a:prstGeom prst="ellipse">
            <a:avLst/>
          </a:prstGeom>
          <a:solidFill>
            <a:srgbClr val="0B8A9C"/>
          </a:solidFill>
          <a:ln/>
        </p:spPr>
      </p:sp>
      <p:sp>
        <p:nvSpPr>
          <p:cNvPr id="9" name="Text 7"/>
          <p:cNvSpPr/>
          <p:nvPr/>
        </p:nvSpPr>
        <p:spPr>
          <a:xfrm>
            <a:off x="950976" y="23225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Clear structure and planning</a:t>
            </a:r>
            <a:endParaRPr lang="en-US" sz="1060" dirty="0"/>
          </a:p>
        </p:txBody>
      </p:sp>
      <p:sp>
        <p:nvSpPr>
          <p:cNvPr id="10" name="Shape 8"/>
          <p:cNvSpPr/>
          <p:nvPr/>
        </p:nvSpPr>
        <p:spPr>
          <a:xfrm>
            <a:off x="768096" y="2907792"/>
            <a:ext cx="73152" cy="73152"/>
          </a:xfrm>
          <a:prstGeom prst="ellipse">
            <a:avLst/>
          </a:prstGeom>
          <a:solidFill>
            <a:srgbClr val="0B8A9C"/>
          </a:solidFill>
          <a:ln/>
        </p:spPr>
      </p:sp>
      <p:sp>
        <p:nvSpPr>
          <p:cNvPr id="11" name="Text 9"/>
          <p:cNvSpPr/>
          <p:nvPr/>
        </p:nvSpPr>
        <p:spPr>
          <a:xfrm>
            <a:off x="950976" y="27797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Good for stable, well-understood requirements</a:t>
            </a:r>
            <a:endParaRPr lang="en-US" sz="1060" dirty="0"/>
          </a:p>
        </p:txBody>
      </p:sp>
      <p:sp>
        <p:nvSpPr>
          <p:cNvPr id="12" name="Shape 10"/>
          <p:cNvSpPr/>
          <p:nvPr/>
        </p:nvSpPr>
        <p:spPr>
          <a:xfrm>
            <a:off x="768096" y="3364992"/>
            <a:ext cx="73152" cy="73152"/>
          </a:xfrm>
          <a:prstGeom prst="ellipse">
            <a:avLst/>
          </a:prstGeom>
          <a:solidFill>
            <a:srgbClr val="0B8A9C"/>
          </a:solidFill>
          <a:ln/>
        </p:spPr>
      </p:sp>
      <p:sp>
        <p:nvSpPr>
          <p:cNvPr id="13" name="Text 11"/>
          <p:cNvSpPr/>
          <p:nvPr/>
        </p:nvSpPr>
        <p:spPr>
          <a:xfrm>
            <a:off x="950976" y="32369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Strong documentation</a:t>
            </a:r>
            <a:endParaRPr lang="en-US" sz="1060" dirty="0"/>
          </a:p>
        </p:txBody>
      </p:sp>
      <p:sp>
        <p:nvSpPr>
          <p:cNvPr id="14" name="Shape 12"/>
          <p:cNvSpPr/>
          <p:nvPr/>
        </p:nvSpPr>
        <p:spPr>
          <a:xfrm>
            <a:off x="6301588" y="1691640"/>
            <a:ext cx="5341468" cy="4434840"/>
          </a:xfrm>
          <a:prstGeom prst="roundRect">
            <a:avLst>
              <a:gd name="adj" fmla="val 1649"/>
            </a:avLst>
          </a:prstGeom>
          <a:solidFill>
            <a:srgbClr val="F2F6F9"/>
          </a:solidFill>
          <a:ln/>
        </p:spPr>
      </p:sp>
      <p:sp>
        <p:nvSpPr>
          <p:cNvPr id="15" name="Shape 13"/>
          <p:cNvSpPr/>
          <p:nvPr/>
        </p:nvSpPr>
        <p:spPr>
          <a:xfrm>
            <a:off x="6301588" y="1691640"/>
            <a:ext cx="5341468" cy="502920"/>
          </a:xfrm>
          <a:prstGeom prst="roundRect">
            <a:avLst>
              <a:gd name="adj" fmla="val 14545"/>
            </a:avLst>
          </a:prstGeom>
          <a:solidFill>
            <a:srgbClr val="C85A46"/>
          </a:solidFill>
          <a:ln/>
        </p:spPr>
      </p:sp>
      <p:sp>
        <p:nvSpPr>
          <p:cNvPr id="16" name="Shape 14"/>
          <p:cNvSpPr/>
          <p:nvPr/>
        </p:nvSpPr>
        <p:spPr>
          <a:xfrm>
            <a:off x="6301588" y="1965960"/>
            <a:ext cx="5341468" cy="228600"/>
          </a:xfrm>
          <a:prstGeom prst="rect">
            <a:avLst/>
          </a:prstGeom>
          <a:solidFill>
            <a:srgbClr val="C85A46"/>
          </a:solidFill>
          <a:ln/>
        </p:spPr>
      </p:sp>
      <p:sp>
        <p:nvSpPr>
          <p:cNvPr id="17" name="Text 15"/>
          <p:cNvSpPr/>
          <p:nvPr/>
        </p:nvSpPr>
        <p:spPr>
          <a:xfrm>
            <a:off x="6502756" y="1691640"/>
            <a:ext cx="4939132"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Disadvantages</a:t>
            </a:r>
            <a:endParaRPr lang="en-US" sz="1400" dirty="0"/>
          </a:p>
        </p:txBody>
      </p:sp>
      <p:sp>
        <p:nvSpPr>
          <p:cNvPr id="18" name="Shape 16"/>
          <p:cNvSpPr/>
          <p:nvPr/>
        </p:nvSpPr>
        <p:spPr>
          <a:xfrm>
            <a:off x="6521044" y="2450592"/>
            <a:ext cx="73152" cy="73152"/>
          </a:xfrm>
          <a:prstGeom prst="ellipse">
            <a:avLst/>
          </a:prstGeom>
          <a:solidFill>
            <a:srgbClr val="C85A46"/>
          </a:solidFill>
          <a:ln/>
        </p:spPr>
      </p:sp>
      <p:sp>
        <p:nvSpPr>
          <p:cNvPr id="19" name="Text 17"/>
          <p:cNvSpPr/>
          <p:nvPr/>
        </p:nvSpPr>
        <p:spPr>
          <a:xfrm>
            <a:off x="6703924" y="23225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Not flexible to changes</a:t>
            </a:r>
            <a:endParaRPr lang="en-US" sz="1060" dirty="0"/>
          </a:p>
        </p:txBody>
      </p:sp>
      <p:sp>
        <p:nvSpPr>
          <p:cNvPr id="20" name="Shape 18"/>
          <p:cNvSpPr/>
          <p:nvPr/>
        </p:nvSpPr>
        <p:spPr>
          <a:xfrm>
            <a:off x="6521044" y="2907792"/>
            <a:ext cx="73152" cy="73152"/>
          </a:xfrm>
          <a:prstGeom prst="ellipse">
            <a:avLst/>
          </a:prstGeom>
          <a:solidFill>
            <a:srgbClr val="C85A46"/>
          </a:solidFill>
          <a:ln/>
        </p:spPr>
      </p:sp>
      <p:sp>
        <p:nvSpPr>
          <p:cNvPr id="21" name="Text 19"/>
          <p:cNvSpPr/>
          <p:nvPr/>
        </p:nvSpPr>
        <p:spPr>
          <a:xfrm>
            <a:off x="6703924" y="27797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Feedback comes late, after development</a:t>
            </a:r>
            <a:endParaRPr lang="en-US" sz="1060" dirty="0"/>
          </a:p>
        </p:txBody>
      </p:sp>
      <p:sp>
        <p:nvSpPr>
          <p:cNvPr id="22" name="Shape 20"/>
          <p:cNvSpPr/>
          <p:nvPr/>
        </p:nvSpPr>
        <p:spPr>
          <a:xfrm>
            <a:off x="6521044" y="3364992"/>
            <a:ext cx="73152" cy="73152"/>
          </a:xfrm>
          <a:prstGeom prst="ellipse">
            <a:avLst/>
          </a:prstGeom>
          <a:solidFill>
            <a:srgbClr val="C85A46"/>
          </a:solidFill>
          <a:ln/>
        </p:spPr>
      </p:sp>
      <p:sp>
        <p:nvSpPr>
          <p:cNvPr id="23" name="Text 21"/>
          <p:cNvSpPr/>
          <p:nvPr/>
        </p:nvSpPr>
        <p:spPr>
          <a:xfrm>
            <a:off x="6703924" y="32369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Risk of building the wrong thing if requirements shift</a:t>
            </a:r>
            <a:endParaRPr lang="en-US" sz="1060" dirty="0"/>
          </a:p>
        </p:txBody>
      </p:sp>
      <p:sp>
        <p:nvSpPr>
          <p:cNvPr id="24"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BUSINESS ANALYSIS</a:t>
            </a:r>
            <a:endParaRPr lang="en-US" sz="900" dirty="0"/>
          </a:p>
        </p:txBody>
      </p:sp>
      <p:sp>
        <p:nvSpPr>
          <p:cNvPr id="25" name="Text 2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BUSINESS ANALYSIS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Agile Methodology &amp; the Role of the BA</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Approach</a:t>
            </a:r>
            <a:endParaRPr lang="en-US" sz="1350" dirty="0"/>
          </a:p>
        </p:txBody>
      </p:sp>
      <p:sp>
        <p:nvSpPr>
          <p:cNvPr id="7" name="Text 5"/>
          <p:cNvSpPr/>
          <p:nvPr/>
        </p:nvSpPr>
        <p:spPr>
          <a:xfrm>
            <a:off x="1078992" y="180136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Iterative and incremental, breaking work into short, time-boxed sprints (Scrum, Kanban, Lean).</a:t>
            </a:r>
            <a:endParaRPr lang="en-US" sz="1150" dirty="0"/>
          </a:p>
        </p:txBody>
      </p:sp>
      <p:sp>
        <p:nvSpPr>
          <p:cNvPr id="8" name="Shape 6"/>
          <p:cNvSpPr/>
          <p:nvPr/>
        </p:nvSpPr>
        <p:spPr>
          <a:xfrm>
            <a:off x="548640" y="2551176"/>
            <a:ext cx="384048" cy="384048"/>
          </a:xfrm>
          <a:prstGeom prst="ellipse">
            <a:avLst/>
          </a:prstGeom>
          <a:solidFill>
            <a:srgbClr val="0D2C4B"/>
          </a:solidFill>
          <a:ln/>
        </p:spPr>
      </p:sp>
      <p:sp>
        <p:nvSpPr>
          <p:cNvPr id="9" name="Text 7"/>
          <p:cNvSpPr/>
          <p:nvPr/>
        </p:nvSpPr>
        <p:spPr>
          <a:xfrm>
            <a:off x="548640" y="2551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48716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BA's Role</a:t>
            </a:r>
            <a:endParaRPr lang="en-US" sz="1350" dirty="0"/>
          </a:p>
        </p:txBody>
      </p:sp>
      <p:sp>
        <p:nvSpPr>
          <p:cNvPr id="11" name="Text 9"/>
          <p:cNvSpPr/>
          <p:nvPr/>
        </p:nvSpPr>
        <p:spPr>
          <a:xfrm>
            <a:off x="1078992" y="276148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Works closely with the Product Owner and dev team, writes and refines user stories, and joins sprint planning, stand-ups, and reviews.</a:t>
            </a:r>
            <a:endParaRPr lang="en-US" sz="1150" dirty="0"/>
          </a:p>
        </p:txBody>
      </p:sp>
      <p:sp>
        <p:nvSpPr>
          <p:cNvPr id="12" name="Shape 10"/>
          <p:cNvSpPr/>
          <p:nvPr/>
        </p:nvSpPr>
        <p:spPr>
          <a:xfrm>
            <a:off x="548640" y="3511296"/>
            <a:ext cx="384048" cy="384048"/>
          </a:xfrm>
          <a:prstGeom prst="ellipse">
            <a:avLst/>
          </a:prstGeom>
          <a:solidFill>
            <a:srgbClr val="0D2C4B"/>
          </a:solidFill>
          <a:ln/>
        </p:spPr>
      </p:sp>
      <p:sp>
        <p:nvSpPr>
          <p:cNvPr id="13" name="Text 11"/>
          <p:cNvSpPr/>
          <p:nvPr/>
        </p:nvSpPr>
        <p:spPr>
          <a:xfrm>
            <a:off x="548640" y="35112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78992" y="344728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Best For</a:t>
            </a:r>
            <a:endParaRPr lang="en-US" sz="1350" dirty="0"/>
          </a:p>
        </p:txBody>
      </p:sp>
      <p:sp>
        <p:nvSpPr>
          <p:cNvPr id="15" name="Text 13"/>
          <p:cNvSpPr/>
          <p:nvPr/>
        </p:nvSpPr>
        <p:spPr>
          <a:xfrm>
            <a:off x="1078992" y="372160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Projects where requirements evolve and continuous feedback is valuable.</a:t>
            </a:r>
            <a:endParaRPr lang="en-US" sz="1150" dirty="0"/>
          </a:p>
        </p:txBody>
      </p:sp>
      <p:sp>
        <p:nvSpPr>
          <p:cNvPr id="16" name="Text 14"/>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BUSINESS ANALYSIS</a:t>
            </a:r>
            <a:endParaRPr lang="en-US" sz="900" dirty="0"/>
          </a:p>
        </p:txBody>
      </p:sp>
      <p:sp>
        <p:nvSpPr>
          <p:cNvPr id="17" name="Text 15"/>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BUSINESS ANALYSIS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Agile — Advantages &amp; Disadvantages</a:t>
            </a:r>
            <a:endParaRPr lang="en-US" sz="2700" dirty="0"/>
          </a:p>
        </p:txBody>
      </p:sp>
      <p:sp>
        <p:nvSpPr>
          <p:cNvPr id="4" name="Shape 2"/>
          <p:cNvSpPr/>
          <p:nvPr/>
        </p:nvSpPr>
        <p:spPr>
          <a:xfrm>
            <a:off x="548640" y="1691640"/>
            <a:ext cx="5341468" cy="4434840"/>
          </a:xfrm>
          <a:prstGeom prst="roundRect">
            <a:avLst>
              <a:gd name="adj" fmla="val 1649"/>
            </a:avLst>
          </a:prstGeom>
          <a:solidFill>
            <a:srgbClr val="F2F6F9"/>
          </a:solidFill>
          <a:ln/>
        </p:spPr>
      </p:sp>
      <p:sp>
        <p:nvSpPr>
          <p:cNvPr id="5" name="Shape 3"/>
          <p:cNvSpPr/>
          <p:nvPr/>
        </p:nvSpPr>
        <p:spPr>
          <a:xfrm>
            <a:off x="548640" y="1691640"/>
            <a:ext cx="5341468" cy="502920"/>
          </a:xfrm>
          <a:prstGeom prst="roundRect">
            <a:avLst>
              <a:gd name="adj" fmla="val 14545"/>
            </a:avLst>
          </a:prstGeom>
          <a:solidFill>
            <a:srgbClr val="0B8A9C"/>
          </a:solidFill>
          <a:ln/>
        </p:spPr>
      </p:sp>
      <p:sp>
        <p:nvSpPr>
          <p:cNvPr id="6" name="Shape 4"/>
          <p:cNvSpPr/>
          <p:nvPr/>
        </p:nvSpPr>
        <p:spPr>
          <a:xfrm>
            <a:off x="548640" y="1965960"/>
            <a:ext cx="5341468" cy="228600"/>
          </a:xfrm>
          <a:prstGeom prst="rect">
            <a:avLst/>
          </a:prstGeom>
          <a:solidFill>
            <a:srgbClr val="0B8A9C"/>
          </a:solidFill>
          <a:ln/>
        </p:spPr>
      </p:sp>
      <p:sp>
        <p:nvSpPr>
          <p:cNvPr id="7" name="Text 5"/>
          <p:cNvSpPr/>
          <p:nvPr/>
        </p:nvSpPr>
        <p:spPr>
          <a:xfrm>
            <a:off x="749808" y="1691640"/>
            <a:ext cx="4939132"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Advantages</a:t>
            </a:r>
            <a:endParaRPr lang="en-US" sz="1400" dirty="0"/>
          </a:p>
        </p:txBody>
      </p:sp>
      <p:sp>
        <p:nvSpPr>
          <p:cNvPr id="8" name="Shape 6"/>
          <p:cNvSpPr/>
          <p:nvPr/>
        </p:nvSpPr>
        <p:spPr>
          <a:xfrm>
            <a:off x="768096" y="2450592"/>
            <a:ext cx="73152" cy="73152"/>
          </a:xfrm>
          <a:prstGeom prst="ellipse">
            <a:avLst/>
          </a:prstGeom>
          <a:solidFill>
            <a:srgbClr val="0B8A9C"/>
          </a:solidFill>
          <a:ln/>
        </p:spPr>
      </p:sp>
      <p:sp>
        <p:nvSpPr>
          <p:cNvPr id="9" name="Text 7"/>
          <p:cNvSpPr/>
          <p:nvPr/>
        </p:nvSpPr>
        <p:spPr>
          <a:xfrm>
            <a:off x="950976" y="23225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Very flexible with changing requirements</a:t>
            </a:r>
            <a:endParaRPr lang="en-US" sz="1060" dirty="0"/>
          </a:p>
        </p:txBody>
      </p:sp>
      <p:sp>
        <p:nvSpPr>
          <p:cNvPr id="10" name="Shape 8"/>
          <p:cNvSpPr/>
          <p:nvPr/>
        </p:nvSpPr>
        <p:spPr>
          <a:xfrm>
            <a:off x="768096" y="2907792"/>
            <a:ext cx="73152" cy="73152"/>
          </a:xfrm>
          <a:prstGeom prst="ellipse">
            <a:avLst/>
          </a:prstGeom>
          <a:solidFill>
            <a:srgbClr val="0B8A9C"/>
          </a:solidFill>
          <a:ln/>
        </p:spPr>
      </p:sp>
      <p:sp>
        <p:nvSpPr>
          <p:cNvPr id="11" name="Text 9"/>
          <p:cNvSpPr/>
          <p:nvPr/>
        </p:nvSpPr>
        <p:spPr>
          <a:xfrm>
            <a:off x="950976" y="27797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Regular feedback from users</a:t>
            </a:r>
            <a:endParaRPr lang="en-US" sz="1060" dirty="0"/>
          </a:p>
        </p:txBody>
      </p:sp>
      <p:sp>
        <p:nvSpPr>
          <p:cNvPr id="12" name="Shape 10"/>
          <p:cNvSpPr/>
          <p:nvPr/>
        </p:nvSpPr>
        <p:spPr>
          <a:xfrm>
            <a:off x="768096" y="3364992"/>
            <a:ext cx="73152" cy="73152"/>
          </a:xfrm>
          <a:prstGeom prst="ellipse">
            <a:avLst/>
          </a:prstGeom>
          <a:solidFill>
            <a:srgbClr val="0B8A9C"/>
          </a:solidFill>
          <a:ln/>
        </p:spPr>
      </p:sp>
      <p:sp>
        <p:nvSpPr>
          <p:cNvPr id="13" name="Text 11"/>
          <p:cNvSpPr/>
          <p:nvPr/>
        </p:nvSpPr>
        <p:spPr>
          <a:xfrm>
            <a:off x="950976" y="32369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Delivers working software faster, more often</a:t>
            </a:r>
            <a:endParaRPr lang="en-US" sz="1060" dirty="0"/>
          </a:p>
        </p:txBody>
      </p:sp>
      <p:sp>
        <p:nvSpPr>
          <p:cNvPr id="14" name="Shape 12"/>
          <p:cNvSpPr/>
          <p:nvPr/>
        </p:nvSpPr>
        <p:spPr>
          <a:xfrm>
            <a:off x="6301588" y="1691640"/>
            <a:ext cx="5341468" cy="4434840"/>
          </a:xfrm>
          <a:prstGeom prst="roundRect">
            <a:avLst>
              <a:gd name="adj" fmla="val 1649"/>
            </a:avLst>
          </a:prstGeom>
          <a:solidFill>
            <a:srgbClr val="F2F6F9"/>
          </a:solidFill>
          <a:ln/>
        </p:spPr>
      </p:sp>
      <p:sp>
        <p:nvSpPr>
          <p:cNvPr id="15" name="Shape 13"/>
          <p:cNvSpPr/>
          <p:nvPr/>
        </p:nvSpPr>
        <p:spPr>
          <a:xfrm>
            <a:off x="6301588" y="1691640"/>
            <a:ext cx="5341468" cy="502920"/>
          </a:xfrm>
          <a:prstGeom prst="roundRect">
            <a:avLst>
              <a:gd name="adj" fmla="val 14545"/>
            </a:avLst>
          </a:prstGeom>
          <a:solidFill>
            <a:srgbClr val="C85A46"/>
          </a:solidFill>
          <a:ln/>
        </p:spPr>
      </p:sp>
      <p:sp>
        <p:nvSpPr>
          <p:cNvPr id="16" name="Shape 14"/>
          <p:cNvSpPr/>
          <p:nvPr/>
        </p:nvSpPr>
        <p:spPr>
          <a:xfrm>
            <a:off x="6301588" y="1965960"/>
            <a:ext cx="5341468" cy="228600"/>
          </a:xfrm>
          <a:prstGeom prst="rect">
            <a:avLst/>
          </a:prstGeom>
          <a:solidFill>
            <a:srgbClr val="C85A46"/>
          </a:solidFill>
          <a:ln/>
        </p:spPr>
      </p:sp>
      <p:sp>
        <p:nvSpPr>
          <p:cNvPr id="17" name="Text 15"/>
          <p:cNvSpPr/>
          <p:nvPr/>
        </p:nvSpPr>
        <p:spPr>
          <a:xfrm>
            <a:off x="6502756" y="1691640"/>
            <a:ext cx="4939132"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Disadvantages</a:t>
            </a:r>
            <a:endParaRPr lang="en-US" sz="1400" dirty="0"/>
          </a:p>
        </p:txBody>
      </p:sp>
      <p:sp>
        <p:nvSpPr>
          <p:cNvPr id="18" name="Shape 16"/>
          <p:cNvSpPr/>
          <p:nvPr/>
        </p:nvSpPr>
        <p:spPr>
          <a:xfrm>
            <a:off x="6521044" y="2450592"/>
            <a:ext cx="73152" cy="73152"/>
          </a:xfrm>
          <a:prstGeom prst="ellipse">
            <a:avLst/>
          </a:prstGeom>
          <a:solidFill>
            <a:srgbClr val="C85A46"/>
          </a:solidFill>
          <a:ln/>
        </p:spPr>
      </p:sp>
      <p:sp>
        <p:nvSpPr>
          <p:cNvPr id="19" name="Text 17"/>
          <p:cNvSpPr/>
          <p:nvPr/>
        </p:nvSpPr>
        <p:spPr>
          <a:xfrm>
            <a:off x="6703924" y="23225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Needs high team involvement</a:t>
            </a:r>
            <a:endParaRPr lang="en-US" sz="1060" dirty="0"/>
          </a:p>
        </p:txBody>
      </p:sp>
      <p:sp>
        <p:nvSpPr>
          <p:cNvPr id="20" name="Shape 18"/>
          <p:cNvSpPr/>
          <p:nvPr/>
        </p:nvSpPr>
        <p:spPr>
          <a:xfrm>
            <a:off x="6521044" y="2907792"/>
            <a:ext cx="73152" cy="73152"/>
          </a:xfrm>
          <a:prstGeom prst="ellipse">
            <a:avLst/>
          </a:prstGeom>
          <a:solidFill>
            <a:srgbClr val="C85A46"/>
          </a:solidFill>
          <a:ln/>
        </p:spPr>
      </p:sp>
      <p:sp>
        <p:nvSpPr>
          <p:cNvPr id="21" name="Text 19"/>
          <p:cNvSpPr/>
          <p:nvPr/>
        </p:nvSpPr>
        <p:spPr>
          <a:xfrm>
            <a:off x="6703924" y="27797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Documentation may be lighter</a:t>
            </a:r>
            <a:endParaRPr lang="en-US" sz="1060" dirty="0"/>
          </a:p>
        </p:txBody>
      </p:sp>
      <p:sp>
        <p:nvSpPr>
          <p:cNvPr id="22" name="Shape 20"/>
          <p:cNvSpPr/>
          <p:nvPr/>
        </p:nvSpPr>
        <p:spPr>
          <a:xfrm>
            <a:off x="6521044" y="3364992"/>
            <a:ext cx="73152" cy="73152"/>
          </a:xfrm>
          <a:prstGeom prst="ellipse">
            <a:avLst/>
          </a:prstGeom>
          <a:solidFill>
            <a:srgbClr val="C85A46"/>
          </a:solidFill>
          <a:ln/>
        </p:spPr>
      </p:sp>
      <p:sp>
        <p:nvSpPr>
          <p:cNvPr id="23" name="Text 21"/>
          <p:cNvSpPr/>
          <p:nvPr/>
        </p:nvSpPr>
        <p:spPr>
          <a:xfrm>
            <a:off x="6703924" y="32369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Difficult without regular stakeholder availability</a:t>
            </a:r>
            <a:endParaRPr lang="en-US" sz="1060" dirty="0"/>
          </a:p>
        </p:txBody>
      </p:sp>
      <p:sp>
        <p:nvSpPr>
          <p:cNvPr id="24"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BUSINESS ANALYSIS</a:t>
            </a:r>
            <a:endParaRPr lang="en-US" sz="900" dirty="0"/>
          </a:p>
        </p:txBody>
      </p:sp>
      <p:sp>
        <p:nvSpPr>
          <p:cNvPr id="25" name="Text 2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BUSINESS ANALYSIS</a:t>
            </a:r>
            <a:endParaRPr lang="en-US" sz="1150" dirty="0"/>
          </a:p>
        </p:txBody>
      </p:sp>
      <p:sp>
        <p:nvSpPr>
          <p:cNvPr id="3" name="Text 1"/>
          <p:cNvSpPr/>
          <p:nvPr/>
        </p:nvSpPr>
        <p:spPr>
          <a:xfrm>
            <a:off x="548640" y="868680"/>
            <a:ext cx="10607040" cy="548640"/>
          </a:xfrm>
          <a:prstGeom prst="rect">
            <a:avLst/>
          </a:prstGeom>
          <a:noFill/>
          <a:ln/>
        </p:spPr>
        <p:txBody>
          <a:bodyPr wrap="square" lIns="0" tIns="0" rIns="0" bIns="0" rtlCol="0" anchor="ctr"/>
          <a:lstStyle/>
          <a:p>
            <a:pPr indent="0" marL="0">
              <a:buNone/>
            </a:pPr>
            <a:r>
              <a:rPr lang="en-US" sz="2500" b="1" dirty="0">
                <a:solidFill>
                  <a:srgbClr val="0D2C4B"/>
                </a:solidFill>
                <a:latin typeface="Cambria" pitchFamily="34" charset="0"/>
                <a:ea typeface="Cambria" pitchFamily="34" charset="-122"/>
                <a:cs typeface="Cambria" pitchFamily="34" charset="-120"/>
              </a:rPr>
              <a:t>Waterfall vs. Agile I</a:t>
            </a:r>
            <a:endParaRPr lang="en-US" sz="25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3200400"/>
        </p:xfrm>
        <a:graphic>
          <a:graphicData uri="http://schemas.openxmlformats.org/drawingml/2006/table">
            <a:tbl>
              <a:tblPr/>
              <a:tblGrid>
                <a:gridCol w="2377440"/>
                <a:gridCol w="4480560"/>
                <a:gridCol w="4206240"/>
              </a:tblGrid>
              <a:tr h="6400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Basis</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Waterfall</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Agile</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r>
              <a:tr h="64008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Approach</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Linear and sequential</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Iterative and incremental</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r h="64008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Project Phases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Fixed: Requirements → Design → Development → Testing → Deployment</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Work done in small cycles called sprints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r>
              <a:tr h="64008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Requirements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Defined fully at the start; changes are difficult later</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Can change anytime; refined continuously</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r h="64008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Flexibility</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Low — not suited to frequent changes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High — designed to handle changing needs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r>
            </a:tbl>
          </a:graphicData>
        </a:graphic>
      </p:graphicFrame>
      <p:sp>
        <p:nvSpPr>
          <p:cNvPr id="5" name="Text 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BUSINESS ANALYSIS</a:t>
            </a:r>
            <a:endParaRPr lang="en-US" sz="900" dirty="0"/>
          </a:p>
        </p:txBody>
      </p:sp>
      <p:sp>
        <p:nvSpPr>
          <p:cNvPr id="6" name="Text 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BUSINESS ANALYSIS</a:t>
            </a:r>
            <a:endParaRPr lang="en-US" sz="1150" dirty="0"/>
          </a:p>
        </p:txBody>
      </p:sp>
      <p:sp>
        <p:nvSpPr>
          <p:cNvPr id="3" name="Text 1"/>
          <p:cNvSpPr/>
          <p:nvPr/>
        </p:nvSpPr>
        <p:spPr>
          <a:xfrm>
            <a:off x="548640" y="868680"/>
            <a:ext cx="10607040" cy="548640"/>
          </a:xfrm>
          <a:prstGeom prst="rect">
            <a:avLst/>
          </a:prstGeom>
          <a:noFill/>
          <a:ln/>
        </p:spPr>
        <p:txBody>
          <a:bodyPr wrap="square" lIns="0" tIns="0" rIns="0" bIns="0" rtlCol="0" anchor="ctr"/>
          <a:lstStyle/>
          <a:p>
            <a:pPr indent="0" marL="0">
              <a:buNone/>
            </a:pPr>
            <a:r>
              <a:rPr lang="en-US" sz="2500" b="1" dirty="0">
                <a:solidFill>
                  <a:srgbClr val="0D2C4B"/>
                </a:solidFill>
                <a:latin typeface="Cambria" pitchFamily="34" charset="0"/>
                <a:ea typeface="Cambria" pitchFamily="34" charset="-122"/>
                <a:cs typeface="Cambria" pitchFamily="34" charset="-120"/>
              </a:rPr>
              <a:t>Waterfall vs. Agile II</a:t>
            </a:r>
            <a:endParaRPr lang="en-US" sz="25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3657600"/>
        </p:xfrm>
        <a:graphic>
          <a:graphicData uri="http://schemas.openxmlformats.org/drawingml/2006/table">
            <a:tbl>
              <a:tblPr/>
              <a:tblGrid>
                <a:gridCol w="2377440"/>
                <a:gridCol w="4480560"/>
                <a:gridCol w="4206240"/>
              </a:tblGrid>
              <a:tr h="6096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Basis</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Waterfall</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Agile</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r>
              <a:tr h="60960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Customer Involvement</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Mainly at start and end</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Continuous — every sprint</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r h="60960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Delivery</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Final product delivered at the end</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Working software delivered frequently</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r>
              <a:tr h="60960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Documentation</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Heavy (BRD, SRS, etc.)</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“Just enough” documentation</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r h="60960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Testing</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After development is completed</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Within each sprint — early and continuous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r>
              <a:tr h="60960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Best Suited For</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Clear, stable requirements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Uncertain or changing requirements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BUSINESS ANALYSIS</a:t>
            </a:r>
            <a:endParaRPr lang="en-US" sz="900" dirty="0"/>
          </a:p>
        </p:txBody>
      </p:sp>
      <p:sp>
        <p:nvSpPr>
          <p:cNvPr id="6" name="Text 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BUSINESS ANALYSIS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When to Use Waterfall vs. Agile</a:t>
            </a:r>
            <a:endParaRPr lang="en-US" sz="2700" dirty="0"/>
          </a:p>
        </p:txBody>
      </p:sp>
      <p:sp>
        <p:nvSpPr>
          <p:cNvPr id="4" name="Shape 2"/>
          <p:cNvSpPr/>
          <p:nvPr/>
        </p:nvSpPr>
        <p:spPr>
          <a:xfrm>
            <a:off x="548640" y="1691640"/>
            <a:ext cx="5257800" cy="4023360"/>
          </a:xfrm>
          <a:prstGeom prst="roundRect">
            <a:avLst>
              <a:gd name="adj" fmla="val 1818"/>
            </a:avLst>
          </a:prstGeom>
          <a:solidFill>
            <a:srgbClr val="F2F6F9"/>
          </a:solidFill>
          <a:ln/>
        </p:spPr>
      </p:sp>
      <p:sp>
        <p:nvSpPr>
          <p:cNvPr id="5" name="Shape 3"/>
          <p:cNvSpPr/>
          <p:nvPr/>
        </p:nvSpPr>
        <p:spPr>
          <a:xfrm>
            <a:off x="548640" y="1691640"/>
            <a:ext cx="5257800" cy="566928"/>
          </a:xfrm>
          <a:prstGeom prst="roundRect">
            <a:avLst>
              <a:gd name="adj" fmla="val 12903"/>
            </a:avLst>
          </a:prstGeom>
          <a:solidFill>
            <a:srgbClr val="0D2C4B"/>
          </a:solidFill>
          <a:ln/>
        </p:spPr>
      </p:sp>
      <p:sp>
        <p:nvSpPr>
          <p:cNvPr id="6" name="Shape 4"/>
          <p:cNvSpPr/>
          <p:nvPr/>
        </p:nvSpPr>
        <p:spPr>
          <a:xfrm>
            <a:off x="548640" y="2011680"/>
            <a:ext cx="5257800" cy="246888"/>
          </a:xfrm>
          <a:prstGeom prst="rect">
            <a:avLst/>
          </a:prstGeom>
          <a:solidFill>
            <a:srgbClr val="0D2C4B"/>
          </a:solidFill>
          <a:ln/>
        </p:spPr>
      </p:sp>
      <p:sp>
        <p:nvSpPr>
          <p:cNvPr id="7" name="Text 5"/>
          <p:cNvSpPr/>
          <p:nvPr/>
        </p:nvSpPr>
        <p:spPr>
          <a:xfrm>
            <a:off x="822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Choose Waterfall When</a:t>
            </a:r>
            <a:endParaRPr lang="en-US" sz="1550" dirty="0"/>
          </a:p>
        </p:txBody>
      </p:sp>
      <p:sp>
        <p:nvSpPr>
          <p:cNvPr id="8" name="Shape 6"/>
          <p:cNvSpPr/>
          <p:nvPr/>
        </p:nvSpPr>
        <p:spPr>
          <a:xfrm>
            <a:off x="822960" y="2523744"/>
            <a:ext cx="82296" cy="82296"/>
          </a:xfrm>
          <a:prstGeom prst="ellipse">
            <a:avLst/>
          </a:prstGeom>
          <a:solidFill>
            <a:srgbClr val="0D2C4B"/>
          </a:solidFill>
          <a:ln/>
        </p:spPr>
      </p:sp>
      <p:sp>
        <p:nvSpPr>
          <p:cNvPr id="9" name="Text 7"/>
          <p:cNvSpPr/>
          <p:nvPr/>
        </p:nvSpPr>
        <p:spPr>
          <a:xfrm>
            <a:off x="1024128" y="2395728"/>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Requirements are clear and stable</a:t>
            </a:r>
            <a:endParaRPr lang="en-US" sz="1200" dirty="0"/>
          </a:p>
        </p:txBody>
      </p:sp>
      <p:sp>
        <p:nvSpPr>
          <p:cNvPr id="10" name="Shape 8"/>
          <p:cNvSpPr/>
          <p:nvPr/>
        </p:nvSpPr>
        <p:spPr>
          <a:xfrm>
            <a:off x="822960" y="2944368"/>
            <a:ext cx="82296" cy="82296"/>
          </a:xfrm>
          <a:prstGeom prst="ellipse">
            <a:avLst/>
          </a:prstGeom>
          <a:solidFill>
            <a:srgbClr val="0D2C4B"/>
          </a:solidFill>
          <a:ln/>
        </p:spPr>
      </p:sp>
      <p:sp>
        <p:nvSpPr>
          <p:cNvPr id="11" name="Text 9"/>
          <p:cNvSpPr/>
          <p:nvPr/>
        </p:nvSpPr>
        <p:spPr>
          <a:xfrm>
            <a:off x="1024128" y="2816352"/>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The project is simple with few unknowns</a:t>
            </a:r>
            <a:endParaRPr lang="en-US" sz="1200" dirty="0"/>
          </a:p>
        </p:txBody>
      </p:sp>
      <p:sp>
        <p:nvSpPr>
          <p:cNvPr id="12" name="Shape 10"/>
          <p:cNvSpPr/>
          <p:nvPr/>
        </p:nvSpPr>
        <p:spPr>
          <a:xfrm>
            <a:off x="822960" y="3364992"/>
            <a:ext cx="82296" cy="82296"/>
          </a:xfrm>
          <a:prstGeom prst="ellipse">
            <a:avLst/>
          </a:prstGeom>
          <a:solidFill>
            <a:srgbClr val="0D2C4B"/>
          </a:solidFill>
          <a:ln/>
        </p:spPr>
      </p:sp>
      <p:sp>
        <p:nvSpPr>
          <p:cNvPr id="13" name="Text 11"/>
          <p:cNvSpPr/>
          <p:nvPr/>
        </p:nvSpPr>
        <p:spPr>
          <a:xfrm>
            <a:off x="1024128" y="3236976"/>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Strict documentation &amp; compliance are required</a:t>
            </a:r>
            <a:endParaRPr lang="en-US" sz="1200" dirty="0"/>
          </a:p>
        </p:txBody>
      </p:sp>
      <p:sp>
        <p:nvSpPr>
          <p:cNvPr id="14" name="Shape 12"/>
          <p:cNvSpPr/>
          <p:nvPr/>
        </p:nvSpPr>
        <p:spPr>
          <a:xfrm>
            <a:off x="822960" y="3785616"/>
            <a:ext cx="82296" cy="82296"/>
          </a:xfrm>
          <a:prstGeom prst="ellipse">
            <a:avLst/>
          </a:prstGeom>
          <a:solidFill>
            <a:srgbClr val="0D2C4B"/>
          </a:solidFill>
          <a:ln/>
        </p:spPr>
      </p:sp>
      <p:sp>
        <p:nvSpPr>
          <p:cNvPr id="15" name="Text 13"/>
          <p:cNvSpPr/>
          <p:nvPr/>
        </p:nvSpPr>
        <p:spPr>
          <a:xfrm>
            <a:off x="1024128" y="3657600"/>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Customer involvement is limited</a:t>
            </a:r>
            <a:endParaRPr lang="en-US" sz="1200" dirty="0"/>
          </a:p>
        </p:txBody>
      </p:sp>
      <p:sp>
        <p:nvSpPr>
          <p:cNvPr id="16" name="Shape 14"/>
          <p:cNvSpPr/>
          <p:nvPr/>
        </p:nvSpPr>
        <p:spPr>
          <a:xfrm>
            <a:off x="822960" y="4206240"/>
            <a:ext cx="82296" cy="82296"/>
          </a:xfrm>
          <a:prstGeom prst="ellipse">
            <a:avLst/>
          </a:prstGeom>
          <a:solidFill>
            <a:srgbClr val="0D2C4B"/>
          </a:solidFill>
          <a:ln/>
        </p:spPr>
      </p:sp>
      <p:sp>
        <p:nvSpPr>
          <p:cNvPr id="17" name="Text 15"/>
          <p:cNvSpPr/>
          <p:nvPr/>
        </p:nvSpPr>
        <p:spPr>
          <a:xfrm>
            <a:off x="1024128" y="4078224"/>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A fixed schedule and budget drive the plan</a:t>
            </a:r>
            <a:endParaRPr lang="en-US" sz="1200" dirty="0"/>
          </a:p>
        </p:txBody>
      </p:sp>
      <p:sp>
        <p:nvSpPr>
          <p:cNvPr id="18" name="Shape 16"/>
          <p:cNvSpPr/>
          <p:nvPr/>
        </p:nvSpPr>
        <p:spPr>
          <a:xfrm>
            <a:off x="6263640" y="1691640"/>
            <a:ext cx="5257800" cy="4023360"/>
          </a:xfrm>
          <a:prstGeom prst="roundRect">
            <a:avLst>
              <a:gd name="adj" fmla="val 1818"/>
            </a:avLst>
          </a:prstGeom>
          <a:solidFill>
            <a:srgbClr val="F2F6F9"/>
          </a:solidFill>
          <a:ln/>
        </p:spPr>
      </p:sp>
      <p:sp>
        <p:nvSpPr>
          <p:cNvPr id="19" name="Shape 17"/>
          <p:cNvSpPr/>
          <p:nvPr/>
        </p:nvSpPr>
        <p:spPr>
          <a:xfrm>
            <a:off x="6263640" y="1691640"/>
            <a:ext cx="5257800" cy="566928"/>
          </a:xfrm>
          <a:prstGeom prst="roundRect">
            <a:avLst>
              <a:gd name="adj" fmla="val 12903"/>
            </a:avLst>
          </a:prstGeom>
          <a:solidFill>
            <a:srgbClr val="0B8A9C"/>
          </a:solidFill>
          <a:ln/>
        </p:spPr>
      </p:sp>
      <p:sp>
        <p:nvSpPr>
          <p:cNvPr id="20" name="Shape 18"/>
          <p:cNvSpPr/>
          <p:nvPr/>
        </p:nvSpPr>
        <p:spPr>
          <a:xfrm>
            <a:off x="6263640" y="2011680"/>
            <a:ext cx="5257800" cy="246888"/>
          </a:xfrm>
          <a:prstGeom prst="rect">
            <a:avLst/>
          </a:prstGeom>
          <a:solidFill>
            <a:srgbClr val="0B8A9C"/>
          </a:solidFill>
          <a:ln/>
        </p:spPr>
      </p:sp>
      <p:sp>
        <p:nvSpPr>
          <p:cNvPr id="21" name="Text 19"/>
          <p:cNvSpPr/>
          <p:nvPr/>
        </p:nvSpPr>
        <p:spPr>
          <a:xfrm>
            <a:off x="6537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Choose Agile When</a:t>
            </a:r>
            <a:endParaRPr lang="en-US" sz="1550" dirty="0"/>
          </a:p>
        </p:txBody>
      </p:sp>
      <p:sp>
        <p:nvSpPr>
          <p:cNvPr id="22" name="Shape 20"/>
          <p:cNvSpPr/>
          <p:nvPr/>
        </p:nvSpPr>
        <p:spPr>
          <a:xfrm>
            <a:off x="6537960" y="2523744"/>
            <a:ext cx="82296" cy="82296"/>
          </a:xfrm>
          <a:prstGeom prst="ellipse">
            <a:avLst/>
          </a:prstGeom>
          <a:solidFill>
            <a:srgbClr val="0B8A9C"/>
          </a:solidFill>
          <a:ln/>
        </p:spPr>
      </p:sp>
      <p:sp>
        <p:nvSpPr>
          <p:cNvPr id="23" name="Text 21"/>
          <p:cNvSpPr/>
          <p:nvPr/>
        </p:nvSpPr>
        <p:spPr>
          <a:xfrm>
            <a:off x="6739128" y="2395728"/>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Requirements are likely to change</a:t>
            </a:r>
            <a:endParaRPr lang="en-US" sz="1200" dirty="0"/>
          </a:p>
        </p:txBody>
      </p:sp>
      <p:sp>
        <p:nvSpPr>
          <p:cNvPr id="24" name="Shape 22"/>
          <p:cNvSpPr/>
          <p:nvPr/>
        </p:nvSpPr>
        <p:spPr>
          <a:xfrm>
            <a:off x="6537960" y="2944368"/>
            <a:ext cx="82296" cy="82296"/>
          </a:xfrm>
          <a:prstGeom prst="ellipse">
            <a:avLst/>
          </a:prstGeom>
          <a:solidFill>
            <a:srgbClr val="0B8A9C"/>
          </a:solidFill>
          <a:ln/>
        </p:spPr>
      </p:sp>
      <p:sp>
        <p:nvSpPr>
          <p:cNvPr id="25" name="Text 23"/>
          <p:cNvSpPr/>
          <p:nvPr/>
        </p:nvSpPr>
        <p:spPr>
          <a:xfrm>
            <a:off x="6739128" y="2816352"/>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Fast, incremental delivery is a priority</a:t>
            </a:r>
            <a:endParaRPr lang="en-US" sz="1200" dirty="0"/>
          </a:p>
        </p:txBody>
      </p:sp>
      <p:sp>
        <p:nvSpPr>
          <p:cNvPr id="26" name="Shape 24"/>
          <p:cNvSpPr/>
          <p:nvPr/>
        </p:nvSpPr>
        <p:spPr>
          <a:xfrm>
            <a:off x="6537960" y="3364992"/>
            <a:ext cx="82296" cy="82296"/>
          </a:xfrm>
          <a:prstGeom prst="ellipse">
            <a:avLst/>
          </a:prstGeom>
          <a:solidFill>
            <a:srgbClr val="0B8A9C"/>
          </a:solidFill>
          <a:ln/>
        </p:spPr>
      </p:sp>
      <p:sp>
        <p:nvSpPr>
          <p:cNvPr id="27" name="Text 25"/>
          <p:cNvSpPr/>
          <p:nvPr/>
        </p:nvSpPr>
        <p:spPr>
          <a:xfrm>
            <a:off x="6739128" y="3236976"/>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Customer feedback is crucial</a:t>
            </a:r>
            <a:endParaRPr lang="en-US" sz="1200" dirty="0"/>
          </a:p>
        </p:txBody>
      </p:sp>
      <p:sp>
        <p:nvSpPr>
          <p:cNvPr id="28" name="Shape 26"/>
          <p:cNvSpPr/>
          <p:nvPr/>
        </p:nvSpPr>
        <p:spPr>
          <a:xfrm>
            <a:off x="6537960" y="3785616"/>
            <a:ext cx="82296" cy="82296"/>
          </a:xfrm>
          <a:prstGeom prst="ellipse">
            <a:avLst/>
          </a:prstGeom>
          <a:solidFill>
            <a:srgbClr val="0B8A9C"/>
          </a:solidFill>
          <a:ln/>
        </p:spPr>
      </p:sp>
      <p:sp>
        <p:nvSpPr>
          <p:cNvPr id="29" name="Text 27"/>
          <p:cNvSpPr/>
          <p:nvPr/>
        </p:nvSpPr>
        <p:spPr>
          <a:xfrm>
            <a:off x="6739128" y="3657600"/>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The project is complex or uncertain</a:t>
            </a:r>
            <a:endParaRPr lang="en-US" sz="1200" dirty="0"/>
          </a:p>
        </p:txBody>
      </p:sp>
      <p:sp>
        <p:nvSpPr>
          <p:cNvPr id="30" name="Shape 28"/>
          <p:cNvSpPr/>
          <p:nvPr/>
        </p:nvSpPr>
        <p:spPr>
          <a:xfrm>
            <a:off x="6537960" y="4206240"/>
            <a:ext cx="82296" cy="82296"/>
          </a:xfrm>
          <a:prstGeom prst="ellipse">
            <a:avLst/>
          </a:prstGeom>
          <a:solidFill>
            <a:srgbClr val="0B8A9C"/>
          </a:solidFill>
          <a:ln/>
        </p:spPr>
      </p:sp>
      <p:sp>
        <p:nvSpPr>
          <p:cNvPr id="31" name="Text 29"/>
          <p:cNvSpPr/>
          <p:nvPr/>
        </p:nvSpPr>
        <p:spPr>
          <a:xfrm>
            <a:off x="6739128" y="4078224"/>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Cross-functional teams collaborate closely</a:t>
            </a:r>
            <a:endParaRPr lang="en-US" sz="1200" dirty="0"/>
          </a:p>
        </p:txBody>
      </p:sp>
      <p:sp>
        <p:nvSpPr>
          <p:cNvPr id="32" name="Text 30"/>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BUSINESS ANALYSIS</a:t>
            </a:r>
            <a:endParaRPr lang="en-US" sz="900" dirty="0"/>
          </a:p>
        </p:txBody>
      </p:sp>
      <p:sp>
        <p:nvSpPr>
          <p:cNvPr id="33" name="Text 3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81826"/>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63A5C">
              <a:alpha val="65000"/>
            </a:srgbClr>
          </a:solidFill>
          <a:ln/>
        </p:spPr>
      </p:sp>
      <p:sp>
        <p:nvSpPr>
          <p:cNvPr id="3" name="Shape 1"/>
          <p:cNvSpPr/>
          <p:nvPr/>
        </p:nvSpPr>
        <p:spPr>
          <a:xfrm>
            <a:off x="-1280160" y="4937760"/>
            <a:ext cx="3291840" cy="3291840"/>
          </a:xfrm>
          <a:prstGeom prst="ellipse">
            <a:avLst/>
          </a:prstGeom>
          <a:solidFill>
            <a:srgbClr val="12B5CB">
              <a:alpha val="18000"/>
            </a:srgbClr>
          </a:solidFill>
          <a:ln/>
        </p:spPr>
      </p:sp>
      <p:sp>
        <p:nvSpPr>
          <p:cNvPr id="4" name="Text 2"/>
          <p:cNvSpPr/>
          <p:nvPr/>
        </p:nvSpPr>
        <p:spPr>
          <a:xfrm>
            <a:off x="548640" y="1965960"/>
            <a:ext cx="3657600" cy="1463040"/>
          </a:xfrm>
          <a:prstGeom prst="rect">
            <a:avLst/>
          </a:prstGeom>
          <a:noFill/>
          <a:ln/>
        </p:spPr>
        <p:txBody>
          <a:bodyPr wrap="square" lIns="0" tIns="0" rIns="0" bIns="0" rtlCol="0" anchor="ctr"/>
          <a:lstStyle/>
          <a:p>
            <a:pPr indent="0" marL="0">
              <a:buNone/>
            </a:pPr>
            <a:r>
              <a:rPr lang="en-US" sz="9000" b="1" dirty="0">
                <a:solidFill>
                  <a:srgbClr val="12B5CB"/>
                </a:solidFill>
                <a:latin typeface="Cambria" pitchFamily="34" charset="0"/>
                <a:ea typeface="Cambria" pitchFamily="34" charset="-122"/>
                <a:cs typeface="Cambria" pitchFamily="34" charset="-120"/>
              </a:rPr>
              <a:t>07</a:t>
            </a:r>
            <a:endParaRPr lang="en-US" sz="9000" dirty="0"/>
          </a:p>
        </p:txBody>
      </p:sp>
      <p:sp>
        <p:nvSpPr>
          <p:cNvPr id="5" name="Text 3"/>
          <p:cNvSpPr/>
          <p:nvPr/>
        </p:nvSpPr>
        <p:spPr>
          <a:xfrm>
            <a:off x="548640" y="3429000"/>
            <a:ext cx="9601200" cy="1188720"/>
          </a:xfrm>
          <a:prstGeom prst="rect">
            <a:avLst/>
          </a:prstGeom>
          <a:noFill/>
          <a:ln/>
        </p:spPr>
        <p:txBody>
          <a:bodyPr wrap="square" lIns="0" tIns="0" rIns="0" bIns="0"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Stakeholder Management</a:t>
            </a:r>
            <a:endParaRPr lang="en-US" sz="3400" dirty="0"/>
          </a:p>
        </p:txBody>
      </p:sp>
      <p:sp>
        <p:nvSpPr>
          <p:cNvPr id="6" name="Text 4"/>
          <p:cNvSpPr/>
          <p:nvPr/>
        </p:nvSpPr>
        <p:spPr>
          <a:xfrm>
            <a:off x="548640" y="4526280"/>
            <a:ext cx="8412480" cy="731520"/>
          </a:xfrm>
          <a:prstGeom prst="rect">
            <a:avLst/>
          </a:prstGeom>
          <a:noFill/>
          <a:ln/>
        </p:spPr>
        <p:txBody>
          <a:bodyPr wrap="square" lIns="0" tIns="0" rIns="0" bIns="0" rtlCol="0" anchor="ctr"/>
          <a:lstStyle/>
          <a:p>
            <a:pPr indent="0" marL="0">
              <a:lnSpc>
                <a:spcPts val="1900"/>
              </a:lnSpc>
              <a:buNone/>
            </a:pPr>
            <a:r>
              <a:rPr lang="en-US" sz="1400" dirty="0">
                <a:solidFill>
                  <a:srgbClr val="9FB6C9"/>
                </a:solidFill>
                <a:latin typeface="Calibri" pitchFamily="34" charset="0"/>
                <a:ea typeface="Calibri" pitchFamily="34" charset="-122"/>
                <a:cs typeface="Calibri" pitchFamily="34" charset="-120"/>
              </a:rPr>
              <a:t>Engaging the people who can affect — or are affected by — a project.</a:t>
            </a:r>
            <a:endParaRPr lang="en-US" sz="1400" dirty="0"/>
          </a:p>
        </p:txBody>
      </p:sp>
      <p:sp>
        <p:nvSpPr>
          <p:cNvPr id="7" name="Text 5"/>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9FB6C9"/>
                </a:solidFill>
                <a:latin typeface="Calibri" pitchFamily="34" charset="0"/>
                <a:ea typeface="Calibri" pitchFamily="34" charset="-122"/>
                <a:cs typeface="Calibri" pitchFamily="34" charset="-120"/>
              </a:rPr>
              <a:t>STAKEHOLDER MANAGEMENT</a:t>
            </a:r>
            <a:endParaRPr lang="en-US" sz="900" dirty="0"/>
          </a:p>
        </p:txBody>
      </p:sp>
      <p:sp>
        <p:nvSpPr>
          <p:cNvPr id="8" name="Text 6"/>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9FB6C9"/>
                </a:solidFill>
                <a:latin typeface="Calibri" pitchFamily="34" charset="0"/>
                <a:ea typeface="Calibri" pitchFamily="34" charset="-122"/>
                <a:cs typeface="Calibri"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18320" y="-914400"/>
            <a:ext cx="3840480" cy="3840480"/>
          </a:xfrm>
          <a:prstGeom prst="ellipse">
            <a:avLst/>
          </a:prstGeom>
          <a:solidFill>
            <a:srgbClr val="F2F6F9"/>
          </a:solidFill>
          <a:ln/>
        </p:spPr>
      </p:sp>
      <p:sp>
        <p:nvSpPr>
          <p:cNvPr id="3" name="Shape 1"/>
          <p:cNvSpPr/>
          <p:nvPr/>
        </p:nvSpPr>
        <p:spPr>
          <a:xfrm>
            <a:off x="10424160" y="91440"/>
            <a:ext cx="1828800" cy="1828800"/>
          </a:xfrm>
          <a:prstGeom prst="ellipse">
            <a:avLst/>
          </a:prstGeom>
          <a:solidFill>
            <a:srgbClr val="12B5CB">
              <a:alpha val="15000"/>
            </a:srgbClr>
          </a:solidFill>
          <a:ln/>
        </p:spPr>
      </p:sp>
      <p:sp>
        <p:nvSpPr>
          <p:cNvPr id="4" name="Text 2"/>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STAKEHOLDER MANAGEMENT</a:t>
            </a:r>
            <a:endParaRPr lang="en-US" sz="1150" dirty="0"/>
          </a:p>
        </p:txBody>
      </p:sp>
      <p:sp>
        <p:nvSpPr>
          <p:cNvPr id="5" name="Text 3"/>
          <p:cNvSpPr/>
          <p:nvPr/>
        </p:nvSpPr>
        <p:spPr>
          <a:xfrm>
            <a:off x="548640" y="960120"/>
            <a:ext cx="9692640" cy="1005840"/>
          </a:xfrm>
          <a:prstGeom prst="rect">
            <a:avLst/>
          </a:prstGeom>
          <a:noFill/>
          <a:ln/>
        </p:spPr>
        <p:txBody>
          <a:bodyPr wrap="square" lIns="0" tIns="0" rIns="0" bIns="0" rtlCol="0" anchor="ctr"/>
          <a:lstStyle/>
          <a:p>
            <a:pPr indent="0" marL="0">
              <a:lnSpc>
                <a:spcPts val="3400"/>
              </a:lnSpc>
              <a:buNone/>
            </a:pPr>
            <a:r>
              <a:rPr lang="en-US" sz="3000" b="1" dirty="0">
                <a:solidFill>
                  <a:srgbClr val="0D2C4B"/>
                </a:solidFill>
                <a:latin typeface="Cambria" pitchFamily="34" charset="0"/>
                <a:ea typeface="Cambria" pitchFamily="34" charset="-122"/>
                <a:cs typeface="Cambria" pitchFamily="34" charset="-120"/>
              </a:rPr>
              <a:t>What Is Stakeholder Management?</a:t>
            </a:r>
            <a:endParaRPr lang="en-US" sz="3000" dirty="0"/>
          </a:p>
        </p:txBody>
      </p:sp>
      <p:sp>
        <p:nvSpPr>
          <p:cNvPr id="6" name="Text 4"/>
          <p:cNvSpPr/>
          <p:nvPr/>
        </p:nvSpPr>
        <p:spPr>
          <a:xfrm>
            <a:off x="548640" y="2148840"/>
            <a:ext cx="9509760" cy="2377440"/>
          </a:xfrm>
          <a:prstGeom prst="rect">
            <a:avLst/>
          </a:prstGeom>
          <a:noFill/>
          <a:ln/>
        </p:spPr>
        <p:txBody>
          <a:bodyPr wrap="square" lIns="0" tIns="0" rIns="0" bIns="0" rtlCol="0" anchor="ctr"/>
          <a:lstStyle/>
          <a:p>
            <a:pPr indent="0" marL="0">
              <a:lnSpc>
                <a:spcPts val="2500"/>
              </a:lnSpc>
              <a:buNone/>
            </a:pPr>
            <a:r>
              <a:rPr lang="en-US" sz="1600" dirty="0">
                <a:solidFill>
                  <a:srgbClr val="1C2B39"/>
                </a:solidFill>
                <a:latin typeface="Calibri" pitchFamily="34" charset="0"/>
                <a:ea typeface="Calibri" pitchFamily="34" charset="-122"/>
                <a:cs typeface="Calibri" pitchFamily="34" charset="-120"/>
              </a:rPr>
              <a:t>Stakeholder management is the process of identifying, analyzing, and engaging with individuals, groups, or organizations that can affect or are affected by a project or business. Its goal is to manage stakeholders' interests and expectations to ensure the initiative's success by building positive relationships and trust.</a:t>
            </a:r>
            <a:endParaRPr lang="en-US" sz="1600" dirty="0"/>
          </a:p>
        </p:txBody>
      </p:sp>
      <p:sp>
        <p:nvSpPr>
          <p:cNvPr id="7" name="Shape 5"/>
          <p:cNvSpPr/>
          <p:nvPr/>
        </p:nvSpPr>
        <p:spPr>
          <a:xfrm>
            <a:off x="548640" y="4892040"/>
            <a:ext cx="1060704" cy="384048"/>
          </a:xfrm>
          <a:prstGeom prst="roundRect">
            <a:avLst>
              <a:gd name="adj" fmla="val 50000"/>
            </a:avLst>
          </a:prstGeom>
          <a:solidFill>
            <a:srgbClr val="F2F6F9"/>
          </a:solidFill>
          <a:ln w="12700">
            <a:solidFill>
              <a:srgbClr val="DCE6ED"/>
            </a:solidFill>
            <a:prstDash val="solid"/>
          </a:ln>
        </p:spPr>
      </p:sp>
      <p:sp>
        <p:nvSpPr>
          <p:cNvPr id="8" name="Text 6"/>
          <p:cNvSpPr/>
          <p:nvPr/>
        </p:nvSpPr>
        <p:spPr>
          <a:xfrm>
            <a:off x="548640" y="4892040"/>
            <a:ext cx="1060704"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Identify</a:t>
            </a:r>
            <a:endParaRPr lang="en-US" sz="1150" dirty="0"/>
          </a:p>
        </p:txBody>
      </p:sp>
      <p:sp>
        <p:nvSpPr>
          <p:cNvPr id="9" name="Shape 7"/>
          <p:cNvSpPr/>
          <p:nvPr/>
        </p:nvSpPr>
        <p:spPr>
          <a:xfrm>
            <a:off x="1810512" y="4892040"/>
            <a:ext cx="868680" cy="384048"/>
          </a:xfrm>
          <a:prstGeom prst="roundRect">
            <a:avLst>
              <a:gd name="adj" fmla="val 50000"/>
            </a:avLst>
          </a:prstGeom>
          <a:solidFill>
            <a:srgbClr val="F2F6F9"/>
          </a:solidFill>
          <a:ln w="12700">
            <a:solidFill>
              <a:srgbClr val="DCE6ED"/>
            </a:solidFill>
            <a:prstDash val="solid"/>
          </a:ln>
        </p:spPr>
      </p:sp>
      <p:sp>
        <p:nvSpPr>
          <p:cNvPr id="10" name="Text 8"/>
          <p:cNvSpPr/>
          <p:nvPr/>
        </p:nvSpPr>
        <p:spPr>
          <a:xfrm>
            <a:off x="1810512" y="4892040"/>
            <a:ext cx="868680"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Engage</a:t>
            </a:r>
            <a:endParaRPr lang="en-US" sz="1150" dirty="0"/>
          </a:p>
        </p:txBody>
      </p:sp>
      <p:sp>
        <p:nvSpPr>
          <p:cNvPr id="11" name="Shape 9"/>
          <p:cNvSpPr/>
          <p:nvPr/>
        </p:nvSpPr>
        <p:spPr>
          <a:xfrm>
            <a:off x="2880360" y="4892040"/>
            <a:ext cx="1348740" cy="384048"/>
          </a:xfrm>
          <a:prstGeom prst="roundRect">
            <a:avLst>
              <a:gd name="adj" fmla="val 50000"/>
            </a:avLst>
          </a:prstGeom>
          <a:solidFill>
            <a:srgbClr val="F2F6F9"/>
          </a:solidFill>
          <a:ln w="12700">
            <a:solidFill>
              <a:srgbClr val="DCE6ED"/>
            </a:solidFill>
            <a:prstDash val="solid"/>
          </a:ln>
        </p:spPr>
      </p:sp>
      <p:sp>
        <p:nvSpPr>
          <p:cNvPr id="12" name="Text 10"/>
          <p:cNvSpPr/>
          <p:nvPr/>
        </p:nvSpPr>
        <p:spPr>
          <a:xfrm>
            <a:off x="2880360" y="4892040"/>
            <a:ext cx="1348740"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Communicate</a:t>
            </a:r>
            <a:endParaRPr lang="en-US" sz="1150" dirty="0"/>
          </a:p>
        </p:txBody>
      </p:sp>
      <p:sp>
        <p:nvSpPr>
          <p:cNvPr id="13" name="Text 11"/>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STAKEHOLDER MANAGEMENT</a:t>
            </a:r>
            <a:endParaRPr lang="en-US" sz="900" dirty="0"/>
          </a:p>
        </p:txBody>
      </p:sp>
      <p:sp>
        <p:nvSpPr>
          <p:cNvPr id="14" name="Text 12"/>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STAKEHOLDER MANAGEMENT</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The Benefits of Stakeholder Management</a:t>
            </a:r>
            <a:endParaRPr lang="en-US" sz="2700" dirty="0"/>
          </a:p>
        </p:txBody>
      </p:sp>
      <p:sp>
        <p:nvSpPr>
          <p:cNvPr id="4" name="Shape 2"/>
          <p:cNvSpPr/>
          <p:nvPr/>
        </p:nvSpPr>
        <p:spPr>
          <a:xfrm>
            <a:off x="548640" y="1691640"/>
            <a:ext cx="5257800" cy="4206240"/>
          </a:xfrm>
          <a:prstGeom prst="roundRect">
            <a:avLst>
              <a:gd name="adj" fmla="val 1739"/>
            </a:avLst>
          </a:prstGeom>
          <a:solidFill>
            <a:srgbClr val="F2F6F9"/>
          </a:solidFill>
          <a:ln/>
        </p:spPr>
      </p:sp>
      <p:sp>
        <p:nvSpPr>
          <p:cNvPr id="5" name="Shape 3"/>
          <p:cNvSpPr/>
          <p:nvPr/>
        </p:nvSpPr>
        <p:spPr>
          <a:xfrm>
            <a:off x="548640" y="1691640"/>
            <a:ext cx="5257800" cy="566928"/>
          </a:xfrm>
          <a:prstGeom prst="roundRect">
            <a:avLst>
              <a:gd name="adj" fmla="val 12903"/>
            </a:avLst>
          </a:prstGeom>
          <a:solidFill>
            <a:srgbClr val="0D2C4B"/>
          </a:solidFill>
          <a:ln/>
        </p:spPr>
      </p:sp>
      <p:sp>
        <p:nvSpPr>
          <p:cNvPr id="6" name="Shape 4"/>
          <p:cNvSpPr/>
          <p:nvPr/>
        </p:nvSpPr>
        <p:spPr>
          <a:xfrm>
            <a:off x="548640" y="2011680"/>
            <a:ext cx="5257800" cy="246888"/>
          </a:xfrm>
          <a:prstGeom prst="rect">
            <a:avLst/>
          </a:prstGeom>
          <a:solidFill>
            <a:srgbClr val="0D2C4B"/>
          </a:solidFill>
          <a:ln/>
        </p:spPr>
      </p:sp>
      <p:sp>
        <p:nvSpPr>
          <p:cNvPr id="7" name="Text 5"/>
          <p:cNvSpPr/>
          <p:nvPr/>
        </p:nvSpPr>
        <p:spPr>
          <a:xfrm>
            <a:off x="822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Project &amp; Operational Benefits</a:t>
            </a:r>
            <a:endParaRPr lang="en-US" sz="1550" dirty="0"/>
          </a:p>
        </p:txBody>
      </p:sp>
      <p:sp>
        <p:nvSpPr>
          <p:cNvPr id="8" name="Shape 6"/>
          <p:cNvSpPr/>
          <p:nvPr/>
        </p:nvSpPr>
        <p:spPr>
          <a:xfrm>
            <a:off x="822960" y="2523744"/>
            <a:ext cx="82296" cy="82296"/>
          </a:xfrm>
          <a:prstGeom prst="ellipse">
            <a:avLst/>
          </a:prstGeom>
          <a:solidFill>
            <a:srgbClr val="0D2C4B"/>
          </a:solidFill>
          <a:ln/>
        </p:spPr>
      </p:sp>
      <p:sp>
        <p:nvSpPr>
          <p:cNvPr id="9" name="Text 7"/>
          <p:cNvSpPr/>
          <p:nvPr/>
        </p:nvSpPr>
        <p:spPr>
          <a:xfrm>
            <a:off x="1024128" y="2414016"/>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Increases Success</a:t>
            </a:r>
            <a:endParaRPr lang="en-US" sz="1250" dirty="0"/>
          </a:p>
        </p:txBody>
      </p:sp>
      <p:sp>
        <p:nvSpPr>
          <p:cNvPr id="10" name="Text 8"/>
          <p:cNvSpPr/>
          <p:nvPr/>
        </p:nvSpPr>
        <p:spPr>
          <a:xfrm>
            <a:off x="1024128" y="2651760"/>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Early involvement ensures requirements are understood and accepted.</a:t>
            </a:r>
            <a:endParaRPr lang="en-US" sz="1080" dirty="0"/>
          </a:p>
        </p:txBody>
      </p:sp>
      <p:sp>
        <p:nvSpPr>
          <p:cNvPr id="11" name="Shape 9"/>
          <p:cNvSpPr/>
          <p:nvPr/>
        </p:nvSpPr>
        <p:spPr>
          <a:xfrm>
            <a:off x="822960" y="3182112"/>
            <a:ext cx="82296" cy="82296"/>
          </a:xfrm>
          <a:prstGeom prst="ellipse">
            <a:avLst/>
          </a:prstGeom>
          <a:solidFill>
            <a:srgbClr val="0D2C4B"/>
          </a:solidFill>
          <a:ln/>
        </p:spPr>
      </p:sp>
      <p:sp>
        <p:nvSpPr>
          <p:cNvPr id="12" name="Text 10"/>
          <p:cNvSpPr/>
          <p:nvPr/>
        </p:nvSpPr>
        <p:spPr>
          <a:xfrm>
            <a:off x="1024128" y="3072384"/>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Mitigates Risk</a:t>
            </a:r>
            <a:endParaRPr lang="en-US" sz="1250" dirty="0"/>
          </a:p>
        </p:txBody>
      </p:sp>
      <p:sp>
        <p:nvSpPr>
          <p:cNvPr id="13" name="Text 11"/>
          <p:cNvSpPr/>
          <p:nvPr/>
        </p:nvSpPr>
        <p:spPr>
          <a:xfrm>
            <a:off x="1024128" y="3310128"/>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Identifying concerns early helps prevent delays and disruptions.</a:t>
            </a:r>
            <a:endParaRPr lang="en-US" sz="1080" dirty="0"/>
          </a:p>
        </p:txBody>
      </p:sp>
      <p:sp>
        <p:nvSpPr>
          <p:cNvPr id="14" name="Shape 12"/>
          <p:cNvSpPr/>
          <p:nvPr/>
        </p:nvSpPr>
        <p:spPr>
          <a:xfrm>
            <a:off x="822960" y="3840480"/>
            <a:ext cx="82296" cy="82296"/>
          </a:xfrm>
          <a:prstGeom prst="ellipse">
            <a:avLst/>
          </a:prstGeom>
          <a:solidFill>
            <a:srgbClr val="0D2C4B"/>
          </a:solidFill>
          <a:ln/>
        </p:spPr>
      </p:sp>
      <p:sp>
        <p:nvSpPr>
          <p:cNvPr id="15" name="Text 13"/>
          <p:cNvSpPr/>
          <p:nvPr/>
        </p:nvSpPr>
        <p:spPr>
          <a:xfrm>
            <a:off x="1024128" y="3730752"/>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Improves Decisions</a:t>
            </a:r>
            <a:endParaRPr lang="en-US" sz="1250" dirty="0"/>
          </a:p>
        </p:txBody>
      </p:sp>
      <p:sp>
        <p:nvSpPr>
          <p:cNvPr id="16" name="Text 14"/>
          <p:cNvSpPr/>
          <p:nvPr/>
        </p:nvSpPr>
        <p:spPr>
          <a:xfrm>
            <a:off x="1024128" y="3968496"/>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Clear understanding of stakeholders enables better resource stewardship.</a:t>
            </a:r>
            <a:endParaRPr lang="en-US" sz="1080" dirty="0"/>
          </a:p>
        </p:txBody>
      </p:sp>
      <p:sp>
        <p:nvSpPr>
          <p:cNvPr id="17" name="Shape 15"/>
          <p:cNvSpPr/>
          <p:nvPr/>
        </p:nvSpPr>
        <p:spPr>
          <a:xfrm>
            <a:off x="6263640" y="1691640"/>
            <a:ext cx="5257800" cy="4206240"/>
          </a:xfrm>
          <a:prstGeom prst="roundRect">
            <a:avLst>
              <a:gd name="adj" fmla="val 1739"/>
            </a:avLst>
          </a:prstGeom>
          <a:solidFill>
            <a:srgbClr val="F2F6F9"/>
          </a:solidFill>
          <a:ln/>
        </p:spPr>
      </p:sp>
      <p:sp>
        <p:nvSpPr>
          <p:cNvPr id="18" name="Shape 16"/>
          <p:cNvSpPr/>
          <p:nvPr/>
        </p:nvSpPr>
        <p:spPr>
          <a:xfrm>
            <a:off x="6263640" y="1691640"/>
            <a:ext cx="5257800" cy="566928"/>
          </a:xfrm>
          <a:prstGeom prst="roundRect">
            <a:avLst>
              <a:gd name="adj" fmla="val 12903"/>
            </a:avLst>
          </a:prstGeom>
          <a:solidFill>
            <a:srgbClr val="0B8A9C"/>
          </a:solidFill>
          <a:ln/>
        </p:spPr>
      </p:sp>
      <p:sp>
        <p:nvSpPr>
          <p:cNvPr id="19" name="Shape 17"/>
          <p:cNvSpPr/>
          <p:nvPr/>
        </p:nvSpPr>
        <p:spPr>
          <a:xfrm>
            <a:off x="6263640" y="2011680"/>
            <a:ext cx="5257800" cy="246888"/>
          </a:xfrm>
          <a:prstGeom prst="rect">
            <a:avLst/>
          </a:prstGeom>
          <a:solidFill>
            <a:srgbClr val="0B8A9C"/>
          </a:solidFill>
          <a:ln/>
        </p:spPr>
      </p:sp>
      <p:sp>
        <p:nvSpPr>
          <p:cNvPr id="20" name="Text 18"/>
          <p:cNvSpPr/>
          <p:nvPr/>
        </p:nvSpPr>
        <p:spPr>
          <a:xfrm>
            <a:off x="6537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Relationship &amp; Strategic Benefits</a:t>
            </a:r>
            <a:endParaRPr lang="en-US" sz="1550" dirty="0"/>
          </a:p>
        </p:txBody>
      </p:sp>
      <p:sp>
        <p:nvSpPr>
          <p:cNvPr id="21" name="Shape 19"/>
          <p:cNvSpPr/>
          <p:nvPr/>
        </p:nvSpPr>
        <p:spPr>
          <a:xfrm>
            <a:off x="6537960" y="2523744"/>
            <a:ext cx="82296" cy="82296"/>
          </a:xfrm>
          <a:prstGeom prst="ellipse">
            <a:avLst/>
          </a:prstGeom>
          <a:solidFill>
            <a:srgbClr val="0B8A9C"/>
          </a:solidFill>
          <a:ln/>
        </p:spPr>
      </p:sp>
      <p:sp>
        <p:nvSpPr>
          <p:cNvPr id="22" name="Text 20"/>
          <p:cNvSpPr/>
          <p:nvPr/>
        </p:nvSpPr>
        <p:spPr>
          <a:xfrm>
            <a:off x="6739128" y="2414016"/>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Builds Trust</a:t>
            </a:r>
            <a:endParaRPr lang="en-US" sz="1250" dirty="0"/>
          </a:p>
        </p:txBody>
      </p:sp>
      <p:sp>
        <p:nvSpPr>
          <p:cNvPr id="23" name="Text 21"/>
          <p:cNvSpPr/>
          <p:nvPr/>
        </p:nvSpPr>
        <p:spPr>
          <a:xfrm>
            <a:off x="6739128" y="2651760"/>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Transparent communication demonstrates commitment to stakeholder needs.</a:t>
            </a:r>
            <a:endParaRPr lang="en-US" sz="1080" dirty="0"/>
          </a:p>
        </p:txBody>
      </p:sp>
      <p:sp>
        <p:nvSpPr>
          <p:cNvPr id="24" name="Shape 22"/>
          <p:cNvSpPr/>
          <p:nvPr/>
        </p:nvSpPr>
        <p:spPr>
          <a:xfrm>
            <a:off x="6537960" y="3182112"/>
            <a:ext cx="82296" cy="82296"/>
          </a:xfrm>
          <a:prstGeom prst="ellipse">
            <a:avLst/>
          </a:prstGeom>
          <a:solidFill>
            <a:srgbClr val="0B8A9C"/>
          </a:solidFill>
          <a:ln/>
        </p:spPr>
      </p:sp>
      <p:sp>
        <p:nvSpPr>
          <p:cNvPr id="25" name="Text 23"/>
          <p:cNvSpPr/>
          <p:nvPr/>
        </p:nvSpPr>
        <p:spPr>
          <a:xfrm>
            <a:off x="6739128" y="3072384"/>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Competitive Advantage</a:t>
            </a:r>
            <a:endParaRPr lang="en-US" sz="1250" dirty="0"/>
          </a:p>
        </p:txBody>
      </p:sp>
      <p:sp>
        <p:nvSpPr>
          <p:cNvPr id="26" name="Text 24"/>
          <p:cNvSpPr/>
          <p:nvPr/>
        </p:nvSpPr>
        <p:spPr>
          <a:xfrm>
            <a:off x="6739128" y="3310128"/>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Understanding stakeholder interests can uncover new opportunities.</a:t>
            </a:r>
            <a:endParaRPr lang="en-US" sz="1080" dirty="0"/>
          </a:p>
        </p:txBody>
      </p:sp>
      <p:sp>
        <p:nvSpPr>
          <p:cNvPr id="27" name="Shape 25"/>
          <p:cNvSpPr/>
          <p:nvPr/>
        </p:nvSpPr>
        <p:spPr>
          <a:xfrm>
            <a:off x="6537960" y="3840480"/>
            <a:ext cx="82296" cy="82296"/>
          </a:xfrm>
          <a:prstGeom prst="ellipse">
            <a:avLst/>
          </a:prstGeom>
          <a:solidFill>
            <a:srgbClr val="0B8A9C"/>
          </a:solidFill>
          <a:ln/>
        </p:spPr>
      </p:sp>
      <p:sp>
        <p:nvSpPr>
          <p:cNvPr id="28" name="Text 26"/>
          <p:cNvSpPr/>
          <p:nvPr/>
        </p:nvSpPr>
        <p:spPr>
          <a:xfrm>
            <a:off x="6739128" y="3730752"/>
            <a:ext cx="4526280" cy="237744"/>
          </a:xfrm>
          <a:prstGeom prst="rect">
            <a:avLst/>
          </a:prstGeom>
          <a:noFill/>
          <a:ln/>
        </p:spPr>
        <p:txBody>
          <a:bodyPr wrap="square" lIns="0" tIns="0" rIns="0" bIns="0" rtlCol="0" anchor="ctr"/>
          <a:lstStyle/>
          <a:p>
            <a:pPr indent="0" marL="0">
              <a:buNone/>
            </a:pPr>
            <a:r>
              <a:rPr lang="en-US" sz="1250" b="1" dirty="0">
                <a:solidFill>
                  <a:srgbClr val="1C2B39"/>
                </a:solidFill>
                <a:latin typeface="Calibri" pitchFamily="34" charset="0"/>
                <a:ea typeface="Calibri" pitchFamily="34" charset="-122"/>
                <a:cs typeface="Calibri" pitchFamily="34" charset="-120"/>
              </a:rPr>
              <a:t>Business Intelligence</a:t>
            </a:r>
            <a:endParaRPr lang="en-US" sz="1250" dirty="0"/>
          </a:p>
        </p:txBody>
      </p:sp>
      <p:sp>
        <p:nvSpPr>
          <p:cNvPr id="29" name="Text 27"/>
          <p:cNvSpPr/>
          <p:nvPr/>
        </p:nvSpPr>
        <p:spPr>
          <a:xfrm>
            <a:off x="6739128" y="3968496"/>
            <a:ext cx="4526280" cy="50292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Stakeholder insight can surface new product ideas and cost savings.</a:t>
            </a:r>
            <a:endParaRPr lang="en-US" sz="1080" dirty="0"/>
          </a:p>
        </p:txBody>
      </p:sp>
      <p:sp>
        <p:nvSpPr>
          <p:cNvPr id="30" name="Text 28"/>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STAKEHOLDER MANAGEMENT</a:t>
            </a:r>
            <a:endParaRPr lang="en-US" sz="900" dirty="0"/>
          </a:p>
        </p:txBody>
      </p:sp>
      <p:sp>
        <p:nvSpPr>
          <p:cNvPr id="31" name="Text 29"/>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STAKEHOLDER MANAGEMENT</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Key Aspects of Stakeholder Management</a:t>
            </a:r>
            <a:endParaRPr lang="en-US" sz="2700" dirty="0"/>
          </a:p>
        </p:txBody>
      </p:sp>
      <p:sp>
        <p:nvSpPr>
          <p:cNvPr id="4" name="Shape 2"/>
          <p:cNvSpPr/>
          <p:nvPr/>
        </p:nvSpPr>
        <p:spPr>
          <a:xfrm>
            <a:off x="548640" y="1920240"/>
            <a:ext cx="2014057" cy="3017520"/>
          </a:xfrm>
          <a:prstGeom prst="roundRect">
            <a:avLst>
              <a:gd name="adj" fmla="val 3178"/>
            </a:avLst>
          </a:prstGeom>
          <a:solidFill>
            <a:srgbClr val="F2F6F9"/>
          </a:solidFill>
          <a:ln/>
        </p:spPr>
      </p:sp>
      <p:sp>
        <p:nvSpPr>
          <p:cNvPr id="5" name="Shape 3"/>
          <p:cNvSpPr/>
          <p:nvPr/>
        </p:nvSpPr>
        <p:spPr>
          <a:xfrm>
            <a:off x="1336213" y="1700784"/>
            <a:ext cx="438912" cy="438912"/>
          </a:xfrm>
          <a:prstGeom prst="ellipse">
            <a:avLst/>
          </a:prstGeom>
          <a:solidFill>
            <a:srgbClr val="0D2C4B"/>
          </a:solidFill>
          <a:ln/>
        </p:spPr>
      </p:sp>
      <p:sp>
        <p:nvSpPr>
          <p:cNvPr id="6" name="Text 4"/>
          <p:cNvSpPr/>
          <p:nvPr/>
        </p:nvSpPr>
        <p:spPr>
          <a:xfrm>
            <a:off x="1336213" y="17007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713232" y="2304288"/>
            <a:ext cx="1684873"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Identification</a:t>
            </a:r>
            <a:endParaRPr lang="en-US" sz="1250" dirty="0"/>
          </a:p>
        </p:txBody>
      </p:sp>
      <p:sp>
        <p:nvSpPr>
          <p:cNvPr id="8" name="Text 6"/>
          <p:cNvSpPr/>
          <p:nvPr/>
        </p:nvSpPr>
        <p:spPr>
          <a:xfrm>
            <a:off x="713232" y="2834640"/>
            <a:ext cx="1684873" cy="196596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Recognize everyone with a vested interest — employees, customers, investors, regulators.</a:t>
            </a:r>
            <a:endParaRPr lang="en-US" sz="1030" dirty="0"/>
          </a:p>
        </p:txBody>
      </p:sp>
      <p:sp>
        <p:nvSpPr>
          <p:cNvPr id="9" name="Text 7"/>
          <p:cNvSpPr/>
          <p:nvPr/>
        </p:nvSpPr>
        <p:spPr>
          <a:xfrm>
            <a:off x="2562697" y="3200400"/>
            <a:ext cx="256032" cy="457200"/>
          </a:xfrm>
          <a:prstGeom prst="rect">
            <a:avLst/>
          </a:prstGeom>
          <a:noFill/>
          <a:ln/>
        </p:spPr>
        <p:txBody>
          <a:bodyPr wrap="square" lIns="0" tIns="0" rIns="0" bIns="0" rtlCol="0" anchor="ctr"/>
          <a:lstStyle/>
          <a:p>
            <a:pPr algn="ctr" indent="0" marL="0">
              <a:buNone/>
            </a:pPr>
            <a:r>
              <a:rPr lang="en-US" sz="2000" b="1" dirty="0">
                <a:solidFill>
                  <a:srgbClr val="12B5CB"/>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818729" y="1920240"/>
            <a:ext cx="2014057" cy="3017520"/>
          </a:xfrm>
          <a:prstGeom prst="roundRect">
            <a:avLst>
              <a:gd name="adj" fmla="val 3178"/>
            </a:avLst>
          </a:prstGeom>
          <a:solidFill>
            <a:srgbClr val="F2F6F9"/>
          </a:solidFill>
          <a:ln/>
        </p:spPr>
      </p:sp>
      <p:sp>
        <p:nvSpPr>
          <p:cNvPr id="11" name="Shape 9"/>
          <p:cNvSpPr/>
          <p:nvPr/>
        </p:nvSpPr>
        <p:spPr>
          <a:xfrm>
            <a:off x="3606302" y="1700784"/>
            <a:ext cx="438912" cy="438912"/>
          </a:xfrm>
          <a:prstGeom prst="ellipse">
            <a:avLst/>
          </a:prstGeom>
          <a:solidFill>
            <a:srgbClr val="0D2C4B"/>
          </a:solidFill>
          <a:ln/>
        </p:spPr>
      </p:sp>
      <p:sp>
        <p:nvSpPr>
          <p:cNvPr id="12" name="Text 10"/>
          <p:cNvSpPr/>
          <p:nvPr/>
        </p:nvSpPr>
        <p:spPr>
          <a:xfrm>
            <a:off x="3606302" y="17007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2983321" y="2304288"/>
            <a:ext cx="1684873"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Analysis</a:t>
            </a:r>
            <a:endParaRPr lang="en-US" sz="1250" dirty="0"/>
          </a:p>
        </p:txBody>
      </p:sp>
      <p:sp>
        <p:nvSpPr>
          <p:cNvPr id="14" name="Text 12"/>
          <p:cNvSpPr/>
          <p:nvPr/>
        </p:nvSpPr>
        <p:spPr>
          <a:xfrm>
            <a:off x="2983321" y="2834640"/>
            <a:ext cx="1684873" cy="196596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Understand each stakeholder's needs, interests, and influence.</a:t>
            </a:r>
            <a:endParaRPr lang="en-US" sz="1030" dirty="0"/>
          </a:p>
        </p:txBody>
      </p:sp>
      <p:sp>
        <p:nvSpPr>
          <p:cNvPr id="15" name="Text 13"/>
          <p:cNvSpPr/>
          <p:nvPr/>
        </p:nvSpPr>
        <p:spPr>
          <a:xfrm>
            <a:off x="4832787" y="3200400"/>
            <a:ext cx="256032" cy="457200"/>
          </a:xfrm>
          <a:prstGeom prst="rect">
            <a:avLst/>
          </a:prstGeom>
          <a:noFill/>
          <a:ln/>
        </p:spPr>
        <p:txBody>
          <a:bodyPr wrap="square" lIns="0" tIns="0" rIns="0" bIns="0" rtlCol="0" anchor="ctr"/>
          <a:lstStyle/>
          <a:p>
            <a:pPr algn="ctr" indent="0" marL="0">
              <a:buNone/>
            </a:pPr>
            <a:r>
              <a:rPr lang="en-US" sz="2000" b="1" dirty="0">
                <a:solidFill>
                  <a:srgbClr val="12B5CB"/>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5088819" y="1920240"/>
            <a:ext cx="2014057" cy="3017520"/>
          </a:xfrm>
          <a:prstGeom prst="roundRect">
            <a:avLst>
              <a:gd name="adj" fmla="val 3178"/>
            </a:avLst>
          </a:prstGeom>
          <a:solidFill>
            <a:srgbClr val="F2F6F9"/>
          </a:solidFill>
          <a:ln/>
        </p:spPr>
      </p:sp>
      <p:sp>
        <p:nvSpPr>
          <p:cNvPr id="17" name="Shape 15"/>
          <p:cNvSpPr/>
          <p:nvPr/>
        </p:nvSpPr>
        <p:spPr>
          <a:xfrm>
            <a:off x="5876392" y="1700784"/>
            <a:ext cx="438912" cy="438912"/>
          </a:xfrm>
          <a:prstGeom prst="ellipse">
            <a:avLst/>
          </a:prstGeom>
          <a:solidFill>
            <a:srgbClr val="0D2C4B"/>
          </a:solidFill>
          <a:ln/>
        </p:spPr>
      </p:sp>
      <p:sp>
        <p:nvSpPr>
          <p:cNvPr id="18" name="Text 16"/>
          <p:cNvSpPr/>
          <p:nvPr/>
        </p:nvSpPr>
        <p:spPr>
          <a:xfrm>
            <a:off x="5876392" y="17007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5253411" y="2304288"/>
            <a:ext cx="1684873"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Prioritization</a:t>
            </a:r>
            <a:endParaRPr lang="en-US" sz="1250" dirty="0"/>
          </a:p>
        </p:txBody>
      </p:sp>
      <p:sp>
        <p:nvSpPr>
          <p:cNvPr id="20" name="Text 18"/>
          <p:cNvSpPr/>
          <p:nvPr/>
        </p:nvSpPr>
        <p:spPr>
          <a:xfrm>
            <a:off x="5253411" y="2834640"/>
            <a:ext cx="1684873" cy="196596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Rank stakeholders by importance and influence.</a:t>
            </a:r>
            <a:endParaRPr lang="en-US" sz="1030" dirty="0"/>
          </a:p>
        </p:txBody>
      </p:sp>
      <p:sp>
        <p:nvSpPr>
          <p:cNvPr id="21" name="Text 19"/>
          <p:cNvSpPr/>
          <p:nvPr/>
        </p:nvSpPr>
        <p:spPr>
          <a:xfrm>
            <a:off x="7102876" y="3200400"/>
            <a:ext cx="256032" cy="457200"/>
          </a:xfrm>
          <a:prstGeom prst="rect">
            <a:avLst/>
          </a:prstGeom>
          <a:noFill/>
          <a:ln/>
        </p:spPr>
        <p:txBody>
          <a:bodyPr wrap="square" lIns="0" tIns="0" rIns="0" bIns="0" rtlCol="0" anchor="ctr"/>
          <a:lstStyle/>
          <a:p>
            <a:pPr algn="ctr" indent="0" marL="0">
              <a:buNone/>
            </a:pPr>
            <a:r>
              <a:rPr lang="en-US" sz="2000" b="1" dirty="0">
                <a:solidFill>
                  <a:srgbClr val="12B5CB"/>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7358908" y="1920240"/>
            <a:ext cx="2014057" cy="3017520"/>
          </a:xfrm>
          <a:prstGeom prst="roundRect">
            <a:avLst>
              <a:gd name="adj" fmla="val 3178"/>
            </a:avLst>
          </a:prstGeom>
          <a:solidFill>
            <a:srgbClr val="F2F6F9"/>
          </a:solidFill>
          <a:ln/>
        </p:spPr>
      </p:sp>
      <p:sp>
        <p:nvSpPr>
          <p:cNvPr id="23" name="Shape 21"/>
          <p:cNvSpPr/>
          <p:nvPr/>
        </p:nvSpPr>
        <p:spPr>
          <a:xfrm>
            <a:off x="8146481" y="1700784"/>
            <a:ext cx="438912" cy="438912"/>
          </a:xfrm>
          <a:prstGeom prst="ellipse">
            <a:avLst/>
          </a:prstGeom>
          <a:solidFill>
            <a:srgbClr val="0D2C4B"/>
          </a:solidFill>
          <a:ln/>
        </p:spPr>
      </p:sp>
      <p:sp>
        <p:nvSpPr>
          <p:cNvPr id="24" name="Text 22"/>
          <p:cNvSpPr/>
          <p:nvPr/>
        </p:nvSpPr>
        <p:spPr>
          <a:xfrm>
            <a:off x="8146481" y="17007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7523500" y="2304288"/>
            <a:ext cx="1684873"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Engagement</a:t>
            </a:r>
            <a:endParaRPr lang="en-US" sz="1250" dirty="0"/>
          </a:p>
        </p:txBody>
      </p:sp>
      <p:sp>
        <p:nvSpPr>
          <p:cNvPr id="26" name="Text 24"/>
          <p:cNvSpPr/>
          <p:nvPr/>
        </p:nvSpPr>
        <p:spPr>
          <a:xfrm>
            <a:off x="7523500" y="2834640"/>
            <a:ext cx="1684873" cy="196596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Build strategies to interact and manage expectations.</a:t>
            </a:r>
            <a:endParaRPr lang="en-US" sz="1030" dirty="0"/>
          </a:p>
        </p:txBody>
      </p:sp>
      <p:sp>
        <p:nvSpPr>
          <p:cNvPr id="27" name="Text 25"/>
          <p:cNvSpPr/>
          <p:nvPr/>
        </p:nvSpPr>
        <p:spPr>
          <a:xfrm>
            <a:off x="9372966" y="3200400"/>
            <a:ext cx="256032" cy="457200"/>
          </a:xfrm>
          <a:prstGeom prst="rect">
            <a:avLst/>
          </a:prstGeom>
          <a:noFill/>
          <a:ln/>
        </p:spPr>
        <p:txBody>
          <a:bodyPr wrap="square" lIns="0" tIns="0" rIns="0" bIns="0" rtlCol="0" anchor="ctr"/>
          <a:lstStyle/>
          <a:p>
            <a:pPr algn="ctr" indent="0" marL="0">
              <a:buNone/>
            </a:pPr>
            <a:r>
              <a:rPr lang="en-US" sz="2000" b="1" dirty="0">
                <a:solidFill>
                  <a:srgbClr val="12B5CB"/>
                </a:solidFill>
                <a:latin typeface="Calibri" pitchFamily="34" charset="0"/>
                <a:ea typeface="Calibri" pitchFamily="34" charset="-122"/>
                <a:cs typeface="Calibri" pitchFamily="34" charset="-120"/>
              </a:rPr>
              <a:t>›</a:t>
            </a:r>
            <a:endParaRPr lang="en-US" sz="2000" dirty="0"/>
          </a:p>
        </p:txBody>
      </p:sp>
      <p:sp>
        <p:nvSpPr>
          <p:cNvPr id="28" name="Shape 26"/>
          <p:cNvSpPr/>
          <p:nvPr/>
        </p:nvSpPr>
        <p:spPr>
          <a:xfrm>
            <a:off x="9628998" y="1920240"/>
            <a:ext cx="2014057" cy="3017520"/>
          </a:xfrm>
          <a:prstGeom prst="roundRect">
            <a:avLst>
              <a:gd name="adj" fmla="val 3178"/>
            </a:avLst>
          </a:prstGeom>
          <a:solidFill>
            <a:srgbClr val="F2F6F9"/>
          </a:solidFill>
          <a:ln/>
        </p:spPr>
      </p:sp>
      <p:sp>
        <p:nvSpPr>
          <p:cNvPr id="29" name="Shape 27"/>
          <p:cNvSpPr/>
          <p:nvPr/>
        </p:nvSpPr>
        <p:spPr>
          <a:xfrm>
            <a:off x="10416570" y="1700784"/>
            <a:ext cx="438912" cy="438912"/>
          </a:xfrm>
          <a:prstGeom prst="ellipse">
            <a:avLst/>
          </a:prstGeom>
          <a:solidFill>
            <a:srgbClr val="0D2C4B"/>
          </a:solidFill>
          <a:ln/>
        </p:spPr>
      </p:sp>
      <p:sp>
        <p:nvSpPr>
          <p:cNvPr id="30" name="Text 28"/>
          <p:cNvSpPr/>
          <p:nvPr/>
        </p:nvSpPr>
        <p:spPr>
          <a:xfrm>
            <a:off x="10416570" y="17007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p:nvPr/>
        </p:nvSpPr>
        <p:spPr>
          <a:xfrm>
            <a:off x="9793590" y="2304288"/>
            <a:ext cx="1684873" cy="502920"/>
          </a:xfrm>
          <a:prstGeom prst="rect">
            <a:avLst/>
          </a:prstGeom>
          <a:noFill/>
          <a:ln/>
        </p:spPr>
        <p:txBody>
          <a:bodyPr wrap="square" lIns="0" tIns="0" rIns="0" bIns="0" rtlCol="0" anchor="ctr"/>
          <a:lstStyle/>
          <a:p>
            <a:pPr algn="ctr" indent="0" marL="0">
              <a:lnSpc>
                <a:spcPts val="1450"/>
              </a:lnSpc>
              <a:buNone/>
            </a:pPr>
            <a:r>
              <a:rPr lang="en-US" sz="1250" b="1" dirty="0">
                <a:solidFill>
                  <a:srgbClr val="1C2B39"/>
                </a:solidFill>
                <a:latin typeface="Calibri" pitchFamily="34" charset="0"/>
                <a:ea typeface="Calibri" pitchFamily="34" charset="-122"/>
                <a:cs typeface="Calibri" pitchFamily="34" charset="-120"/>
              </a:rPr>
              <a:t>Communication</a:t>
            </a:r>
            <a:endParaRPr lang="en-US" sz="1250" dirty="0"/>
          </a:p>
        </p:txBody>
      </p:sp>
      <p:sp>
        <p:nvSpPr>
          <p:cNvPr id="32" name="Text 30"/>
          <p:cNvSpPr/>
          <p:nvPr/>
        </p:nvSpPr>
        <p:spPr>
          <a:xfrm>
            <a:off x="9793590" y="2834640"/>
            <a:ext cx="1684873" cy="1965960"/>
          </a:xfrm>
          <a:prstGeom prst="rect">
            <a:avLst/>
          </a:prstGeom>
          <a:noFill/>
          <a:ln/>
        </p:spPr>
        <p:txBody>
          <a:bodyPr wrap="square" lIns="0" tIns="0" rIns="0" bIns="0" rtlCol="0" anchor="ctr"/>
          <a:lstStyle/>
          <a:p>
            <a:pPr algn="ctr" indent="0" marL="0">
              <a:lnSpc>
                <a:spcPts val="1300"/>
              </a:lnSpc>
              <a:buNone/>
            </a:pPr>
            <a:r>
              <a:rPr lang="en-US" sz="1030" dirty="0">
                <a:solidFill>
                  <a:srgbClr val="5B6B7C"/>
                </a:solidFill>
                <a:latin typeface="Calibri" pitchFamily="34" charset="0"/>
                <a:ea typeface="Calibri" pitchFamily="34" charset="-122"/>
                <a:cs typeface="Calibri" pitchFamily="34" charset="-120"/>
              </a:rPr>
              <a:t>Establish clear, organized channels to keep stakeholders informed.</a:t>
            </a:r>
            <a:endParaRPr lang="en-US" sz="1030" dirty="0"/>
          </a:p>
        </p:txBody>
      </p:sp>
      <p:sp>
        <p:nvSpPr>
          <p:cNvPr id="33" name="Text 31"/>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STAKEHOLDER MANAGEMENT</a:t>
            </a:r>
            <a:endParaRPr lang="en-US" sz="900" dirty="0"/>
          </a:p>
        </p:txBody>
      </p:sp>
      <p:sp>
        <p:nvSpPr>
          <p:cNvPr id="34" name="Text 32"/>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81826"/>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63A5C">
              <a:alpha val="65000"/>
            </a:srgbClr>
          </a:solidFill>
          <a:ln/>
        </p:spPr>
      </p:sp>
      <p:sp>
        <p:nvSpPr>
          <p:cNvPr id="3" name="Shape 1"/>
          <p:cNvSpPr/>
          <p:nvPr/>
        </p:nvSpPr>
        <p:spPr>
          <a:xfrm>
            <a:off x="-1280160" y="4937760"/>
            <a:ext cx="3291840" cy="3291840"/>
          </a:xfrm>
          <a:prstGeom prst="ellipse">
            <a:avLst/>
          </a:prstGeom>
          <a:solidFill>
            <a:srgbClr val="12B5CB">
              <a:alpha val="18000"/>
            </a:srgbClr>
          </a:solidFill>
          <a:ln/>
        </p:spPr>
      </p:sp>
      <p:sp>
        <p:nvSpPr>
          <p:cNvPr id="4" name="Text 2"/>
          <p:cNvSpPr/>
          <p:nvPr/>
        </p:nvSpPr>
        <p:spPr>
          <a:xfrm>
            <a:off x="548640" y="1965960"/>
            <a:ext cx="3657600" cy="1463040"/>
          </a:xfrm>
          <a:prstGeom prst="rect">
            <a:avLst/>
          </a:prstGeom>
          <a:noFill/>
          <a:ln/>
        </p:spPr>
        <p:txBody>
          <a:bodyPr wrap="square" lIns="0" tIns="0" rIns="0" bIns="0" rtlCol="0" anchor="ctr"/>
          <a:lstStyle/>
          <a:p>
            <a:pPr indent="0" marL="0">
              <a:buNone/>
            </a:pPr>
            <a:r>
              <a:rPr lang="en-US" sz="9000" b="1" dirty="0">
                <a:solidFill>
                  <a:srgbClr val="12B5CB"/>
                </a:solidFill>
                <a:latin typeface="Cambria" pitchFamily="34" charset="0"/>
                <a:ea typeface="Cambria" pitchFamily="34" charset="-122"/>
                <a:cs typeface="Cambria" pitchFamily="34" charset="-120"/>
              </a:rPr>
              <a:t>08</a:t>
            </a:r>
            <a:endParaRPr lang="en-US" sz="9000" dirty="0"/>
          </a:p>
        </p:txBody>
      </p:sp>
      <p:sp>
        <p:nvSpPr>
          <p:cNvPr id="5" name="Text 3"/>
          <p:cNvSpPr/>
          <p:nvPr/>
        </p:nvSpPr>
        <p:spPr>
          <a:xfrm>
            <a:off x="548640" y="3429000"/>
            <a:ext cx="9601200" cy="1188720"/>
          </a:xfrm>
          <a:prstGeom prst="rect">
            <a:avLst/>
          </a:prstGeom>
          <a:noFill/>
          <a:ln/>
        </p:spPr>
        <p:txBody>
          <a:bodyPr wrap="square" lIns="0" tIns="0" rIns="0" bIns="0"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Scenario Analysis</a:t>
            </a:r>
            <a:endParaRPr lang="en-US" sz="3400" dirty="0"/>
          </a:p>
        </p:txBody>
      </p:sp>
      <p:sp>
        <p:nvSpPr>
          <p:cNvPr id="6" name="Text 4"/>
          <p:cNvSpPr/>
          <p:nvPr/>
        </p:nvSpPr>
        <p:spPr>
          <a:xfrm>
            <a:off x="548640" y="4526280"/>
            <a:ext cx="8412480" cy="731520"/>
          </a:xfrm>
          <a:prstGeom prst="rect">
            <a:avLst/>
          </a:prstGeom>
          <a:noFill/>
          <a:ln/>
        </p:spPr>
        <p:txBody>
          <a:bodyPr wrap="square" lIns="0" tIns="0" rIns="0" bIns="0" rtlCol="0" anchor="ctr"/>
          <a:lstStyle/>
          <a:p>
            <a:pPr indent="0" marL="0">
              <a:lnSpc>
                <a:spcPts val="1900"/>
              </a:lnSpc>
              <a:buNone/>
            </a:pPr>
            <a:r>
              <a:rPr lang="en-US" sz="1400" dirty="0">
                <a:solidFill>
                  <a:srgbClr val="9FB6C9"/>
                </a:solidFill>
                <a:latin typeface="Calibri" pitchFamily="34" charset="0"/>
                <a:ea typeface="Calibri" pitchFamily="34" charset="-122"/>
                <a:cs typeface="Calibri" pitchFamily="34" charset="-120"/>
              </a:rPr>
              <a:t>Preparing decisions for a range of possible futures, not just one forecast.</a:t>
            </a:r>
            <a:endParaRPr lang="en-US" sz="1400" dirty="0"/>
          </a:p>
        </p:txBody>
      </p:sp>
      <p:sp>
        <p:nvSpPr>
          <p:cNvPr id="7" name="Text 5"/>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9FB6C9"/>
                </a:solidFill>
                <a:latin typeface="Calibri" pitchFamily="34" charset="0"/>
                <a:ea typeface="Calibri" pitchFamily="34" charset="-122"/>
                <a:cs typeface="Calibri" pitchFamily="34" charset="-120"/>
              </a:rPr>
              <a:t>SCENARIO ANALYSIS</a:t>
            </a:r>
            <a:endParaRPr lang="en-US" sz="900" dirty="0"/>
          </a:p>
        </p:txBody>
      </p:sp>
      <p:sp>
        <p:nvSpPr>
          <p:cNvPr id="8" name="Text 6"/>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9FB6C9"/>
                </a:solidFill>
                <a:latin typeface="Calibri" pitchFamily="34" charset="0"/>
                <a:ea typeface="Calibri" pitchFamily="34" charset="-122"/>
                <a:cs typeface="Calibri" pitchFamily="34" charset="-120"/>
              </a:rPr>
              <a:t>73</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18320" y="-914400"/>
            <a:ext cx="3840480" cy="3840480"/>
          </a:xfrm>
          <a:prstGeom prst="ellipse">
            <a:avLst/>
          </a:prstGeom>
          <a:solidFill>
            <a:srgbClr val="F2F6F9"/>
          </a:solidFill>
          <a:ln/>
        </p:spPr>
      </p:sp>
      <p:sp>
        <p:nvSpPr>
          <p:cNvPr id="3" name="Shape 1"/>
          <p:cNvSpPr/>
          <p:nvPr/>
        </p:nvSpPr>
        <p:spPr>
          <a:xfrm>
            <a:off x="10424160" y="91440"/>
            <a:ext cx="1828800" cy="1828800"/>
          </a:xfrm>
          <a:prstGeom prst="ellipse">
            <a:avLst/>
          </a:prstGeom>
          <a:solidFill>
            <a:srgbClr val="12B5CB">
              <a:alpha val="15000"/>
            </a:srgbClr>
          </a:solidFill>
          <a:ln/>
        </p:spPr>
      </p:sp>
      <p:sp>
        <p:nvSpPr>
          <p:cNvPr id="4" name="Text 2"/>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SCENARIO ANALYSIS</a:t>
            </a:r>
            <a:endParaRPr lang="en-US" sz="1150" dirty="0"/>
          </a:p>
        </p:txBody>
      </p:sp>
      <p:sp>
        <p:nvSpPr>
          <p:cNvPr id="5" name="Text 3"/>
          <p:cNvSpPr/>
          <p:nvPr/>
        </p:nvSpPr>
        <p:spPr>
          <a:xfrm>
            <a:off x="548640" y="960120"/>
            <a:ext cx="9692640" cy="1005840"/>
          </a:xfrm>
          <a:prstGeom prst="rect">
            <a:avLst/>
          </a:prstGeom>
          <a:noFill/>
          <a:ln/>
        </p:spPr>
        <p:txBody>
          <a:bodyPr wrap="square" lIns="0" tIns="0" rIns="0" bIns="0" rtlCol="0" anchor="ctr"/>
          <a:lstStyle/>
          <a:p>
            <a:pPr indent="0" marL="0">
              <a:lnSpc>
                <a:spcPts val="3400"/>
              </a:lnSpc>
              <a:buNone/>
            </a:pPr>
            <a:r>
              <a:rPr lang="en-US" sz="3000" b="1" dirty="0">
                <a:solidFill>
                  <a:srgbClr val="0D2C4B"/>
                </a:solidFill>
                <a:latin typeface="Cambria" pitchFamily="34" charset="0"/>
                <a:ea typeface="Cambria" pitchFamily="34" charset="-122"/>
                <a:cs typeface="Cambria" pitchFamily="34" charset="-120"/>
              </a:rPr>
              <a:t>What Is Scenario Analysis?</a:t>
            </a:r>
            <a:endParaRPr lang="en-US" sz="3000" dirty="0"/>
          </a:p>
        </p:txBody>
      </p:sp>
      <p:sp>
        <p:nvSpPr>
          <p:cNvPr id="6" name="Text 4"/>
          <p:cNvSpPr/>
          <p:nvPr/>
        </p:nvSpPr>
        <p:spPr>
          <a:xfrm>
            <a:off x="548640" y="2148840"/>
            <a:ext cx="9509760" cy="2377440"/>
          </a:xfrm>
          <a:prstGeom prst="rect">
            <a:avLst/>
          </a:prstGeom>
          <a:noFill/>
          <a:ln/>
        </p:spPr>
        <p:txBody>
          <a:bodyPr wrap="square" lIns="0" tIns="0" rIns="0" bIns="0" rtlCol="0" anchor="ctr"/>
          <a:lstStyle/>
          <a:p>
            <a:pPr indent="0" marL="0">
              <a:lnSpc>
                <a:spcPts val="2500"/>
              </a:lnSpc>
              <a:buNone/>
            </a:pPr>
            <a:r>
              <a:rPr lang="en-US" sz="1600" dirty="0">
                <a:solidFill>
                  <a:srgbClr val="1C2B39"/>
                </a:solidFill>
                <a:latin typeface="Calibri" pitchFamily="34" charset="0"/>
                <a:ea typeface="Calibri" pitchFamily="34" charset="-122"/>
                <a:cs typeface="Calibri" pitchFamily="34" charset="-120"/>
              </a:rPr>
              <a:t>Scenario analysis is the process of creating and evaluating different possible future situations — best case, worst case, and most likely case — to understand their impact on the organization and make better decisions. It helps anticipate risks and opportunities, and supports strategic planning.</a:t>
            </a:r>
            <a:endParaRPr lang="en-US" sz="1600" dirty="0"/>
          </a:p>
        </p:txBody>
      </p:sp>
      <p:sp>
        <p:nvSpPr>
          <p:cNvPr id="7" name="Shape 5"/>
          <p:cNvSpPr/>
          <p:nvPr/>
        </p:nvSpPr>
        <p:spPr>
          <a:xfrm>
            <a:off x="548640" y="4892040"/>
            <a:ext cx="1156716" cy="384048"/>
          </a:xfrm>
          <a:prstGeom prst="roundRect">
            <a:avLst>
              <a:gd name="adj" fmla="val 50000"/>
            </a:avLst>
          </a:prstGeom>
          <a:solidFill>
            <a:srgbClr val="F2F6F9"/>
          </a:solidFill>
          <a:ln w="12700">
            <a:solidFill>
              <a:srgbClr val="DCE6ED"/>
            </a:solidFill>
            <a:prstDash val="solid"/>
          </a:ln>
        </p:spPr>
      </p:sp>
      <p:sp>
        <p:nvSpPr>
          <p:cNvPr id="8" name="Text 6"/>
          <p:cNvSpPr/>
          <p:nvPr/>
        </p:nvSpPr>
        <p:spPr>
          <a:xfrm>
            <a:off x="548640" y="4892040"/>
            <a:ext cx="1156716"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Best Case</a:t>
            </a:r>
            <a:endParaRPr lang="en-US" sz="1150" dirty="0"/>
          </a:p>
        </p:txBody>
      </p:sp>
      <p:sp>
        <p:nvSpPr>
          <p:cNvPr id="9" name="Shape 7"/>
          <p:cNvSpPr/>
          <p:nvPr/>
        </p:nvSpPr>
        <p:spPr>
          <a:xfrm>
            <a:off x="1906524" y="4892040"/>
            <a:ext cx="1348740" cy="384048"/>
          </a:xfrm>
          <a:prstGeom prst="roundRect">
            <a:avLst>
              <a:gd name="adj" fmla="val 50000"/>
            </a:avLst>
          </a:prstGeom>
          <a:solidFill>
            <a:srgbClr val="F2F6F9"/>
          </a:solidFill>
          <a:ln w="12700">
            <a:solidFill>
              <a:srgbClr val="DCE6ED"/>
            </a:solidFill>
            <a:prstDash val="solid"/>
          </a:ln>
        </p:spPr>
      </p:sp>
      <p:sp>
        <p:nvSpPr>
          <p:cNvPr id="10" name="Text 8"/>
          <p:cNvSpPr/>
          <p:nvPr/>
        </p:nvSpPr>
        <p:spPr>
          <a:xfrm>
            <a:off x="1906524" y="4892040"/>
            <a:ext cx="1348740"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Most Likely</a:t>
            </a:r>
            <a:endParaRPr lang="en-US" sz="1150" dirty="0"/>
          </a:p>
        </p:txBody>
      </p:sp>
      <p:sp>
        <p:nvSpPr>
          <p:cNvPr id="11" name="Shape 9"/>
          <p:cNvSpPr/>
          <p:nvPr/>
        </p:nvSpPr>
        <p:spPr>
          <a:xfrm>
            <a:off x="3456432" y="4892040"/>
            <a:ext cx="1252728" cy="384048"/>
          </a:xfrm>
          <a:prstGeom prst="roundRect">
            <a:avLst>
              <a:gd name="adj" fmla="val 50000"/>
            </a:avLst>
          </a:prstGeom>
          <a:solidFill>
            <a:srgbClr val="F2F6F9"/>
          </a:solidFill>
          <a:ln w="12700">
            <a:solidFill>
              <a:srgbClr val="DCE6ED"/>
            </a:solidFill>
            <a:prstDash val="solid"/>
          </a:ln>
        </p:spPr>
      </p:sp>
      <p:sp>
        <p:nvSpPr>
          <p:cNvPr id="12" name="Text 10"/>
          <p:cNvSpPr/>
          <p:nvPr/>
        </p:nvSpPr>
        <p:spPr>
          <a:xfrm>
            <a:off x="3456432" y="4892040"/>
            <a:ext cx="1252728"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Worst Case</a:t>
            </a:r>
            <a:endParaRPr lang="en-US" sz="1150" dirty="0"/>
          </a:p>
        </p:txBody>
      </p:sp>
      <p:sp>
        <p:nvSpPr>
          <p:cNvPr id="13" name="Text 11"/>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SCENARIO ANALYSIS</a:t>
            </a:r>
            <a:endParaRPr lang="en-US" sz="900" dirty="0"/>
          </a:p>
        </p:txBody>
      </p:sp>
      <p:sp>
        <p:nvSpPr>
          <p:cNvPr id="14" name="Text 12"/>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74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SCENARIO ANALYSIS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Scenario Examples</a:t>
            </a:r>
            <a:endParaRPr lang="en-US" sz="2700" dirty="0"/>
          </a:p>
        </p:txBody>
      </p:sp>
      <p:sp>
        <p:nvSpPr>
          <p:cNvPr id="4" name="Shape 2"/>
          <p:cNvSpPr/>
          <p:nvPr/>
        </p:nvSpPr>
        <p:spPr>
          <a:xfrm>
            <a:off x="548640" y="1691640"/>
            <a:ext cx="5341468" cy="4434840"/>
          </a:xfrm>
          <a:prstGeom prst="roundRect">
            <a:avLst>
              <a:gd name="adj" fmla="val 1649"/>
            </a:avLst>
          </a:prstGeom>
          <a:solidFill>
            <a:srgbClr val="F2F6F9"/>
          </a:solidFill>
          <a:ln/>
        </p:spPr>
      </p:sp>
      <p:sp>
        <p:nvSpPr>
          <p:cNvPr id="5" name="Shape 3"/>
          <p:cNvSpPr/>
          <p:nvPr/>
        </p:nvSpPr>
        <p:spPr>
          <a:xfrm>
            <a:off x="548640" y="1691640"/>
            <a:ext cx="5341468" cy="502920"/>
          </a:xfrm>
          <a:prstGeom prst="roundRect">
            <a:avLst>
              <a:gd name="adj" fmla="val 14545"/>
            </a:avLst>
          </a:prstGeom>
          <a:solidFill>
            <a:srgbClr val="0D2C4B"/>
          </a:solidFill>
          <a:ln/>
        </p:spPr>
      </p:sp>
      <p:sp>
        <p:nvSpPr>
          <p:cNvPr id="6" name="Shape 4"/>
          <p:cNvSpPr/>
          <p:nvPr/>
        </p:nvSpPr>
        <p:spPr>
          <a:xfrm>
            <a:off x="548640" y="1965960"/>
            <a:ext cx="5341468" cy="228600"/>
          </a:xfrm>
          <a:prstGeom prst="rect">
            <a:avLst/>
          </a:prstGeom>
          <a:solidFill>
            <a:srgbClr val="0D2C4B"/>
          </a:solidFill>
          <a:ln/>
        </p:spPr>
      </p:sp>
      <p:sp>
        <p:nvSpPr>
          <p:cNvPr id="7" name="Text 5"/>
          <p:cNvSpPr/>
          <p:nvPr/>
        </p:nvSpPr>
        <p:spPr>
          <a:xfrm>
            <a:off x="749808" y="1691640"/>
            <a:ext cx="4939132"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Sales Revenue Scenario</a:t>
            </a:r>
            <a:endParaRPr lang="en-US" sz="1400" dirty="0"/>
          </a:p>
        </p:txBody>
      </p:sp>
      <p:sp>
        <p:nvSpPr>
          <p:cNvPr id="8" name="Shape 6"/>
          <p:cNvSpPr/>
          <p:nvPr/>
        </p:nvSpPr>
        <p:spPr>
          <a:xfrm>
            <a:off x="768096" y="2450592"/>
            <a:ext cx="73152" cy="73152"/>
          </a:xfrm>
          <a:prstGeom prst="ellipse">
            <a:avLst/>
          </a:prstGeom>
          <a:solidFill>
            <a:srgbClr val="0D2C4B"/>
          </a:solidFill>
          <a:ln/>
        </p:spPr>
      </p:sp>
      <p:sp>
        <p:nvSpPr>
          <p:cNvPr id="9" name="Text 7"/>
          <p:cNvSpPr/>
          <p:nvPr/>
        </p:nvSpPr>
        <p:spPr>
          <a:xfrm>
            <a:off x="950976" y="23225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Question: What happens to profit if sales rise or fall?</a:t>
            </a:r>
            <a:endParaRPr lang="en-US" sz="1060" dirty="0"/>
          </a:p>
        </p:txBody>
      </p:sp>
      <p:sp>
        <p:nvSpPr>
          <p:cNvPr id="10" name="Shape 8"/>
          <p:cNvSpPr/>
          <p:nvPr/>
        </p:nvSpPr>
        <p:spPr>
          <a:xfrm>
            <a:off x="768096" y="2907792"/>
            <a:ext cx="73152" cy="73152"/>
          </a:xfrm>
          <a:prstGeom prst="ellipse">
            <a:avLst/>
          </a:prstGeom>
          <a:solidFill>
            <a:srgbClr val="0D2C4B"/>
          </a:solidFill>
          <a:ln/>
        </p:spPr>
      </p:sp>
      <p:sp>
        <p:nvSpPr>
          <p:cNvPr id="11" name="Text 9"/>
          <p:cNvSpPr/>
          <p:nvPr/>
        </p:nvSpPr>
        <p:spPr>
          <a:xfrm>
            <a:off x="950976" y="27797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Best-case: sales up 30%</a:t>
            </a:r>
            <a:endParaRPr lang="en-US" sz="1060" dirty="0"/>
          </a:p>
        </p:txBody>
      </p:sp>
      <p:sp>
        <p:nvSpPr>
          <p:cNvPr id="12" name="Shape 10"/>
          <p:cNvSpPr/>
          <p:nvPr/>
        </p:nvSpPr>
        <p:spPr>
          <a:xfrm>
            <a:off x="768096" y="3364992"/>
            <a:ext cx="73152" cy="73152"/>
          </a:xfrm>
          <a:prstGeom prst="ellipse">
            <a:avLst/>
          </a:prstGeom>
          <a:solidFill>
            <a:srgbClr val="0D2C4B"/>
          </a:solidFill>
          <a:ln/>
        </p:spPr>
      </p:sp>
      <p:sp>
        <p:nvSpPr>
          <p:cNvPr id="13" name="Text 11"/>
          <p:cNvSpPr/>
          <p:nvPr/>
        </p:nvSpPr>
        <p:spPr>
          <a:xfrm>
            <a:off x="950976" y="32369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Most-likely: sales up 10%</a:t>
            </a:r>
            <a:endParaRPr lang="en-US" sz="1060" dirty="0"/>
          </a:p>
        </p:txBody>
      </p:sp>
      <p:sp>
        <p:nvSpPr>
          <p:cNvPr id="14" name="Shape 12"/>
          <p:cNvSpPr/>
          <p:nvPr/>
        </p:nvSpPr>
        <p:spPr>
          <a:xfrm>
            <a:off x="768096" y="3822192"/>
            <a:ext cx="73152" cy="73152"/>
          </a:xfrm>
          <a:prstGeom prst="ellipse">
            <a:avLst/>
          </a:prstGeom>
          <a:solidFill>
            <a:srgbClr val="0D2C4B"/>
          </a:solidFill>
          <a:ln/>
        </p:spPr>
      </p:sp>
      <p:sp>
        <p:nvSpPr>
          <p:cNvPr id="15" name="Text 13"/>
          <p:cNvSpPr/>
          <p:nvPr/>
        </p:nvSpPr>
        <p:spPr>
          <a:xfrm>
            <a:off x="950976" y="36941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Worst-case: sales down 15%</a:t>
            </a:r>
            <a:endParaRPr lang="en-US" sz="1060" dirty="0"/>
          </a:p>
        </p:txBody>
      </p:sp>
      <p:sp>
        <p:nvSpPr>
          <p:cNvPr id="16" name="Shape 14"/>
          <p:cNvSpPr/>
          <p:nvPr/>
        </p:nvSpPr>
        <p:spPr>
          <a:xfrm>
            <a:off x="6301588" y="1691640"/>
            <a:ext cx="5341468" cy="4434840"/>
          </a:xfrm>
          <a:prstGeom prst="roundRect">
            <a:avLst>
              <a:gd name="adj" fmla="val 1649"/>
            </a:avLst>
          </a:prstGeom>
          <a:solidFill>
            <a:srgbClr val="F2F6F9"/>
          </a:solidFill>
          <a:ln/>
        </p:spPr>
      </p:sp>
      <p:sp>
        <p:nvSpPr>
          <p:cNvPr id="17" name="Shape 15"/>
          <p:cNvSpPr/>
          <p:nvPr/>
        </p:nvSpPr>
        <p:spPr>
          <a:xfrm>
            <a:off x="6301588" y="1691640"/>
            <a:ext cx="5341468" cy="502920"/>
          </a:xfrm>
          <a:prstGeom prst="roundRect">
            <a:avLst>
              <a:gd name="adj" fmla="val 14545"/>
            </a:avLst>
          </a:prstGeom>
          <a:solidFill>
            <a:srgbClr val="0B8A9C"/>
          </a:solidFill>
          <a:ln/>
        </p:spPr>
      </p:sp>
      <p:sp>
        <p:nvSpPr>
          <p:cNvPr id="18" name="Shape 16"/>
          <p:cNvSpPr/>
          <p:nvPr/>
        </p:nvSpPr>
        <p:spPr>
          <a:xfrm>
            <a:off x="6301588" y="1965960"/>
            <a:ext cx="5341468" cy="228600"/>
          </a:xfrm>
          <a:prstGeom prst="rect">
            <a:avLst/>
          </a:prstGeom>
          <a:solidFill>
            <a:srgbClr val="0B8A9C"/>
          </a:solidFill>
          <a:ln/>
        </p:spPr>
      </p:sp>
      <p:sp>
        <p:nvSpPr>
          <p:cNvPr id="19" name="Text 17"/>
          <p:cNvSpPr/>
          <p:nvPr/>
        </p:nvSpPr>
        <p:spPr>
          <a:xfrm>
            <a:off x="6502756" y="1691640"/>
            <a:ext cx="4939132"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New Product Launch</a:t>
            </a:r>
            <a:endParaRPr lang="en-US" sz="1400" dirty="0"/>
          </a:p>
        </p:txBody>
      </p:sp>
      <p:sp>
        <p:nvSpPr>
          <p:cNvPr id="20" name="Shape 18"/>
          <p:cNvSpPr/>
          <p:nvPr/>
        </p:nvSpPr>
        <p:spPr>
          <a:xfrm>
            <a:off x="6521044" y="2450592"/>
            <a:ext cx="73152" cy="73152"/>
          </a:xfrm>
          <a:prstGeom prst="ellipse">
            <a:avLst/>
          </a:prstGeom>
          <a:solidFill>
            <a:srgbClr val="0B8A9C"/>
          </a:solidFill>
          <a:ln/>
        </p:spPr>
      </p:sp>
      <p:sp>
        <p:nvSpPr>
          <p:cNvPr id="21" name="Text 19"/>
          <p:cNvSpPr/>
          <p:nvPr/>
        </p:nvSpPr>
        <p:spPr>
          <a:xfrm>
            <a:off x="6703924" y="23225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Question: Should we launch a new product next year?</a:t>
            </a:r>
            <a:endParaRPr lang="en-US" sz="1060" dirty="0"/>
          </a:p>
        </p:txBody>
      </p:sp>
      <p:sp>
        <p:nvSpPr>
          <p:cNvPr id="22" name="Shape 20"/>
          <p:cNvSpPr/>
          <p:nvPr/>
        </p:nvSpPr>
        <p:spPr>
          <a:xfrm>
            <a:off x="6521044" y="2907792"/>
            <a:ext cx="73152" cy="73152"/>
          </a:xfrm>
          <a:prstGeom prst="ellipse">
            <a:avLst/>
          </a:prstGeom>
          <a:solidFill>
            <a:srgbClr val="0B8A9C"/>
          </a:solidFill>
          <a:ln/>
        </p:spPr>
      </p:sp>
      <p:sp>
        <p:nvSpPr>
          <p:cNvPr id="23" name="Text 21"/>
          <p:cNvSpPr/>
          <p:nvPr/>
        </p:nvSpPr>
        <p:spPr>
          <a:xfrm>
            <a:off x="6703924" y="27797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Best-case: high demand, low competition</a:t>
            </a:r>
            <a:endParaRPr lang="en-US" sz="1060" dirty="0"/>
          </a:p>
        </p:txBody>
      </p:sp>
      <p:sp>
        <p:nvSpPr>
          <p:cNvPr id="24" name="Shape 22"/>
          <p:cNvSpPr/>
          <p:nvPr/>
        </p:nvSpPr>
        <p:spPr>
          <a:xfrm>
            <a:off x="6521044" y="3364992"/>
            <a:ext cx="73152" cy="73152"/>
          </a:xfrm>
          <a:prstGeom prst="ellipse">
            <a:avLst/>
          </a:prstGeom>
          <a:solidFill>
            <a:srgbClr val="0B8A9C"/>
          </a:solidFill>
          <a:ln/>
        </p:spPr>
      </p:sp>
      <p:sp>
        <p:nvSpPr>
          <p:cNvPr id="25" name="Text 23"/>
          <p:cNvSpPr/>
          <p:nvPr/>
        </p:nvSpPr>
        <p:spPr>
          <a:xfrm>
            <a:off x="6703924" y="32369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Most-likely: moderate demand</a:t>
            </a:r>
            <a:endParaRPr lang="en-US" sz="1060" dirty="0"/>
          </a:p>
        </p:txBody>
      </p:sp>
      <p:sp>
        <p:nvSpPr>
          <p:cNvPr id="26" name="Shape 24"/>
          <p:cNvSpPr/>
          <p:nvPr/>
        </p:nvSpPr>
        <p:spPr>
          <a:xfrm>
            <a:off x="6521044" y="3822192"/>
            <a:ext cx="73152" cy="73152"/>
          </a:xfrm>
          <a:prstGeom prst="ellipse">
            <a:avLst/>
          </a:prstGeom>
          <a:solidFill>
            <a:srgbClr val="0B8A9C"/>
          </a:solidFill>
          <a:ln/>
        </p:spPr>
      </p:sp>
      <p:sp>
        <p:nvSpPr>
          <p:cNvPr id="27" name="Text 25"/>
          <p:cNvSpPr/>
          <p:nvPr/>
        </p:nvSpPr>
        <p:spPr>
          <a:xfrm>
            <a:off x="6703924" y="3694176"/>
            <a:ext cx="4719676" cy="457200"/>
          </a:xfrm>
          <a:prstGeom prst="rect">
            <a:avLst/>
          </a:prstGeom>
          <a:noFill/>
          <a:ln/>
        </p:spPr>
        <p:txBody>
          <a:bodyPr wrap="square" lIns="0" tIns="0" rIns="0" bIns="0" rtlCol="0" anchor="ctr"/>
          <a:lstStyle/>
          <a:p>
            <a:pPr indent="0" marL="0">
              <a:lnSpc>
                <a:spcPts val="1350"/>
              </a:lnSpc>
              <a:buNone/>
            </a:pPr>
            <a:r>
              <a:rPr lang="en-US" sz="1060" dirty="0">
                <a:solidFill>
                  <a:srgbClr val="1C2B39"/>
                </a:solidFill>
                <a:latin typeface="Calibri" pitchFamily="34" charset="0"/>
                <a:ea typeface="Calibri" pitchFamily="34" charset="-122"/>
                <a:cs typeface="Calibri" pitchFamily="34" charset="-120"/>
              </a:rPr>
              <a:t>Worst-case: low demand, high marketing cost</a:t>
            </a:r>
            <a:endParaRPr lang="en-US" sz="1060" dirty="0"/>
          </a:p>
        </p:txBody>
      </p:sp>
      <p:sp>
        <p:nvSpPr>
          <p:cNvPr id="28" name="Text 26"/>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SCENARIO ANALYSIS</a:t>
            </a:r>
            <a:endParaRPr lang="en-US" sz="900" dirty="0"/>
          </a:p>
        </p:txBody>
      </p:sp>
      <p:sp>
        <p:nvSpPr>
          <p:cNvPr id="29" name="Text 27"/>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75</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SCENARIO ANALYSIS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Key Aspects &amp; Applications</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Evaluates Multiple Futures</a:t>
            </a:r>
            <a:endParaRPr lang="en-US" sz="1350" dirty="0"/>
          </a:p>
        </p:txBody>
      </p:sp>
      <p:sp>
        <p:nvSpPr>
          <p:cNvPr id="7" name="Text 5"/>
          <p:cNvSpPr/>
          <p:nvPr/>
        </p:nvSpPr>
        <p:spPr>
          <a:xfrm>
            <a:off x="1078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Explores a range of outcomes by changing key assumptions simultaneously, rather than relying on one forecast.</a:t>
            </a:r>
            <a:endParaRPr lang="en-US" sz="1150" dirty="0"/>
          </a:p>
        </p:txBody>
      </p:sp>
      <p:sp>
        <p:nvSpPr>
          <p:cNvPr id="8" name="Shape 6"/>
          <p:cNvSpPr/>
          <p:nvPr/>
        </p:nvSpPr>
        <p:spPr>
          <a:xfrm>
            <a:off x="548640" y="2642616"/>
            <a:ext cx="384048" cy="384048"/>
          </a:xfrm>
          <a:prstGeom prst="ellipse">
            <a:avLst/>
          </a:prstGeom>
          <a:solidFill>
            <a:srgbClr val="0D2C4B"/>
          </a:solidFill>
          <a:ln/>
        </p:spPr>
      </p:sp>
      <p:sp>
        <p:nvSpPr>
          <p:cNvPr id="9" name="Text 7"/>
          <p:cNvSpPr/>
          <p:nvPr/>
        </p:nvSpPr>
        <p:spPr>
          <a:xfrm>
            <a:off x="548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Identifies Risk &amp; Opportunity</a:t>
            </a:r>
            <a:endParaRPr lang="en-US" sz="1350" dirty="0"/>
          </a:p>
        </p:txBody>
      </p:sp>
      <p:sp>
        <p:nvSpPr>
          <p:cNvPr id="11" name="Text 9"/>
          <p:cNvSpPr/>
          <p:nvPr/>
        </p:nvSpPr>
        <p:spPr>
          <a:xfrm>
            <a:off x="1078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Anticipates both negative events and positive surges in demand.</a:t>
            </a:r>
            <a:endParaRPr lang="en-US" sz="1150" dirty="0"/>
          </a:p>
        </p:txBody>
      </p:sp>
      <p:sp>
        <p:nvSpPr>
          <p:cNvPr id="12" name="Shape 10"/>
          <p:cNvSpPr/>
          <p:nvPr/>
        </p:nvSpPr>
        <p:spPr>
          <a:xfrm>
            <a:off x="548640" y="3694176"/>
            <a:ext cx="384048" cy="384048"/>
          </a:xfrm>
          <a:prstGeom prst="ellipse">
            <a:avLst/>
          </a:prstGeom>
          <a:solidFill>
            <a:srgbClr val="0D2C4B"/>
          </a:solidFill>
          <a:ln/>
        </p:spPr>
      </p:sp>
      <p:sp>
        <p:nvSpPr>
          <p:cNvPr id="13" name="Text 11"/>
          <p:cNvSpPr/>
          <p:nvPr/>
        </p:nvSpPr>
        <p:spPr>
          <a:xfrm>
            <a:off x="548640" y="3694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78992" y="363016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Used in Financial Planning</a:t>
            </a:r>
            <a:endParaRPr lang="en-US" sz="1350" dirty="0"/>
          </a:p>
        </p:txBody>
      </p:sp>
      <p:sp>
        <p:nvSpPr>
          <p:cNvPr id="15" name="Text 13"/>
          <p:cNvSpPr/>
          <p:nvPr/>
        </p:nvSpPr>
        <p:spPr>
          <a:xfrm>
            <a:off x="1078992" y="390448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Forecasts potential impact on cash flow and business value.</a:t>
            </a:r>
            <a:endParaRPr lang="en-US" sz="1150" dirty="0"/>
          </a:p>
        </p:txBody>
      </p:sp>
      <p:sp>
        <p:nvSpPr>
          <p:cNvPr id="16" name="Shape 14"/>
          <p:cNvSpPr/>
          <p:nvPr/>
        </p:nvSpPr>
        <p:spPr>
          <a:xfrm>
            <a:off x="6263640" y="1591056"/>
            <a:ext cx="384048" cy="384048"/>
          </a:xfrm>
          <a:prstGeom prst="ellipse">
            <a:avLst/>
          </a:prstGeom>
          <a:solidFill>
            <a:srgbClr val="0D2C4B"/>
          </a:solidFill>
          <a:ln/>
        </p:spPr>
      </p:sp>
      <p:sp>
        <p:nvSpPr>
          <p:cNvPr id="17" name="Text 15"/>
          <p:cNvSpPr/>
          <p:nvPr/>
        </p:nvSpPr>
        <p:spPr>
          <a:xfrm>
            <a:off x="6263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6793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Used in Risk Management</a:t>
            </a:r>
            <a:endParaRPr lang="en-US" sz="1350" dirty="0"/>
          </a:p>
        </p:txBody>
      </p:sp>
      <p:sp>
        <p:nvSpPr>
          <p:cNvPr id="19" name="Text 17"/>
          <p:cNvSpPr/>
          <p:nvPr/>
        </p:nvSpPr>
        <p:spPr>
          <a:xfrm>
            <a:off x="6793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Identifies and mitigates risks tied to external factors.</a:t>
            </a:r>
            <a:endParaRPr lang="en-US" sz="1150" dirty="0"/>
          </a:p>
        </p:txBody>
      </p:sp>
      <p:sp>
        <p:nvSpPr>
          <p:cNvPr id="20" name="Shape 18"/>
          <p:cNvSpPr/>
          <p:nvPr/>
        </p:nvSpPr>
        <p:spPr>
          <a:xfrm>
            <a:off x="6263640" y="2642616"/>
            <a:ext cx="384048" cy="384048"/>
          </a:xfrm>
          <a:prstGeom prst="ellipse">
            <a:avLst/>
          </a:prstGeom>
          <a:solidFill>
            <a:srgbClr val="0D2C4B"/>
          </a:solidFill>
          <a:ln/>
        </p:spPr>
      </p:sp>
      <p:sp>
        <p:nvSpPr>
          <p:cNvPr id="21" name="Text 19"/>
          <p:cNvSpPr/>
          <p:nvPr/>
        </p:nvSpPr>
        <p:spPr>
          <a:xfrm>
            <a:off x="6263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p:nvPr/>
        </p:nvSpPr>
        <p:spPr>
          <a:xfrm>
            <a:off x="6793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Used in Investment Decisions</a:t>
            </a:r>
            <a:endParaRPr lang="en-US" sz="1350" dirty="0"/>
          </a:p>
        </p:txBody>
      </p:sp>
      <p:sp>
        <p:nvSpPr>
          <p:cNvPr id="23" name="Text 21"/>
          <p:cNvSpPr/>
          <p:nvPr/>
        </p:nvSpPr>
        <p:spPr>
          <a:xfrm>
            <a:off x="6793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Evaluates potential returns and risks of major investments.</a:t>
            </a:r>
            <a:endParaRPr lang="en-US" sz="1150" dirty="0"/>
          </a:p>
        </p:txBody>
      </p:sp>
      <p:sp>
        <p:nvSpPr>
          <p:cNvPr id="24"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SCENARIO ANALYSIS</a:t>
            </a:r>
            <a:endParaRPr lang="en-US" sz="900" dirty="0"/>
          </a:p>
        </p:txBody>
      </p:sp>
      <p:sp>
        <p:nvSpPr>
          <p:cNvPr id="25" name="Text 2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76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081826"/>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63A5C">
              <a:alpha val="65000"/>
            </a:srgbClr>
          </a:solidFill>
          <a:ln/>
        </p:spPr>
      </p:sp>
      <p:sp>
        <p:nvSpPr>
          <p:cNvPr id="3" name="Shape 1"/>
          <p:cNvSpPr/>
          <p:nvPr/>
        </p:nvSpPr>
        <p:spPr>
          <a:xfrm>
            <a:off x="-1280160" y="4937760"/>
            <a:ext cx="3291840" cy="3291840"/>
          </a:xfrm>
          <a:prstGeom prst="ellipse">
            <a:avLst/>
          </a:prstGeom>
          <a:solidFill>
            <a:srgbClr val="12B5CB">
              <a:alpha val="18000"/>
            </a:srgbClr>
          </a:solidFill>
          <a:ln/>
        </p:spPr>
      </p:sp>
      <p:sp>
        <p:nvSpPr>
          <p:cNvPr id="4" name="Text 2"/>
          <p:cNvSpPr/>
          <p:nvPr/>
        </p:nvSpPr>
        <p:spPr>
          <a:xfrm>
            <a:off x="548640" y="1965960"/>
            <a:ext cx="3657600" cy="1463040"/>
          </a:xfrm>
          <a:prstGeom prst="rect">
            <a:avLst/>
          </a:prstGeom>
          <a:noFill/>
          <a:ln/>
        </p:spPr>
        <p:txBody>
          <a:bodyPr wrap="square" lIns="0" tIns="0" rIns="0" bIns="0" rtlCol="0" anchor="ctr"/>
          <a:lstStyle/>
          <a:p>
            <a:pPr indent="0" marL="0">
              <a:buNone/>
            </a:pPr>
            <a:r>
              <a:rPr lang="en-US" sz="9000" b="1" dirty="0">
                <a:solidFill>
                  <a:srgbClr val="12B5CB"/>
                </a:solidFill>
                <a:latin typeface="Cambria" pitchFamily="34" charset="0"/>
                <a:ea typeface="Cambria" pitchFamily="34" charset="-122"/>
                <a:cs typeface="Cambria" pitchFamily="34" charset="-120"/>
              </a:rPr>
              <a:t>09</a:t>
            </a:r>
            <a:endParaRPr lang="en-US" sz="9000" dirty="0"/>
          </a:p>
        </p:txBody>
      </p:sp>
      <p:sp>
        <p:nvSpPr>
          <p:cNvPr id="5" name="Text 3"/>
          <p:cNvSpPr/>
          <p:nvPr/>
        </p:nvSpPr>
        <p:spPr>
          <a:xfrm>
            <a:off x="548640" y="3429000"/>
            <a:ext cx="9601200" cy="1188720"/>
          </a:xfrm>
          <a:prstGeom prst="rect">
            <a:avLst/>
          </a:prstGeom>
          <a:noFill/>
          <a:ln/>
        </p:spPr>
        <p:txBody>
          <a:bodyPr wrap="square" lIns="0" tIns="0" rIns="0" bIns="0"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Data Governance &amp; Ethics</a:t>
            </a:r>
            <a:endParaRPr lang="en-US" sz="3400" dirty="0"/>
          </a:p>
        </p:txBody>
      </p:sp>
      <p:sp>
        <p:nvSpPr>
          <p:cNvPr id="6" name="Text 4"/>
          <p:cNvSpPr/>
          <p:nvPr/>
        </p:nvSpPr>
        <p:spPr>
          <a:xfrm>
            <a:off x="548640" y="4526280"/>
            <a:ext cx="8412480" cy="731520"/>
          </a:xfrm>
          <a:prstGeom prst="rect">
            <a:avLst/>
          </a:prstGeom>
          <a:noFill/>
          <a:ln/>
        </p:spPr>
        <p:txBody>
          <a:bodyPr wrap="square" lIns="0" tIns="0" rIns="0" bIns="0" rtlCol="0" anchor="ctr"/>
          <a:lstStyle/>
          <a:p>
            <a:pPr indent="0" marL="0">
              <a:lnSpc>
                <a:spcPts val="1900"/>
              </a:lnSpc>
              <a:buNone/>
            </a:pPr>
            <a:r>
              <a:rPr lang="en-US" sz="1400" dirty="0">
                <a:solidFill>
                  <a:srgbClr val="9FB6C9"/>
                </a:solidFill>
                <a:latin typeface="Calibri" pitchFamily="34" charset="0"/>
                <a:ea typeface="Calibri" pitchFamily="34" charset="-122"/>
                <a:cs typeface="Calibri" pitchFamily="34" charset="-120"/>
              </a:rPr>
              <a:t>The policies and principles that keep data trustworthy and responsibly used.</a:t>
            </a:r>
            <a:endParaRPr lang="en-US" sz="1400" dirty="0"/>
          </a:p>
        </p:txBody>
      </p:sp>
      <p:sp>
        <p:nvSpPr>
          <p:cNvPr id="7" name="Text 5"/>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9FB6C9"/>
                </a:solidFill>
                <a:latin typeface="Calibri" pitchFamily="34" charset="0"/>
                <a:ea typeface="Calibri" pitchFamily="34" charset="-122"/>
                <a:cs typeface="Calibri" pitchFamily="34" charset="-120"/>
              </a:rPr>
              <a:t>DATA GOVERNANCE &amp; ETHICS</a:t>
            </a:r>
            <a:endParaRPr lang="en-US" sz="900" dirty="0"/>
          </a:p>
        </p:txBody>
      </p:sp>
      <p:sp>
        <p:nvSpPr>
          <p:cNvPr id="8" name="Text 6"/>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9FB6C9"/>
                </a:solidFill>
                <a:latin typeface="Calibri" pitchFamily="34" charset="0"/>
                <a:ea typeface="Calibri" pitchFamily="34" charset="-122"/>
                <a:cs typeface="Calibri" pitchFamily="34" charset="-120"/>
              </a:rPr>
              <a:t>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18320" y="-914400"/>
            <a:ext cx="3840480" cy="3840480"/>
          </a:xfrm>
          <a:prstGeom prst="ellipse">
            <a:avLst/>
          </a:prstGeom>
          <a:solidFill>
            <a:srgbClr val="F2F6F9"/>
          </a:solidFill>
          <a:ln/>
        </p:spPr>
      </p:sp>
      <p:sp>
        <p:nvSpPr>
          <p:cNvPr id="3" name="Shape 1"/>
          <p:cNvSpPr/>
          <p:nvPr/>
        </p:nvSpPr>
        <p:spPr>
          <a:xfrm>
            <a:off x="10424160" y="91440"/>
            <a:ext cx="1828800" cy="1828800"/>
          </a:xfrm>
          <a:prstGeom prst="ellipse">
            <a:avLst/>
          </a:prstGeom>
          <a:solidFill>
            <a:srgbClr val="12B5CB">
              <a:alpha val="15000"/>
            </a:srgbClr>
          </a:solidFill>
          <a:ln/>
        </p:spPr>
      </p:sp>
      <p:sp>
        <p:nvSpPr>
          <p:cNvPr id="4" name="Text 2"/>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DATA GOVERNANCE &amp; ETHICS</a:t>
            </a:r>
            <a:endParaRPr lang="en-US" sz="1150" dirty="0"/>
          </a:p>
        </p:txBody>
      </p:sp>
      <p:sp>
        <p:nvSpPr>
          <p:cNvPr id="5" name="Text 3"/>
          <p:cNvSpPr/>
          <p:nvPr/>
        </p:nvSpPr>
        <p:spPr>
          <a:xfrm>
            <a:off x="548640" y="960120"/>
            <a:ext cx="9692640" cy="1005840"/>
          </a:xfrm>
          <a:prstGeom prst="rect">
            <a:avLst/>
          </a:prstGeom>
          <a:noFill/>
          <a:ln/>
        </p:spPr>
        <p:txBody>
          <a:bodyPr wrap="square" lIns="0" tIns="0" rIns="0" bIns="0" rtlCol="0" anchor="ctr"/>
          <a:lstStyle/>
          <a:p>
            <a:pPr indent="0" marL="0">
              <a:lnSpc>
                <a:spcPts val="3400"/>
              </a:lnSpc>
              <a:buNone/>
            </a:pPr>
            <a:r>
              <a:rPr lang="en-US" sz="3000" b="1" dirty="0">
                <a:solidFill>
                  <a:srgbClr val="0D2C4B"/>
                </a:solidFill>
                <a:latin typeface="Cambria" pitchFamily="34" charset="0"/>
                <a:ea typeface="Cambria" pitchFamily="34" charset="-122"/>
                <a:cs typeface="Cambria" pitchFamily="34" charset="-120"/>
              </a:rPr>
              <a:t>What Is Data Governance?</a:t>
            </a:r>
            <a:endParaRPr lang="en-US" sz="3000" dirty="0"/>
          </a:p>
        </p:txBody>
      </p:sp>
      <p:sp>
        <p:nvSpPr>
          <p:cNvPr id="6" name="Text 4"/>
          <p:cNvSpPr/>
          <p:nvPr/>
        </p:nvSpPr>
        <p:spPr>
          <a:xfrm>
            <a:off x="548640" y="2148840"/>
            <a:ext cx="9509760" cy="2377440"/>
          </a:xfrm>
          <a:prstGeom prst="rect">
            <a:avLst/>
          </a:prstGeom>
          <a:noFill/>
          <a:ln/>
        </p:spPr>
        <p:txBody>
          <a:bodyPr wrap="square" lIns="0" tIns="0" rIns="0" bIns="0" rtlCol="0" anchor="ctr"/>
          <a:lstStyle/>
          <a:p>
            <a:pPr indent="0" marL="0">
              <a:lnSpc>
                <a:spcPts val="2500"/>
              </a:lnSpc>
              <a:buNone/>
            </a:pPr>
            <a:r>
              <a:rPr lang="en-US" sz="1600" dirty="0">
                <a:solidFill>
                  <a:srgbClr val="1C2B39"/>
                </a:solidFill>
                <a:latin typeface="Calibri" pitchFamily="34" charset="0"/>
                <a:ea typeface="Calibri" pitchFamily="34" charset="-122"/>
                <a:cs typeface="Calibri" pitchFamily="34" charset="-120"/>
              </a:rPr>
              <a:t>Data governance is the set of policies, rules, roles, and processes that an organization uses to ensure its data is correct, secure, consistent, and used responsibly — making data trustworthy for reporting and decision-making.</a:t>
            </a:r>
            <a:endParaRPr lang="en-US" sz="1600" dirty="0"/>
          </a:p>
        </p:txBody>
      </p:sp>
      <p:sp>
        <p:nvSpPr>
          <p:cNvPr id="7" name="Shape 5"/>
          <p:cNvSpPr/>
          <p:nvPr/>
        </p:nvSpPr>
        <p:spPr>
          <a:xfrm>
            <a:off x="548640" y="4892040"/>
            <a:ext cx="1060704" cy="384048"/>
          </a:xfrm>
          <a:prstGeom prst="roundRect">
            <a:avLst>
              <a:gd name="adj" fmla="val 50000"/>
            </a:avLst>
          </a:prstGeom>
          <a:solidFill>
            <a:srgbClr val="F2F6F9"/>
          </a:solidFill>
          <a:ln w="12700">
            <a:solidFill>
              <a:srgbClr val="DCE6ED"/>
            </a:solidFill>
            <a:prstDash val="solid"/>
          </a:ln>
        </p:spPr>
      </p:sp>
      <p:sp>
        <p:nvSpPr>
          <p:cNvPr id="8" name="Text 6"/>
          <p:cNvSpPr/>
          <p:nvPr/>
        </p:nvSpPr>
        <p:spPr>
          <a:xfrm>
            <a:off x="548640" y="4892040"/>
            <a:ext cx="1060704"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Accuracy</a:t>
            </a:r>
            <a:endParaRPr lang="en-US" sz="1150" dirty="0"/>
          </a:p>
        </p:txBody>
      </p:sp>
      <p:sp>
        <p:nvSpPr>
          <p:cNvPr id="9" name="Shape 7"/>
          <p:cNvSpPr/>
          <p:nvPr/>
        </p:nvSpPr>
        <p:spPr>
          <a:xfrm>
            <a:off x="1810512" y="4892040"/>
            <a:ext cx="1060704" cy="384048"/>
          </a:xfrm>
          <a:prstGeom prst="roundRect">
            <a:avLst>
              <a:gd name="adj" fmla="val 50000"/>
            </a:avLst>
          </a:prstGeom>
          <a:solidFill>
            <a:srgbClr val="F2F6F9"/>
          </a:solidFill>
          <a:ln w="12700">
            <a:solidFill>
              <a:srgbClr val="DCE6ED"/>
            </a:solidFill>
            <a:prstDash val="solid"/>
          </a:ln>
        </p:spPr>
      </p:sp>
      <p:sp>
        <p:nvSpPr>
          <p:cNvPr id="10" name="Text 8"/>
          <p:cNvSpPr/>
          <p:nvPr/>
        </p:nvSpPr>
        <p:spPr>
          <a:xfrm>
            <a:off x="1810512" y="4892040"/>
            <a:ext cx="1060704"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Security</a:t>
            </a:r>
            <a:endParaRPr lang="en-US" sz="1150" dirty="0"/>
          </a:p>
        </p:txBody>
      </p:sp>
      <p:sp>
        <p:nvSpPr>
          <p:cNvPr id="11" name="Shape 9"/>
          <p:cNvSpPr/>
          <p:nvPr/>
        </p:nvSpPr>
        <p:spPr>
          <a:xfrm>
            <a:off x="3072384" y="4892040"/>
            <a:ext cx="1252728" cy="384048"/>
          </a:xfrm>
          <a:prstGeom prst="roundRect">
            <a:avLst>
              <a:gd name="adj" fmla="val 50000"/>
            </a:avLst>
          </a:prstGeom>
          <a:solidFill>
            <a:srgbClr val="F2F6F9"/>
          </a:solidFill>
          <a:ln w="12700">
            <a:solidFill>
              <a:srgbClr val="DCE6ED"/>
            </a:solidFill>
            <a:prstDash val="solid"/>
          </a:ln>
        </p:spPr>
      </p:sp>
      <p:sp>
        <p:nvSpPr>
          <p:cNvPr id="12" name="Text 10"/>
          <p:cNvSpPr/>
          <p:nvPr/>
        </p:nvSpPr>
        <p:spPr>
          <a:xfrm>
            <a:off x="3072384" y="4892040"/>
            <a:ext cx="1252728"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Compliance</a:t>
            </a:r>
            <a:endParaRPr lang="en-US" sz="1150" dirty="0"/>
          </a:p>
        </p:txBody>
      </p:sp>
      <p:sp>
        <p:nvSpPr>
          <p:cNvPr id="13" name="Shape 11"/>
          <p:cNvSpPr/>
          <p:nvPr/>
        </p:nvSpPr>
        <p:spPr>
          <a:xfrm>
            <a:off x="4526280" y="4892040"/>
            <a:ext cx="772668" cy="384048"/>
          </a:xfrm>
          <a:prstGeom prst="roundRect">
            <a:avLst>
              <a:gd name="adj" fmla="val 50000"/>
            </a:avLst>
          </a:prstGeom>
          <a:solidFill>
            <a:srgbClr val="F2F6F9"/>
          </a:solidFill>
          <a:ln w="12700">
            <a:solidFill>
              <a:srgbClr val="DCE6ED"/>
            </a:solidFill>
            <a:prstDash val="solid"/>
          </a:ln>
        </p:spPr>
      </p:sp>
      <p:sp>
        <p:nvSpPr>
          <p:cNvPr id="14" name="Text 12"/>
          <p:cNvSpPr/>
          <p:nvPr/>
        </p:nvSpPr>
        <p:spPr>
          <a:xfrm>
            <a:off x="4526280" y="4892040"/>
            <a:ext cx="772668"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Trust</a:t>
            </a:r>
            <a:endParaRPr lang="en-US" sz="1150" dirty="0"/>
          </a:p>
        </p:txBody>
      </p:sp>
      <p:sp>
        <p:nvSpPr>
          <p:cNvPr id="15" name="Text 13"/>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DATA GOVERNANCE &amp; ETHICS</a:t>
            </a:r>
            <a:endParaRPr lang="en-US" sz="900" dirty="0"/>
          </a:p>
        </p:txBody>
      </p:sp>
      <p:sp>
        <p:nvSpPr>
          <p:cNvPr id="16" name="Text 14"/>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78</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DATA GOVERNANCE &amp; ETHICS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Key Elements of Data Governance</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Rules &amp; Responsibilities</a:t>
            </a:r>
            <a:endParaRPr lang="en-US" sz="1350" dirty="0"/>
          </a:p>
        </p:txBody>
      </p:sp>
      <p:sp>
        <p:nvSpPr>
          <p:cNvPr id="7" name="Text 5"/>
          <p:cNvSpPr/>
          <p:nvPr/>
        </p:nvSpPr>
        <p:spPr>
          <a:xfrm>
            <a:off x="1078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Establishes who can do what with data — a common playbook for responsible handling.</a:t>
            </a:r>
            <a:endParaRPr lang="en-US" sz="1150" dirty="0"/>
          </a:p>
        </p:txBody>
      </p:sp>
      <p:sp>
        <p:nvSpPr>
          <p:cNvPr id="8" name="Shape 6"/>
          <p:cNvSpPr/>
          <p:nvPr/>
        </p:nvSpPr>
        <p:spPr>
          <a:xfrm>
            <a:off x="548640" y="2642616"/>
            <a:ext cx="384048" cy="384048"/>
          </a:xfrm>
          <a:prstGeom prst="ellipse">
            <a:avLst/>
          </a:prstGeom>
          <a:solidFill>
            <a:srgbClr val="0D2C4B"/>
          </a:solidFill>
          <a:ln/>
        </p:spPr>
      </p:sp>
      <p:sp>
        <p:nvSpPr>
          <p:cNvPr id="9" name="Text 7"/>
          <p:cNvSpPr/>
          <p:nvPr/>
        </p:nvSpPr>
        <p:spPr>
          <a:xfrm>
            <a:off x="548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Data Quality &amp; Integrity</a:t>
            </a:r>
            <a:endParaRPr lang="en-US" sz="1350" dirty="0"/>
          </a:p>
        </p:txBody>
      </p:sp>
      <p:sp>
        <p:nvSpPr>
          <p:cNvPr id="11" name="Text 9"/>
          <p:cNvSpPr/>
          <p:nvPr/>
        </p:nvSpPr>
        <p:spPr>
          <a:xfrm>
            <a:off x="1078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Prevents errors, inconsistencies, and duplication across the data lifecycle.</a:t>
            </a:r>
            <a:endParaRPr lang="en-US" sz="1150" dirty="0"/>
          </a:p>
        </p:txBody>
      </p:sp>
      <p:sp>
        <p:nvSpPr>
          <p:cNvPr id="12" name="Shape 10"/>
          <p:cNvSpPr/>
          <p:nvPr/>
        </p:nvSpPr>
        <p:spPr>
          <a:xfrm>
            <a:off x="548640" y="3694176"/>
            <a:ext cx="384048" cy="384048"/>
          </a:xfrm>
          <a:prstGeom prst="ellipse">
            <a:avLst/>
          </a:prstGeom>
          <a:solidFill>
            <a:srgbClr val="0D2C4B"/>
          </a:solidFill>
          <a:ln/>
        </p:spPr>
      </p:sp>
      <p:sp>
        <p:nvSpPr>
          <p:cNvPr id="13" name="Text 11"/>
          <p:cNvSpPr/>
          <p:nvPr/>
        </p:nvSpPr>
        <p:spPr>
          <a:xfrm>
            <a:off x="548640" y="3694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78992" y="363016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Security &amp; Privacy</a:t>
            </a:r>
            <a:endParaRPr lang="en-US" sz="1350" dirty="0"/>
          </a:p>
        </p:txBody>
      </p:sp>
      <p:sp>
        <p:nvSpPr>
          <p:cNvPr id="15" name="Text 13"/>
          <p:cNvSpPr/>
          <p:nvPr/>
        </p:nvSpPr>
        <p:spPr>
          <a:xfrm>
            <a:off x="1078992" y="390448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Protects sensitive data and maintains compliance with regulations like GDPR and HIPAA.</a:t>
            </a:r>
            <a:endParaRPr lang="en-US" sz="1150" dirty="0"/>
          </a:p>
        </p:txBody>
      </p:sp>
      <p:sp>
        <p:nvSpPr>
          <p:cNvPr id="16" name="Shape 14"/>
          <p:cNvSpPr/>
          <p:nvPr/>
        </p:nvSpPr>
        <p:spPr>
          <a:xfrm>
            <a:off x="6263640" y="1591056"/>
            <a:ext cx="384048" cy="384048"/>
          </a:xfrm>
          <a:prstGeom prst="ellipse">
            <a:avLst/>
          </a:prstGeom>
          <a:solidFill>
            <a:srgbClr val="0D2C4B"/>
          </a:solidFill>
          <a:ln/>
        </p:spPr>
      </p:sp>
      <p:sp>
        <p:nvSpPr>
          <p:cNvPr id="17" name="Text 15"/>
          <p:cNvSpPr/>
          <p:nvPr/>
        </p:nvSpPr>
        <p:spPr>
          <a:xfrm>
            <a:off x="6263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6793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Usability</a:t>
            </a:r>
            <a:endParaRPr lang="en-US" sz="1350" dirty="0"/>
          </a:p>
        </p:txBody>
      </p:sp>
      <p:sp>
        <p:nvSpPr>
          <p:cNvPr id="19" name="Text 17"/>
          <p:cNvSpPr/>
          <p:nvPr/>
        </p:nvSpPr>
        <p:spPr>
          <a:xfrm>
            <a:off x="6793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Makes data easier to find and use for BI and other initiatives.</a:t>
            </a:r>
            <a:endParaRPr lang="en-US" sz="1150" dirty="0"/>
          </a:p>
        </p:txBody>
      </p:sp>
      <p:sp>
        <p:nvSpPr>
          <p:cNvPr id="20" name="Shape 18"/>
          <p:cNvSpPr/>
          <p:nvPr/>
        </p:nvSpPr>
        <p:spPr>
          <a:xfrm>
            <a:off x="6263640" y="2642616"/>
            <a:ext cx="384048" cy="384048"/>
          </a:xfrm>
          <a:prstGeom prst="ellipse">
            <a:avLst/>
          </a:prstGeom>
          <a:solidFill>
            <a:srgbClr val="0D2C4B"/>
          </a:solidFill>
          <a:ln/>
        </p:spPr>
      </p:sp>
      <p:sp>
        <p:nvSpPr>
          <p:cNvPr id="21" name="Text 19"/>
          <p:cNvSpPr/>
          <p:nvPr/>
        </p:nvSpPr>
        <p:spPr>
          <a:xfrm>
            <a:off x="6263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p:nvPr/>
        </p:nvSpPr>
        <p:spPr>
          <a:xfrm>
            <a:off x="6793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Better Decisions</a:t>
            </a:r>
            <a:endParaRPr lang="en-US" sz="1350" dirty="0"/>
          </a:p>
        </p:txBody>
      </p:sp>
      <p:sp>
        <p:nvSpPr>
          <p:cNvPr id="23" name="Text 21"/>
          <p:cNvSpPr/>
          <p:nvPr/>
        </p:nvSpPr>
        <p:spPr>
          <a:xfrm>
            <a:off x="6793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A consistent, high-quality data foundation supports confident decision-making.</a:t>
            </a:r>
            <a:endParaRPr lang="en-US" sz="1150" dirty="0"/>
          </a:p>
        </p:txBody>
      </p:sp>
      <p:sp>
        <p:nvSpPr>
          <p:cNvPr id="24"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DATA GOVERNANCE &amp; ETHICS</a:t>
            </a:r>
            <a:endParaRPr lang="en-US" sz="900" dirty="0"/>
          </a:p>
        </p:txBody>
      </p:sp>
      <p:sp>
        <p:nvSpPr>
          <p:cNvPr id="25" name="Text 2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79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DATA GOVERNANCE &amp; ETHICS</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Benefits of Data Governance I</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Improved Data Quality</a:t>
            </a:r>
            <a:endParaRPr lang="en-US" sz="1350" dirty="0"/>
          </a:p>
        </p:txBody>
      </p:sp>
      <p:sp>
        <p:nvSpPr>
          <p:cNvPr id="7" name="Text 5"/>
          <p:cNvSpPr/>
          <p:nvPr/>
        </p:nvSpPr>
        <p:spPr>
          <a:xfrm>
            <a:off x="1078992" y="180136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Ensures data is accurate, complete, and consistent — reducing errors and duplicates.</a:t>
            </a:r>
            <a:endParaRPr lang="en-US" sz="1150" dirty="0"/>
          </a:p>
        </p:txBody>
      </p:sp>
      <p:sp>
        <p:nvSpPr>
          <p:cNvPr id="8" name="Shape 6"/>
          <p:cNvSpPr/>
          <p:nvPr/>
        </p:nvSpPr>
        <p:spPr>
          <a:xfrm>
            <a:off x="548640" y="2551176"/>
            <a:ext cx="384048" cy="384048"/>
          </a:xfrm>
          <a:prstGeom prst="ellipse">
            <a:avLst/>
          </a:prstGeom>
          <a:solidFill>
            <a:srgbClr val="0D2C4B"/>
          </a:solidFill>
          <a:ln/>
        </p:spPr>
      </p:sp>
      <p:sp>
        <p:nvSpPr>
          <p:cNvPr id="9" name="Text 7"/>
          <p:cNvSpPr/>
          <p:nvPr/>
        </p:nvSpPr>
        <p:spPr>
          <a:xfrm>
            <a:off x="548640" y="2551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48716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Better Decision-Making</a:t>
            </a:r>
            <a:endParaRPr lang="en-US" sz="1350" dirty="0"/>
          </a:p>
        </p:txBody>
      </p:sp>
      <p:sp>
        <p:nvSpPr>
          <p:cNvPr id="11" name="Text 9"/>
          <p:cNvSpPr/>
          <p:nvPr/>
        </p:nvSpPr>
        <p:spPr>
          <a:xfrm>
            <a:off x="1078992" y="276148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Clean, well-managed data means managers can trust it and act on it confidently.</a:t>
            </a:r>
            <a:endParaRPr lang="en-US" sz="1150" dirty="0"/>
          </a:p>
        </p:txBody>
      </p:sp>
      <p:sp>
        <p:nvSpPr>
          <p:cNvPr id="12" name="Shape 10"/>
          <p:cNvSpPr/>
          <p:nvPr/>
        </p:nvSpPr>
        <p:spPr>
          <a:xfrm>
            <a:off x="548640" y="3511296"/>
            <a:ext cx="384048" cy="384048"/>
          </a:xfrm>
          <a:prstGeom prst="ellipse">
            <a:avLst/>
          </a:prstGeom>
          <a:solidFill>
            <a:srgbClr val="0D2C4B"/>
          </a:solidFill>
          <a:ln/>
        </p:spPr>
      </p:sp>
      <p:sp>
        <p:nvSpPr>
          <p:cNvPr id="13" name="Text 11"/>
          <p:cNvSpPr/>
          <p:nvPr/>
        </p:nvSpPr>
        <p:spPr>
          <a:xfrm>
            <a:off x="548640" y="35112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78992" y="3447288"/>
            <a:ext cx="1033272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Enhanced Security &amp; Privacy</a:t>
            </a:r>
            <a:endParaRPr lang="en-US" sz="1350" dirty="0"/>
          </a:p>
        </p:txBody>
      </p:sp>
      <p:sp>
        <p:nvSpPr>
          <p:cNvPr id="15" name="Text 13"/>
          <p:cNvSpPr/>
          <p:nvPr/>
        </p:nvSpPr>
        <p:spPr>
          <a:xfrm>
            <a:off x="1078992" y="3721608"/>
            <a:ext cx="10332720" cy="68580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Defines who can access, edit, or delete data, helping prevent leaks and misuse.</a:t>
            </a:r>
            <a:endParaRPr lang="en-US" sz="1150" dirty="0"/>
          </a:p>
        </p:txBody>
      </p:sp>
      <p:sp>
        <p:nvSpPr>
          <p:cNvPr id="16" name="Text 14"/>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DATA GOVERNANCE &amp; ETHICS</a:t>
            </a:r>
            <a:endParaRPr lang="en-US" sz="900" dirty="0"/>
          </a:p>
        </p:txBody>
      </p:sp>
      <p:sp>
        <p:nvSpPr>
          <p:cNvPr id="17" name="Text 15"/>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80</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DATA GOVERNANCE &amp; ETHICS</a:t>
            </a:r>
            <a:endParaRPr lang="en-US" sz="1150" dirty="0"/>
          </a:p>
        </p:txBody>
      </p:sp>
      <p:sp>
        <p:nvSpPr>
          <p:cNvPr id="3" name="Text 1"/>
          <p:cNvSpPr/>
          <p:nvPr/>
        </p:nvSpPr>
        <p:spPr>
          <a:xfrm>
            <a:off x="548640" y="868680"/>
            <a:ext cx="10607040" cy="54864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Benefits of Data Governance II</a:t>
            </a:r>
            <a:endParaRPr lang="en-US" sz="2700" dirty="0"/>
          </a:p>
        </p:txBody>
      </p:sp>
      <p:sp>
        <p:nvSpPr>
          <p:cNvPr id="4" name="Shape 2"/>
          <p:cNvSpPr/>
          <p:nvPr/>
        </p:nvSpPr>
        <p:spPr>
          <a:xfrm>
            <a:off x="548640" y="1508760"/>
            <a:ext cx="5364328" cy="2263140"/>
          </a:xfrm>
          <a:prstGeom prst="roundRect">
            <a:avLst>
              <a:gd name="adj" fmla="val 3232"/>
            </a:avLst>
          </a:prstGeom>
          <a:solidFill>
            <a:srgbClr val="F2F6F9"/>
          </a:solidFill>
          <a:ln/>
        </p:spPr>
      </p:sp>
      <p:sp>
        <p:nvSpPr>
          <p:cNvPr id="5" name="Shape 3"/>
          <p:cNvSpPr/>
          <p:nvPr/>
        </p:nvSpPr>
        <p:spPr>
          <a:xfrm>
            <a:off x="777240" y="1737360"/>
            <a:ext cx="384048" cy="384048"/>
          </a:xfrm>
          <a:prstGeom prst="ellipse">
            <a:avLst/>
          </a:prstGeom>
          <a:solidFill>
            <a:srgbClr val="0D2C4B"/>
          </a:solidFill>
          <a:ln/>
        </p:spPr>
      </p:sp>
      <p:sp>
        <p:nvSpPr>
          <p:cNvPr id="6" name="Text 4"/>
          <p:cNvSpPr/>
          <p:nvPr/>
        </p:nvSpPr>
        <p:spPr>
          <a:xfrm>
            <a:off x="777240" y="17373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98448" y="17282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Regulatory Compliance</a:t>
            </a:r>
            <a:endParaRPr lang="en-US" sz="1450" dirty="0"/>
          </a:p>
        </p:txBody>
      </p:sp>
      <p:sp>
        <p:nvSpPr>
          <p:cNvPr id="8" name="Text 6"/>
          <p:cNvSpPr/>
          <p:nvPr/>
        </p:nvSpPr>
        <p:spPr>
          <a:xfrm>
            <a:off x="777240" y="22585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Helps organizations follow data protection laws and avoid fines and reputational damage.</a:t>
            </a:r>
            <a:endParaRPr lang="en-US" sz="1080" dirty="0"/>
          </a:p>
        </p:txBody>
      </p:sp>
      <p:sp>
        <p:nvSpPr>
          <p:cNvPr id="9" name="Shape 7"/>
          <p:cNvSpPr/>
          <p:nvPr/>
        </p:nvSpPr>
        <p:spPr>
          <a:xfrm>
            <a:off x="6278728" y="1508760"/>
            <a:ext cx="5364328" cy="2263140"/>
          </a:xfrm>
          <a:prstGeom prst="roundRect">
            <a:avLst>
              <a:gd name="adj" fmla="val 3232"/>
            </a:avLst>
          </a:prstGeom>
          <a:solidFill>
            <a:srgbClr val="F2F6F9"/>
          </a:solidFill>
          <a:ln/>
        </p:spPr>
      </p:sp>
      <p:sp>
        <p:nvSpPr>
          <p:cNvPr id="10" name="Shape 8"/>
          <p:cNvSpPr/>
          <p:nvPr/>
        </p:nvSpPr>
        <p:spPr>
          <a:xfrm>
            <a:off x="6507328" y="1737360"/>
            <a:ext cx="384048" cy="384048"/>
          </a:xfrm>
          <a:prstGeom prst="ellipse">
            <a:avLst/>
          </a:prstGeom>
          <a:solidFill>
            <a:srgbClr val="0B8A9C"/>
          </a:solidFill>
          <a:ln/>
        </p:spPr>
      </p:sp>
      <p:sp>
        <p:nvSpPr>
          <p:cNvPr id="11" name="Text 9"/>
          <p:cNvSpPr/>
          <p:nvPr/>
        </p:nvSpPr>
        <p:spPr>
          <a:xfrm>
            <a:off x="6507328" y="17373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7028536" y="17282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Clear Roles</a:t>
            </a:r>
            <a:endParaRPr lang="en-US" sz="1450" dirty="0"/>
          </a:p>
        </p:txBody>
      </p:sp>
      <p:sp>
        <p:nvSpPr>
          <p:cNvPr id="13" name="Text 11"/>
          <p:cNvSpPr/>
          <p:nvPr/>
        </p:nvSpPr>
        <p:spPr>
          <a:xfrm>
            <a:off x="6507328" y="22585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Defines data owners, stewards, and users — reducing confusion and improving accountability.</a:t>
            </a:r>
            <a:endParaRPr lang="en-US" sz="1080" dirty="0"/>
          </a:p>
        </p:txBody>
      </p:sp>
      <p:sp>
        <p:nvSpPr>
          <p:cNvPr id="14" name="Shape 12"/>
          <p:cNvSpPr/>
          <p:nvPr/>
        </p:nvSpPr>
        <p:spPr>
          <a:xfrm>
            <a:off x="548640" y="4137660"/>
            <a:ext cx="5364328" cy="2263140"/>
          </a:xfrm>
          <a:prstGeom prst="roundRect">
            <a:avLst>
              <a:gd name="adj" fmla="val 3232"/>
            </a:avLst>
          </a:prstGeom>
          <a:solidFill>
            <a:srgbClr val="F2F6F9"/>
          </a:solidFill>
          <a:ln/>
        </p:spPr>
      </p:sp>
      <p:sp>
        <p:nvSpPr>
          <p:cNvPr id="15" name="Shape 13"/>
          <p:cNvSpPr/>
          <p:nvPr/>
        </p:nvSpPr>
        <p:spPr>
          <a:xfrm>
            <a:off x="777240" y="4366260"/>
            <a:ext cx="384048" cy="384048"/>
          </a:xfrm>
          <a:prstGeom prst="ellipse">
            <a:avLst/>
          </a:prstGeom>
          <a:solidFill>
            <a:srgbClr val="E8934C"/>
          </a:solidFill>
          <a:ln/>
        </p:spPr>
      </p:sp>
      <p:sp>
        <p:nvSpPr>
          <p:cNvPr id="16" name="Text 14"/>
          <p:cNvSpPr/>
          <p:nvPr/>
        </p:nvSpPr>
        <p:spPr>
          <a:xfrm>
            <a:off x="777240" y="43662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298448" y="43571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Consistent Data</a:t>
            </a:r>
            <a:endParaRPr lang="en-US" sz="1450" dirty="0"/>
          </a:p>
        </p:txBody>
      </p:sp>
      <p:sp>
        <p:nvSpPr>
          <p:cNvPr id="18" name="Text 16"/>
          <p:cNvSpPr/>
          <p:nvPr/>
        </p:nvSpPr>
        <p:spPr>
          <a:xfrm>
            <a:off x="777240" y="48874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Standardizes data across systems so CRM, ERP, and reports always agree.</a:t>
            </a:r>
            <a:endParaRPr lang="en-US" sz="1080" dirty="0"/>
          </a:p>
        </p:txBody>
      </p:sp>
      <p:sp>
        <p:nvSpPr>
          <p:cNvPr id="19" name="Shape 17"/>
          <p:cNvSpPr/>
          <p:nvPr/>
        </p:nvSpPr>
        <p:spPr>
          <a:xfrm>
            <a:off x="6278728" y="4137660"/>
            <a:ext cx="5364328" cy="2263140"/>
          </a:xfrm>
          <a:prstGeom prst="roundRect">
            <a:avLst>
              <a:gd name="adj" fmla="val 3232"/>
            </a:avLst>
          </a:prstGeom>
          <a:solidFill>
            <a:srgbClr val="F2F6F9"/>
          </a:solidFill>
          <a:ln/>
        </p:spPr>
      </p:sp>
      <p:sp>
        <p:nvSpPr>
          <p:cNvPr id="20" name="Shape 18"/>
          <p:cNvSpPr/>
          <p:nvPr/>
        </p:nvSpPr>
        <p:spPr>
          <a:xfrm>
            <a:off x="6507328" y="4366260"/>
            <a:ext cx="384048" cy="384048"/>
          </a:xfrm>
          <a:prstGeom prst="ellipse">
            <a:avLst/>
          </a:prstGeom>
          <a:solidFill>
            <a:srgbClr val="C85A46"/>
          </a:solidFill>
          <a:ln/>
        </p:spPr>
      </p:sp>
      <p:sp>
        <p:nvSpPr>
          <p:cNvPr id="21" name="Text 19"/>
          <p:cNvSpPr/>
          <p:nvPr/>
        </p:nvSpPr>
        <p:spPr>
          <a:xfrm>
            <a:off x="6507328" y="43662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7028536" y="43571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Lower Costs, Higher Efficiency</a:t>
            </a:r>
            <a:endParaRPr lang="en-US" sz="1450" dirty="0"/>
          </a:p>
        </p:txBody>
      </p:sp>
      <p:sp>
        <p:nvSpPr>
          <p:cNvPr id="23" name="Text 21"/>
          <p:cNvSpPr/>
          <p:nvPr/>
        </p:nvSpPr>
        <p:spPr>
          <a:xfrm>
            <a:off x="6507328" y="48874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Less time fixing errors and fewer duplicate systems improves operational efficiency.</a:t>
            </a:r>
            <a:endParaRPr lang="en-US" sz="1080" dirty="0"/>
          </a:p>
        </p:txBody>
      </p:sp>
      <p:sp>
        <p:nvSpPr>
          <p:cNvPr id="24"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DATA GOVERNANCE &amp; ETHICS</a:t>
            </a:r>
            <a:endParaRPr lang="en-US" sz="900" dirty="0"/>
          </a:p>
        </p:txBody>
      </p:sp>
      <p:sp>
        <p:nvSpPr>
          <p:cNvPr id="25" name="Text 2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18320" y="-914400"/>
            <a:ext cx="3840480" cy="3840480"/>
          </a:xfrm>
          <a:prstGeom prst="ellipse">
            <a:avLst/>
          </a:prstGeom>
          <a:solidFill>
            <a:srgbClr val="F2F6F9"/>
          </a:solidFill>
          <a:ln/>
        </p:spPr>
      </p:sp>
      <p:sp>
        <p:nvSpPr>
          <p:cNvPr id="3" name="Shape 1"/>
          <p:cNvSpPr/>
          <p:nvPr/>
        </p:nvSpPr>
        <p:spPr>
          <a:xfrm>
            <a:off x="10424160" y="91440"/>
            <a:ext cx="1828800" cy="1828800"/>
          </a:xfrm>
          <a:prstGeom prst="ellipse">
            <a:avLst/>
          </a:prstGeom>
          <a:solidFill>
            <a:srgbClr val="12B5CB">
              <a:alpha val="15000"/>
            </a:srgbClr>
          </a:solidFill>
          <a:ln/>
        </p:spPr>
      </p:sp>
      <p:sp>
        <p:nvSpPr>
          <p:cNvPr id="4" name="Text 2"/>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DATA GOVERNANCE &amp; ETHICS</a:t>
            </a:r>
            <a:endParaRPr lang="en-US" sz="1150" dirty="0"/>
          </a:p>
        </p:txBody>
      </p:sp>
      <p:sp>
        <p:nvSpPr>
          <p:cNvPr id="5" name="Text 3"/>
          <p:cNvSpPr/>
          <p:nvPr/>
        </p:nvSpPr>
        <p:spPr>
          <a:xfrm>
            <a:off x="548640" y="960120"/>
            <a:ext cx="9692640" cy="1005840"/>
          </a:xfrm>
          <a:prstGeom prst="rect">
            <a:avLst/>
          </a:prstGeom>
          <a:noFill/>
          <a:ln/>
        </p:spPr>
        <p:txBody>
          <a:bodyPr wrap="square" lIns="0" tIns="0" rIns="0" bIns="0" rtlCol="0" anchor="ctr"/>
          <a:lstStyle/>
          <a:p>
            <a:pPr indent="0" marL="0">
              <a:lnSpc>
                <a:spcPts val="3400"/>
              </a:lnSpc>
              <a:buNone/>
            </a:pPr>
            <a:r>
              <a:rPr lang="en-US" sz="3000" b="1" dirty="0">
                <a:solidFill>
                  <a:srgbClr val="0D2C4B"/>
                </a:solidFill>
                <a:latin typeface="Cambria" pitchFamily="34" charset="0"/>
                <a:ea typeface="Cambria" pitchFamily="34" charset="-122"/>
                <a:cs typeface="Cambria" pitchFamily="34" charset="-120"/>
              </a:rPr>
              <a:t>The Ethical Use of Data</a:t>
            </a:r>
            <a:endParaRPr lang="en-US" sz="3000" dirty="0"/>
          </a:p>
        </p:txBody>
      </p:sp>
      <p:sp>
        <p:nvSpPr>
          <p:cNvPr id="6" name="Text 4"/>
          <p:cNvSpPr/>
          <p:nvPr/>
        </p:nvSpPr>
        <p:spPr>
          <a:xfrm>
            <a:off x="548640" y="2148840"/>
            <a:ext cx="9509760" cy="2377440"/>
          </a:xfrm>
          <a:prstGeom prst="rect">
            <a:avLst/>
          </a:prstGeom>
          <a:noFill/>
          <a:ln/>
        </p:spPr>
        <p:txBody>
          <a:bodyPr wrap="square" lIns="0" tIns="0" rIns="0" bIns="0" rtlCol="0" anchor="ctr"/>
          <a:lstStyle/>
          <a:p>
            <a:pPr indent="0" marL="0">
              <a:lnSpc>
                <a:spcPts val="2500"/>
              </a:lnSpc>
              <a:buNone/>
            </a:pPr>
            <a:r>
              <a:rPr lang="en-US" sz="1600" dirty="0">
                <a:solidFill>
                  <a:srgbClr val="1C2B39"/>
                </a:solidFill>
                <a:latin typeface="Calibri" pitchFamily="34" charset="0"/>
                <a:ea typeface="Calibri" pitchFamily="34" charset="-122"/>
                <a:cs typeface="Calibri" pitchFamily="34" charset="-120"/>
              </a:rPr>
              <a:t>The ethical use of data involves following principles like consent and transparency, fairness and non-discrimination, data minimization, and accountability when collecting, using, and managing data — getting clear permission, being open about use, avoiding bias, and taking responsibility for issues that arise.</a:t>
            </a:r>
            <a:endParaRPr lang="en-US" sz="1600" dirty="0"/>
          </a:p>
        </p:txBody>
      </p:sp>
      <p:sp>
        <p:nvSpPr>
          <p:cNvPr id="7" name="Shape 5"/>
          <p:cNvSpPr/>
          <p:nvPr/>
        </p:nvSpPr>
        <p:spPr>
          <a:xfrm>
            <a:off x="548640" y="4892040"/>
            <a:ext cx="964692" cy="384048"/>
          </a:xfrm>
          <a:prstGeom prst="roundRect">
            <a:avLst>
              <a:gd name="adj" fmla="val 50000"/>
            </a:avLst>
          </a:prstGeom>
          <a:solidFill>
            <a:srgbClr val="F2F6F9"/>
          </a:solidFill>
          <a:ln w="12700">
            <a:solidFill>
              <a:srgbClr val="DCE6ED"/>
            </a:solidFill>
            <a:prstDash val="solid"/>
          </a:ln>
        </p:spPr>
      </p:sp>
      <p:sp>
        <p:nvSpPr>
          <p:cNvPr id="8" name="Text 6"/>
          <p:cNvSpPr/>
          <p:nvPr/>
        </p:nvSpPr>
        <p:spPr>
          <a:xfrm>
            <a:off x="548640" y="4892040"/>
            <a:ext cx="964692"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Consent</a:t>
            </a:r>
            <a:endParaRPr lang="en-US" sz="1150" dirty="0"/>
          </a:p>
        </p:txBody>
      </p:sp>
      <p:sp>
        <p:nvSpPr>
          <p:cNvPr id="9" name="Shape 7"/>
          <p:cNvSpPr/>
          <p:nvPr/>
        </p:nvSpPr>
        <p:spPr>
          <a:xfrm>
            <a:off x="1714500" y="4892040"/>
            <a:ext cx="1060704" cy="384048"/>
          </a:xfrm>
          <a:prstGeom prst="roundRect">
            <a:avLst>
              <a:gd name="adj" fmla="val 50000"/>
            </a:avLst>
          </a:prstGeom>
          <a:solidFill>
            <a:srgbClr val="F2F6F9"/>
          </a:solidFill>
          <a:ln w="12700">
            <a:solidFill>
              <a:srgbClr val="DCE6ED"/>
            </a:solidFill>
            <a:prstDash val="solid"/>
          </a:ln>
        </p:spPr>
      </p:sp>
      <p:sp>
        <p:nvSpPr>
          <p:cNvPr id="10" name="Text 8"/>
          <p:cNvSpPr/>
          <p:nvPr/>
        </p:nvSpPr>
        <p:spPr>
          <a:xfrm>
            <a:off x="1714500" y="4892040"/>
            <a:ext cx="1060704"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Fairness</a:t>
            </a:r>
            <a:endParaRPr lang="en-US" sz="1150" dirty="0"/>
          </a:p>
        </p:txBody>
      </p:sp>
      <p:sp>
        <p:nvSpPr>
          <p:cNvPr id="11" name="Shape 9"/>
          <p:cNvSpPr/>
          <p:nvPr/>
        </p:nvSpPr>
        <p:spPr>
          <a:xfrm>
            <a:off x="2976372" y="4892040"/>
            <a:ext cx="1444752" cy="384048"/>
          </a:xfrm>
          <a:prstGeom prst="roundRect">
            <a:avLst>
              <a:gd name="adj" fmla="val 50000"/>
            </a:avLst>
          </a:prstGeom>
          <a:solidFill>
            <a:srgbClr val="F2F6F9"/>
          </a:solidFill>
          <a:ln w="12700">
            <a:solidFill>
              <a:srgbClr val="DCE6ED"/>
            </a:solidFill>
            <a:prstDash val="solid"/>
          </a:ln>
        </p:spPr>
      </p:sp>
      <p:sp>
        <p:nvSpPr>
          <p:cNvPr id="12" name="Text 10"/>
          <p:cNvSpPr/>
          <p:nvPr/>
        </p:nvSpPr>
        <p:spPr>
          <a:xfrm>
            <a:off x="2976372" y="4892040"/>
            <a:ext cx="1444752"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Minimization</a:t>
            </a:r>
            <a:endParaRPr lang="en-US" sz="1150" dirty="0"/>
          </a:p>
        </p:txBody>
      </p:sp>
      <p:sp>
        <p:nvSpPr>
          <p:cNvPr id="13" name="Shape 11"/>
          <p:cNvSpPr/>
          <p:nvPr/>
        </p:nvSpPr>
        <p:spPr>
          <a:xfrm>
            <a:off x="4622292" y="4892040"/>
            <a:ext cx="1636776" cy="384048"/>
          </a:xfrm>
          <a:prstGeom prst="roundRect">
            <a:avLst>
              <a:gd name="adj" fmla="val 50000"/>
            </a:avLst>
          </a:prstGeom>
          <a:solidFill>
            <a:srgbClr val="F2F6F9"/>
          </a:solidFill>
          <a:ln w="12700">
            <a:solidFill>
              <a:srgbClr val="DCE6ED"/>
            </a:solidFill>
            <a:prstDash val="solid"/>
          </a:ln>
        </p:spPr>
      </p:sp>
      <p:sp>
        <p:nvSpPr>
          <p:cNvPr id="14" name="Text 12"/>
          <p:cNvSpPr/>
          <p:nvPr/>
        </p:nvSpPr>
        <p:spPr>
          <a:xfrm>
            <a:off x="4622292" y="4892040"/>
            <a:ext cx="1636776" cy="384048"/>
          </a:xfrm>
          <a:prstGeom prst="rect">
            <a:avLst/>
          </a:prstGeom>
          <a:noFill/>
          <a:ln/>
        </p:spPr>
        <p:txBody>
          <a:bodyPr wrap="square" lIns="0" tIns="0" rIns="0" bIns="0" rtlCol="0" anchor="ctr"/>
          <a:lstStyle/>
          <a:p>
            <a:pPr algn="ctr" indent="0" marL="0">
              <a:buNone/>
            </a:pPr>
            <a:r>
              <a:rPr lang="en-US" sz="1150" b="1" dirty="0">
                <a:solidFill>
                  <a:srgbClr val="163A5C"/>
                </a:solidFill>
                <a:latin typeface="Calibri" pitchFamily="34" charset="0"/>
                <a:ea typeface="Calibri" pitchFamily="34" charset="-122"/>
                <a:cs typeface="Calibri" pitchFamily="34" charset="-120"/>
              </a:rPr>
              <a:t>Accountability</a:t>
            </a:r>
            <a:endParaRPr lang="en-US" sz="1150" dirty="0"/>
          </a:p>
        </p:txBody>
      </p:sp>
      <p:sp>
        <p:nvSpPr>
          <p:cNvPr id="15" name="Text 13"/>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DATA GOVERNANCE &amp; ETHICS</a:t>
            </a:r>
            <a:endParaRPr lang="en-US" sz="900" dirty="0"/>
          </a:p>
        </p:txBody>
      </p:sp>
      <p:sp>
        <p:nvSpPr>
          <p:cNvPr id="16" name="Text 14"/>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82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DATA GOVERNANCE &amp; ETHICS</a:t>
            </a:r>
            <a:endParaRPr lang="en-US" sz="1150" dirty="0"/>
          </a:p>
        </p:txBody>
      </p:sp>
      <p:sp>
        <p:nvSpPr>
          <p:cNvPr id="3" name="Text 1"/>
          <p:cNvSpPr/>
          <p:nvPr/>
        </p:nvSpPr>
        <p:spPr>
          <a:xfrm>
            <a:off x="548640" y="868680"/>
            <a:ext cx="10607040" cy="54864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Principles of Ethical Data Use</a:t>
            </a:r>
            <a:endParaRPr lang="en-US" sz="2700" dirty="0"/>
          </a:p>
        </p:txBody>
      </p:sp>
      <p:sp>
        <p:nvSpPr>
          <p:cNvPr id="4" name="Shape 2"/>
          <p:cNvSpPr/>
          <p:nvPr/>
        </p:nvSpPr>
        <p:spPr>
          <a:xfrm>
            <a:off x="548640" y="1508760"/>
            <a:ext cx="5364328" cy="2263140"/>
          </a:xfrm>
          <a:prstGeom prst="roundRect">
            <a:avLst>
              <a:gd name="adj" fmla="val 3232"/>
            </a:avLst>
          </a:prstGeom>
          <a:solidFill>
            <a:srgbClr val="F2F6F9"/>
          </a:solidFill>
          <a:ln/>
        </p:spPr>
      </p:sp>
      <p:sp>
        <p:nvSpPr>
          <p:cNvPr id="5" name="Shape 3"/>
          <p:cNvSpPr/>
          <p:nvPr/>
        </p:nvSpPr>
        <p:spPr>
          <a:xfrm>
            <a:off x="777240" y="1737360"/>
            <a:ext cx="384048" cy="384048"/>
          </a:xfrm>
          <a:prstGeom prst="ellipse">
            <a:avLst/>
          </a:prstGeom>
          <a:solidFill>
            <a:srgbClr val="0D2C4B"/>
          </a:solidFill>
          <a:ln/>
        </p:spPr>
      </p:sp>
      <p:sp>
        <p:nvSpPr>
          <p:cNvPr id="6" name="Text 4"/>
          <p:cNvSpPr/>
          <p:nvPr/>
        </p:nvSpPr>
        <p:spPr>
          <a:xfrm>
            <a:off x="777240" y="17373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98448" y="17282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Consent &amp; Transparency</a:t>
            </a:r>
            <a:endParaRPr lang="en-US" sz="1450" dirty="0"/>
          </a:p>
        </p:txBody>
      </p:sp>
      <p:sp>
        <p:nvSpPr>
          <p:cNvPr id="8" name="Text 6"/>
          <p:cNvSpPr/>
          <p:nvPr/>
        </p:nvSpPr>
        <p:spPr>
          <a:xfrm>
            <a:off x="777240" y="22585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Obtain informed consent before collecting data, and be clear about what is collected, why, and how it's used.</a:t>
            </a:r>
            <a:endParaRPr lang="en-US" sz="1080" dirty="0"/>
          </a:p>
        </p:txBody>
      </p:sp>
      <p:sp>
        <p:nvSpPr>
          <p:cNvPr id="9" name="Shape 7"/>
          <p:cNvSpPr/>
          <p:nvPr/>
        </p:nvSpPr>
        <p:spPr>
          <a:xfrm>
            <a:off x="6278728" y="1508760"/>
            <a:ext cx="5364328" cy="2263140"/>
          </a:xfrm>
          <a:prstGeom prst="roundRect">
            <a:avLst>
              <a:gd name="adj" fmla="val 3232"/>
            </a:avLst>
          </a:prstGeom>
          <a:solidFill>
            <a:srgbClr val="F2F6F9"/>
          </a:solidFill>
          <a:ln/>
        </p:spPr>
      </p:sp>
      <p:sp>
        <p:nvSpPr>
          <p:cNvPr id="10" name="Shape 8"/>
          <p:cNvSpPr/>
          <p:nvPr/>
        </p:nvSpPr>
        <p:spPr>
          <a:xfrm>
            <a:off x="6507328" y="1737360"/>
            <a:ext cx="384048" cy="384048"/>
          </a:xfrm>
          <a:prstGeom prst="ellipse">
            <a:avLst/>
          </a:prstGeom>
          <a:solidFill>
            <a:srgbClr val="0B8A9C"/>
          </a:solidFill>
          <a:ln/>
        </p:spPr>
      </p:sp>
      <p:sp>
        <p:nvSpPr>
          <p:cNvPr id="11" name="Text 9"/>
          <p:cNvSpPr/>
          <p:nvPr/>
        </p:nvSpPr>
        <p:spPr>
          <a:xfrm>
            <a:off x="6507328" y="17373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7028536" y="17282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Fairness &amp; Non-Discrimination</a:t>
            </a:r>
            <a:endParaRPr lang="en-US" sz="1450" dirty="0"/>
          </a:p>
        </p:txBody>
      </p:sp>
      <p:sp>
        <p:nvSpPr>
          <p:cNvPr id="13" name="Text 11"/>
          <p:cNvSpPr/>
          <p:nvPr/>
        </p:nvSpPr>
        <p:spPr>
          <a:xfrm>
            <a:off x="6507328" y="22585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Identify and mitigate bias in data collection and analysis to ensure fair outcomes.</a:t>
            </a:r>
            <a:endParaRPr lang="en-US" sz="1080" dirty="0"/>
          </a:p>
        </p:txBody>
      </p:sp>
      <p:sp>
        <p:nvSpPr>
          <p:cNvPr id="14" name="Shape 12"/>
          <p:cNvSpPr/>
          <p:nvPr/>
        </p:nvSpPr>
        <p:spPr>
          <a:xfrm>
            <a:off x="548640" y="4137660"/>
            <a:ext cx="5364328" cy="2263140"/>
          </a:xfrm>
          <a:prstGeom prst="roundRect">
            <a:avLst>
              <a:gd name="adj" fmla="val 3232"/>
            </a:avLst>
          </a:prstGeom>
          <a:solidFill>
            <a:srgbClr val="F2F6F9"/>
          </a:solidFill>
          <a:ln/>
        </p:spPr>
      </p:sp>
      <p:sp>
        <p:nvSpPr>
          <p:cNvPr id="15" name="Shape 13"/>
          <p:cNvSpPr/>
          <p:nvPr/>
        </p:nvSpPr>
        <p:spPr>
          <a:xfrm>
            <a:off x="777240" y="4366260"/>
            <a:ext cx="384048" cy="384048"/>
          </a:xfrm>
          <a:prstGeom prst="ellipse">
            <a:avLst/>
          </a:prstGeom>
          <a:solidFill>
            <a:srgbClr val="E8934C"/>
          </a:solidFill>
          <a:ln/>
        </p:spPr>
      </p:sp>
      <p:sp>
        <p:nvSpPr>
          <p:cNvPr id="16" name="Text 14"/>
          <p:cNvSpPr/>
          <p:nvPr/>
        </p:nvSpPr>
        <p:spPr>
          <a:xfrm>
            <a:off x="777240" y="43662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298448" y="43571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Data Minimization &amp; Accountability</a:t>
            </a:r>
            <a:endParaRPr lang="en-US" sz="1450" dirty="0"/>
          </a:p>
        </p:txBody>
      </p:sp>
      <p:sp>
        <p:nvSpPr>
          <p:cNvPr id="18" name="Text 16"/>
          <p:cNvSpPr/>
          <p:nvPr/>
        </p:nvSpPr>
        <p:spPr>
          <a:xfrm>
            <a:off x="777240" y="48874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Collect only what's necessary, and take responsibility for how data is handled across its lifecycle.</a:t>
            </a:r>
            <a:endParaRPr lang="en-US" sz="1080" dirty="0"/>
          </a:p>
        </p:txBody>
      </p:sp>
      <p:sp>
        <p:nvSpPr>
          <p:cNvPr id="19" name="Shape 17"/>
          <p:cNvSpPr/>
          <p:nvPr/>
        </p:nvSpPr>
        <p:spPr>
          <a:xfrm>
            <a:off x="6278728" y="4137660"/>
            <a:ext cx="5364328" cy="2263140"/>
          </a:xfrm>
          <a:prstGeom prst="roundRect">
            <a:avLst>
              <a:gd name="adj" fmla="val 3232"/>
            </a:avLst>
          </a:prstGeom>
          <a:solidFill>
            <a:srgbClr val="F2F6F9"/>
          </a:solidFill>
          <a:ln/>
        </p:spPr>
      </p:sp>
      <p:sp>
        <p:nvSpPr>
          <p:cNvPr id="20" name="Shape 18"/>
          <p:cNvSpPr/>
          <p:nvPr/>
        </p:nvSpPr>
        <p:spPr>
          <a:xfrm>
            <a:off x="6507328" y="4366260"/>
            <a:ext cx="384048" cy="384048"/>
          </a:xfrm>
          <a:prstGeom prst="ellipse">
            <a:avLst/>
          </a:prstGeom>
          <a:solidFill>
            <a:srgbClr val="C85A46"/>
          </a:solidFill>
          <a:ln/>
        </p:spPr>
      </p:sp>
      <p:sp>
        <p:nvSpPr>
          <p:cNvPr id="21" name="Text 19"/>
          <p:cNvSpPr/>
          <p:nvPr/>
        </p:nvSpPr>
        <p:spPr>
          <a:xfrm>
            <a:off x="6507328" y="43662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7028536" y="4357116"/>
            <a:ext cx="4449928" cy="411480"/>
          </a:xfrm>
          <a:prstGeom prst="rect">
            <a:avLst/>
          </a:prstGeom>
          <a:noFill/>
          <a:ln/>
        </p:spPr>
        <p:txBody>
          <a:bodyPr wrap="square" lIns="0" tIns="0" rIns="0" bIns="0" rtlCol="0" anchor="ctr"/>
          <a:lstStyle/>
          <a:p>
            <a:pPr indent="0" marL="0">
              <a:buNone/>
            </a:pPr>
            <a:r>
              <a:rPr lang="en-US" sz="1450" b="1" dirty="0">
                <a:solidFill>
                  <a:srgbClr val="1C2B39"/>
                </a:solidFill>
                <a:latin typeface="Calibri" pitchFamily="34" charset="0"/>
                <a:ea typeface="Calibri" pitchFamily="34" charset="-122"/>
                <a:cs typeface="Calibri" pitchFamily="34" charset="-120"/>
              </a:rPr>
              <a:t>Privacy, Security &amp; Integrity</a:t>
            </a:r>
            <a:endParaRPr lang="en-US" sz="1450" dirty="0"/>
          </a:p>
        </p:txBody>
      </p:sp>
      <p:sp>
        <p:nvSpPr>
          <p:cNvPr id="23" name="Text 21"/>
          <p:cNvSpPr/>
          <p:nvPr/>
        </p:nvSpPr>
        <p:spPr>
          <a:xfrm>
            <a:off x="6507328" y="4887468"/>
            <a:ext cx="4907128" cy="1348740"/>
          </a:xfrm>
          <a:prstGeom prst="rect">
            <a:avLst/>
          </a:prstGeom>
          <a:noFill/>
          <a:ln/>
        </p:spPr>
        <p:txBody>
          <a:bodyPr wrap="square" lIns="0" tIns="0" rIns="0" bIns="0" rtlCol="0" anchor="ctr"/>
          <a:lstStyle/>
          <a:p>
            <a:pPr indent="0" marL="0">
              <a:lnSpc>
                <a:spcPts val="1400"/>
              </a:lnSpc>
              <a:buNone/>
            </a:pPr>
            <a:r>
              <a:rPr lang="en-US" sz="1080" dirty="0">
                <a:solidFill>
                  <a:srgbClr val="5B6B7C"/>
                </a:solidFill>
                <a:latin typeface="Calibri" pitchFamily="34" charset="0"/>
                <a:ea typeface="Calibri" pitchFamily="34" charset="-122"/>
                <a:cs typeface="Calibri" pitchFamily="34" charset="-120"/>
              </a:rPr>
              <a:t>Protect personal data from unauthorized access and ensure its accuracy and reliability.</a:t>
            </a:r>
            <a:endParaRPr lang="en-US" sz="1080" dirty="0"/>
          </a:p>
        </p:txBody>
      </p:sp>
      <p:sp>
        <p:nvSpPr>
          <p:cNvPr id="24"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DATA GOVERNANCE &amp; ETHICS</a:t>
            </a:r>
            <a:endParaRPr lang="en-US" sz="900" dirty="0"/>
          </a:p>
        </p:txBody>
      </p:sp>
      <p:sp>
        <p:nvSpPr>
          <p:cNvPr id="25" name="Text 2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83</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081826"/>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63A5C">
              <a:alpha val="65000"/>
            </a:srgbClr>
          </a:solidFill>
          <a:ln/>
        </p:spPr>
      </p:sp>
      <p:sp>
        <p:nvSpPr>
          <p:cNvPr id="3" name="Shape 1"/>
          <p:cNvSpPr/>
          <p:nvPr/>
        </p:nvSpPr>
        <p:spPr>
          <a:xfrm>
            <a:off x="-1280160" y="4937760"/>
            <a:ext cx="3291840" cy="3291840"/>
          </a:xfrm>
          <a:prstGeom prst="ellipse">
            <a:avLst/>
          </a:prstGeom>
          <a:solidFill>
            <a:srgbClr val="12B5CB">
              <a:alpha val="18000"/>
            </a:srgbClr>
          </a:solidFill>
          <a:ln/>
        </p:spPr>
      </p:sp>
      <p:sp>
        <p:nvSpPr>
          <p:cNvPr id="4" name="Text 2"/>
          <p:cNvSpPr/>
          <p:nvPr/>
        </p:nvSpPr>
        <p:spPr>
          <a:xfrm>
            <a:off x="548640" y="1965960"/>
            <a:ext cx="3657600" cy="1463040"/>
          </a:xfrm>
          <a:prstGeom prst="rect">
            <a:avLst/>
          </a:prstGeom>
          <a:noFill/>
          <a:ln/>
        </p:spPr>
        <p:txBody>
          <a:bodyPr wrap="square" lIns="0" tIns="0" rIns="0" bIns="0" rtlCol="0" anchor="ctr"/>
          <a:lstStyle/>
          <a:p>
            <a:pPr indent="0" marL="0">
              <a:buNone/>
            </a:pPr>
            <a:r>
              <a:rPr lang="en-US" sz="9000" b="1" dirty="0">
                <a:solidFill>
                  <a:srgbClr val="12B5CB"/>
                </a:solidFill>
                <a:latin typeface="Cambria" pitchFamily="34" charset="0"/>
                <a:ea typeface="Cambria" pitchFamily="34" charset="-122"/>
                <a:cs typeface="Cambria" pitchFamily="34" charset="-120"/>
              </a:rPr>
              <a:t>10</a:t>
            </a:r>
            <a:endParaRPr lang="en-US" sz="9000" dirty="0"/>
          </a:p>
        </p:txBody>
      </p:sp>
      <p:sp>
        <p:nvSpPr>
          <p:cNvPr id="5" name="Text 3"/>
          <p:cNvSpPr/>
          <p:nvPr/>
        </p:nvSpPr>
        <p:spPr>
          <a:xfrm>
            <a:off x="548640" y="3429000"/>
            <a:ext cx="9601200" cy="1188720"/>
          </a:xfrm>
          <a:prstGeom prst="rect">
            <a:avLst/>
          </a:prstGeom>
          <a:noFill/>
          <a:ln/>
        </p:spPr>
        <p:txBody>
          <a:bodyPr wrap="square" lIns="0" tIns="0" rIns="0" bIns="0"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Data Privacy Regulation</a:t>
            </a:r>
            <a:endParaRPr lang="en-US" sz="3400" dirty="0"/>
          </a:p>
        </p:txBody>
      </p:sp>
      <p:sp>
        <p:nvSpPr>
          <p:cNvPr id="6" name="Text 4"/>
          <p:cNvSpPr/>
          <p:nvPr/>
        </p:nvSpPr>
        <p:spPr>
          <a:xfrm>
            <a:off x="548640" y="4526280"/>
            <a:ext cx="8412480" cy="731520"/>
          </a:xfrm>
          <a:prstGeom prst="rect">
            <a:avLst/>
          </a:prstGeom>
          <a:noFill/>
          <a:ln/>
        </p:spPr>
        <p:txBody>
          <a:bodyPr wrap="square" lIns="0" tIns="0" rIns="0" bIns="0" rtlCol="0" anchor="ctr"/>
          <a:lstStyle/>
          <a:p>
            <a:pPr indent="0" marL="0">
              <a:lnSpc>
                <a:spcPts val="1900"/>
              </a:lnSpc>
              <a:buNone/>
            </a:pPr>
            <a:r>
              <a:rPr lang="en-US" sz="1400" dirty="0">
                <a:solidFill>
                  <a:srgbClr val="9FB6C9"/>
                </a:solidFill>
                <a:latin typeface="Calibri" pitchFamily="34" charset="0"/>
                <a:ea typeface="Calibri" pitchFamily="34" charset="-122"/>
                <a:cs typeface="Calibri" pitchFamily="34" charset="-120"/>
              </a:rPr>
              <a:t>Comparing the world's two most influential privacy laws — GDPR and CCPA.</a:t>
            </a:r>
            <a:endParaRPr lang="en-US" sz="1400" dirty="0"/>
          </a:p>
        </p:txBody>
      </p:sp>
      <p:sp>
        <p:nvSpPr>
          <p:cNvPr id="7" name="Text 5"/>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9FB6C9"/>
                </a:solidFill>
                <a:latin typeface="Calibri" pitchFamily="34" charset="0"/>
                <a:ea typeface="Calibri" pitchFamily="34" charset="-122"/>
                <a:cs typeface="Calibri" pitchFamily="34" charset="-120"/>
              </a:rPr>
              <a:t>DATA PRIVACY REGULATION</a:t>
            </a:r>
            <a:endParaRPr lang="en-US" sz="900" dirty="0"/>
          </a:p>
        </p:txBody>
      </p:sp>
      <p:sp>
        <p:nvSpPr>
          <p:cNvPr id="8" name="Text 6"/>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9FB6C9"/>
                </a:solidFill>
                <a:latin typeface="Calibri" pitchFamily="34" charset="0"/>
                <a:ea typeface="Calibri" pitchFamily="34" charset="-122"/>
                <a:cs typeface="Calibri" pitchFamily="34" charset="-120"/>
              </a:rPr>
              <a:t>84</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DATA PRIVACY REGULATION</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GDPR vs. CCPA — Overview</a:t>
            </a:r>
            <a:endParaRPr lang="en-US" sz="2700" dirty="0"/>
          </a:p>
        </p:txBody>
      </p:sp>
      <p:sp>
        <p:nvSpPr>
          <p:cNvPr id="4" name="Shape 2"/>
          <p:cNvSpPr/>
          <p:nvPr/>
        </p:nvSpPr>
        <p:spPr>
          <a:xfrm>
            <a:off x="548640" y="1691640"/>
            <a:ext cx="5257800" cy="2926080"/>
          </a:xfrm>
          <a:prstGeom prst="roundRect">
            <a:avLst>
              <a:gd name="adj" fmla="val 2500"/>
            </a:avLst>
          </a:prstGeom>
          <a:solidFill>
            <a:srgbClr val="F2F6F9"/>
          </a:solidFill>
          <a:ln/>
        </p:spPr>
      </p:sp>
      <p:sp>
        <p:nvSpPr>
          <p:cNvPr id="5" name="Shape 3"/>
          <p:cNvSpPr/>
          <p:nvPr/>
        </p:nvSpPr>
        <p:spPr>
          <a:xfrm>
            <a:off x="548640" y="1691640"/>
            <a:ext cx="5257800" cy="566928"/>
          </a:xfrm>
          <a:prstGeom prst="roundRect">
            <a:avLst>
              <a:gd name="adj" fmla="val 12903"/>
            </a:avLst>
          </a:prstGeom>
          <a:solidFill>
            <a:srgbClr val="0D2C4B"/>
          </a:solidFill>
          <a:ln/>
        </p:spPr>
      </p:sp>
      <p:sp>
        <p:nvSpPr>
          <p:cNvPr id="6" name="Shape 4"/>
          <p:cNvSpPr/>
          <p:nvPr/>
        </p:nvSpPr>
        <p:spPr>
          <a:xfrm>
            <a:off x="548640" y="2011680"/>
            <a:ext cx="5257800" cy="246888"/>
          </a:xfrm>
          <a:prstGeom prst="rect">
            <a:avLst/>
          </a:prstGeom>
          <a:solidFill>
            <a:srgbClr val="0D2C4B"/>
          </a:solidFill>
          <a:ln/>
        </p:spPr>
      </p:sp>
      <p:sp>
        <p:nvSpPr>
          <p:cNvPr id="7" name="Text 5"/>
          <p:cNvSpPr/>
          <p:nvPr/>
        </p:nvSpPr>
        <p:spPr>
          <a:xfrm>
            <a:off x="822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GDPR Focus</a:t>
            </a:r>
            <a:endParaRPr lang="en-US" sz="1550" dirty="0"/>
          </a:p>
        </p:txBody>
      </p:sp>
      <p:sp>
        <p:nvSpPr>
          <p:cNvPr id="8" name="Shape 6"/>
          <p:cNvSpPr/>
          <p:nvPr/>
        </p:nvSpPr>
        <p:spPr>
          <a:xfrm>
            <a:off x="822960" y="2523744"/>
            <a:ext cx="82296" cy="82296"/>
          </a:xfrm>
          <a:prstGeom prst="ellipse">
            <a:avLst/>
          </a:prstGeom>
          <a:solidFill>
            <a:srgbClr val="0D2C4B"/>
          </a:solidFill>
          <a:ln/>
        </p:spPr>
      </p:sp>
      <p:sp>
        <p:nvSpPr>
          <p:cNvPr id="9" name="Text 7"/>
          <p:cNvSpPr/>
          <p:nvPr/>
        </p:nvSpPr>
        <p:spPr>
          <a:xfrm>
            <a:off x="1024128" y="2395728"/>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Broad data protection &amp; privacy framework</a:t>
            </a:r>
            <a:endParaRPr lang="en-US" sz="1200" dirty="0"/>
          </a:p>
        </p:txBody>
      </p:sp>
      <p:sp>
        <p:nvSpPr>
          <p:cNvPr id="10" name="Shape 8"/>
          <p:cNvSpPr/>
          <p:nvPr/>
        </p:nvSpPr>
        <p:spPr>
          <a:xfrm>
            <a:off x="822960" y="2944368"/>
            <a:ext cx="82296" cy="82296"/>
          </a:xfrm>
          <a:prstGeom prst="ellipse">
            <a:avLst/>
          </a:prstGeom>
          <a:solidFill>
            <a:srgbClr val="0D2C4B"/>
          </a:solidFill>
          <a:ln/>
        </p:spPr>
      </p:sp>
      <p:sp>
        <p:nvSpPr>
          <p:cNvPr id="11" name="Text 9"/>
          <p:cNvSpPr/>
          <p:nvPr/>
        </p:nvSpPr>
        <p:spPr>
          <a:xfrm>
            <a:off x="1024128" y="2816352"/>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Strong on lawful basis, consent, and data minimization</a:t>
            </a:r>
            <a:endParaRPr lang="en-US" sz="1200" dirty="0"/>
          </a:p>
        </p:txBody>
      </p:sp>
      <p:sp>
        <p:nvSpPr>
          <p:cNvPr id="12" name="Shape 10"/>
          <p:cNvSpPr/>
          <p:nvPr/>
        </p:nvSpPr>
        <p:spPr>
          <a:xfrm>
            <a:off x="822960" y="3364992"/>
            <a:ext cx="82296" cy="82296"/>
          </a:xfrm>
          <a:prstGeom prst="ellipse">
            <a:avLst/>
          </a:prstGeom>
          <a:solidFill>
            <a:srgbClr val="0D2C4B"/>
          </a:solidFill>
          <a:ln/>
        </p:spPr>
      </p:sp>
      <p:sp>
        <p:nvSpPr>
          <p:cNvPr id="13" name="Text 11"/>
          <p:cNvSpPr/>
          <p:nvPr/>
        </p:nvSpPr>
        <p:spPr>
          <a:xfrm>
            <a:off x="1024128" y="3236976"/>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Applies across the EU and EEA</a:t>
            </a:r>
            <a:endParaRPr lang="en-US" sz="1200" dirty="0"/>
          </a:p>
        </p:txBody>
      </p:sp>
      <p:sp>
        <p:nvSpPr>
          <p:cNvPr id="14" name="Shape 12"/>
          <p:cNvSpPr/>
          <p:nvPr/>
        </p:nvSpPr>
        <p:spPr>
          <a:xfrm>
            <a:off x="6263640" y="1691640"/>
            <a:ext cx="5257800" cy="2926080"/>
          </a:xfrm>
          <a:prstGeom prst="roundRect">
            <a:avLst>
              <a:gd name="adj" fmla="val 2500"/>
            </a:avLst>
          </a:prstGeom>
          <a:solidFill>
            <a:srgbClr val="F2F6F9"/>
          </a:solidFill>
          <a:ln/>
        </p:spPr>
      </p:sp>
      <p:sp>
        <p:nvSpPr>
          <p:cNvPr id="15" name="Shape 13"/>
          <p:cNvSpPr/>
          <p:nvPr/>
        </p:nvSpPr>
        <p:spPr>
          <a:xfrm>
            <a:off x="6263640" y="1691640"/>
            <a:ext cx="5257800" cy="566928"/>
          </a:xfrm>
          <a:prstGeom prst="roundRect">
            <a:avLst>
              <a:gd name="adj" fmla="val 12903"/>
            </a:avLst>
          </a:prstGeom>
          <a:solidFill>
            <a:srgbClr val="0B8A9C"/>
          </a:solidFill>
          <a:ln/>
        </p:spPr>
      </p:sp>
      <p:sp>
        <p:nvSpPr>
          <p:cNvPr id="16" name="Shape 14"/>
          <p:cNvSpPr/>
          <p:nvPr/>
        </p:nvSpPr>
        <p:spPr>
          <a:xfrm>
            <a:off x="6263640" y="2011680"/>
            <a:ext cx="5257800" cy="246888"/>
          </a:xfrm>
          <a:prstGeom prst="rect">
            <a:avLst/>
          </a:prstGeom>
          <a:solidFill>
            <a:srgbClr val="0B8A9C"/>
          </a:solidFill>
          <a:ln/>
        </p:spPr>
      </p:sp>
      <p:sp>
        <p:nvSpPr>
          <p:cNvPr id="17" name="Text 15"/>
          <p:cNvSpPr/>
          <p:nvPr/>
        </p:nvSpPr>
        <p:spPr>
          <a:xfrm>
            <a:off x="6537960" y="1691640"/>
            <a:ext cx="4709160" cy="56692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CCPA Focus</a:t>
            </a:r>
            <a:endParaRPr lang="en-US" sz="1550" dirty="0"/>
          </a:p>
        </p:txBody>
      </p:sp>
      <p:sp>
        <p:nvSpPr>
          <p:cNvPr id="18" name="Shape 16"/>
          <p:cNvSpPr/>
          <p:nvPr/>
        </p:nvSpPr>
        <p:spPr>
          <a:xfrm>
            <a:off x="6537960" y="2523744"/>
            <a:ext cx="82296" cy="82296"/>
          </a:xfrm>
          <a:prstGeom prst="ellipse">
            <a:avLst/>
          </a:prstGeom>
          <a:solidFill>
            <a:srgbClr val="0B8A9C"/>
          </a:solidFill>
          <a:ln/>
        </p:spPr>
      </p:sp>
      <p:sp>
        <p:nvSpPr>
          <p:cNvPr id="19" name="Text 17"/>
          <p:cNvSpPr/>
          <p:nvPr/>
        </p:nvSpPr>
        <p:spPr>
          <a:xfrm>
            <a:off x="6739128" y="2395728"/>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Consumer rights and data transparency</a:t>
            </a:r>
            <a:endParaRPr lang="en-US" sz="1200" dirty="0"/>
          </a:p>
        </p:txBody>
      </p:sp>
      <p:sp>
        <p:nvSpPr>
          <p:cNvPr id="20" name="Shape 18"/>
          <p:cNvSpPr/>
          <p:nvPr/>
        </p:nvSpPr>
        <p:spPr>
          <a:xfrm>
            <a:off x="6537960" y="2944368"/>
            <a:ext cx="82296" cy="82296"/>
          </a:xfrm>
          <a:prstGeom prst="ellipse">
            <a:avLst/>
          </a:prstGeom>
          <a:solidFill>
            <a:srgbClr val="0B8A9C"/>
          </a:solidFill>
          <a:ln/>
        </p:spPr>
      </p:sp>
      <p:sp>
        <p:nvSpPr>
          <p:cNvPr id="21" name="Text 19"/>
          <p:cNvSpPr/>
          <p:nvPr/>
        </p:nvSpPr>
        <p:spPr>
          <a:xfrm>
            <a:off x="6739128" y="2816352"/>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Strong on “Do Not Sell or Share My Personal Information”</a:t>
            </a:r>
            <a:endParaRPr lang="en-US" sz="1200" dirty="0"/>
          </a:p>
        </p:txBody>
      </p:sp>
      <p:sp>
        <p:nvSpPr>
          <p:cNvPr id="22" name="Shape 20"/>
          <p:cNvSpPr/>
          <p:nvPr/>
        </p:nvSpPr>
        <p:spPr>
          <a:xfrm>
            <a:off x="6537960" y="3364992"/>
            <a:ext cx="82296" cy="82296"/>
          </a:xfrm>
          <a:prstGeom prst="ellipse">
            <a:avLst/>
          </a:prstGeom>
          <a:solidFill>
            <a:srgbClr val="0B8A9C"/>
          </a:solidFill>
          <a:ln/>
        </p:spPr>
      </p:sp>
      <p:sp>
        <p:nvSpPr>
          <p:cNvPr id="23" name="Text 21"/>
          <p:cNvSpPr/>
          <p:nvPr/>
        </p:nvSpPr>
        <p:spPr>
          <a:xfrm>
            <a:off x="6739128" y="3236976"/>
            <a:ext cx="4526280" cy="457200"/>
          </a:xfrm>
          <a:prstGeom prst="rect">
            <a:avLst/>
          </a:prstGeom>
          <a:noFill/>
          <a:ln/>
        </p:spPr>
        <p:txBody>
          <a:bodyPr wrap="square" lIns="0" tIns="0" rIns="0" bIns="0" rtlCol="0" anchor="ctr"/>
          <a:lstStyle/>
          <a:p>
            <a:pPr indent="0" marL="0">
              <a:lnSpc>
                <a:spcPts val="1500"/>
              </a:lnSpc>
              <a:buNone/>
            </a:pPr>
            <a:r>
              <a:rPr lang="en-US" sz="1200" dirty="0">
                <a:solidFill>
                  <a:srgbClr val="1C2B39"/>
                </a:solidFill>
                <a:latin typeface="Calibri" pitchFamily="34" charset="0"/>
                <a:ea typeface="Calibri" pitchFamily="34" charset="-122"/>
                <a:cs typeface="Calibri" pitchFamily="34" charset="-120"/>
              </a:rPr>
              <a:t>Applies to qualifying businesses in California</a:t>
            </a:r>
            <a:endParaRPr lang="en-US" sz="1200" dirty="0"/>
          </a:p>
        </p:txBody>
      </p:sp>
      <p:sp>
        <p:nvSpPr>
          <p:cNvPr id="24"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DATA PRIVACY REGULATION</a:t>
            </a:r>
            <a:endParaRPr lang="en-US" sz="900" dirty="0"/>
          </a:p>
        </p:txBody>
      </p:sp>
      <p:sp>
        <p:nvSpPr>
          <p:cNvPr id="25" name="Text 2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85</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DATA PRIVACY REGULATION</a:t>
            </a:r>
            <a:endParaRPr lang="en-US" sz="1150" dirty="0"/>
          </a:p>
        </p:txBody>
      </p:sp>
      <p:sp>
        <p:nvSpPr>
          <p:cNvPr id="3" name="Text 1"/>
          <p:cNvSpPr/>
          <p:nvPr/>
        </p:nvSpPr>
        <p:spPr>
          <a:xfrm>
            <a:off x="548640" y="868680"/>
            <a:ext cx="10607040" cy="64008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Key Similarities Between GDPR &amp; CCPA</a:t>
            </a:r>
            <a:endParaRPr lang="en-US" sz="2700" dirty="0"/>
          </a:p>
        </p:txBody>
      </p:sp>
      <p:sp>
        <p:nvSpPr>
          <p:cNvPr id="4" name="Shape 2"/>
          <p:cNvSpPr/>
          <p:nvPr/>
        </p:nvSpPr>
        <p:spPr>
          <a:xfrm>
            <a:off x="548640" y="1591056"/>
            <a:ext cx="384048" cy="384048"/>
          </a:xfrm>
          <a:prstGeom prst="ellipse">
            <a:avLst/>
          </a:prstGeom>
          <a:solidFill>
            <a:srgbClr val="0D2C4B"/>
          </a:solidFill>
          <a:ln/>
        </p:spPr>
      </p:sp>
      <p:sp>
        <p:nvSpPr>
          <p:cNvPr id="5" name="Text 3"/>
          <p:cNvSpPr/>
          <p:nvPr/>
        </p:nvSpPr>
        <p:spPr>
          <a:xfrm>
            <a:off x="548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Shared Goal</a:t>
            </a:r>
            <a:endParaRPr lang="en-US" sz="1350" dirty="0"/>
          </a:p>
        </p:txBody>
      </p:sp>
      <p:sp>
        <p:nvSpPr>
          <p:cNvPr id="7" name="Text 5"/>
          <p:cNvSpPr/>
          <p:nvPr/>
        </p:nvSpPr>
        <p:spPr>
          <a:xfrm>
            <a:off x="1078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Both protect individual data privacy rights and enhance transparency in data handling.</a:t>
            </a:r>
            <a:endParaRPr lang="en-US" sz="1150" dirty="0"/>
          </a:p>
        </p:txBody>
      </p:sp>
      <p:sp>
        <p:nvSpPr>
          <p:cNvPr id="8" name="Shape 6"/>
          <p:cNvSpPr/>
          <p:nvPr/>
        </p:nvSpPr>
        <p:spPr>
          <a:xfrm>
            <a:off x="548640" y="2642616"/>
            <a:ext cx="384048" cy="384048"/>
          </a:xfrm>
          <a:prstGeom prst="ellipse">
            <a:avLst/>
          </a:prstGeom>
          <a:solidFill>
            <a:srgbClr val="0D2C4B"/>
          </a:solidFill>
          <a:ln/>
        </p:spPr>
      </p:sp>
      <p:sp>
        <p:nvSpPr>
          <p:cNvPr id="9" name="Text 7"/>
          <p:cNvSpPr/>
          <p:nvPr/>
        </p:nvSpPr>
        <p:spPr>
          <a:xfrm>
            <a:off x="548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78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Global Reach</a:t>
            </a:r>
            <a:endParaRPr lang="en-US" sz="1350" dirty="0"/>
          </a:p>
        </p:txBody>
      </p:sp>
      <p:sp>
        <p:nvSpPr>
          <p:cNvPr id="11" name="Text 9"/>
          <p:cNvSpPr/>
          <p:nvPr/>
        </p:nvSpPr>
        <p:spPr>
          <a:xfrm>
            <a:off x="1078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Both can apply to organizations worldwide that process EU or California residents' data.</a:t>
            </a:r>
            <a:endParaRPr lang="en-US" sz="1150" dirty="0"/>
          </a:p>
        </p:txBody>
      </p:sp>
      <p:sp>
        <p:nvSpPr>
          <p:cNvPr id="12" name="Shape 10"/>
          <p:cNvSpPr/>
          <p:nvPr/>
        </p:nvSpPr>
        <p:spPr>
          <a:xfrm>
            <a:off x="548640" y="3694176"/>
            <a:ext cx="384048" cy="384048"/>
          </a:xfrm>
          <a:prstGeom prst="ellipse">
            <a:avLst/>
          </a:prstGeom>
          <a:solidFill>
            <a:srgbClr val="0D2C4B"/>
          </a:solidFill>
          <a:ln/>
        </p:spPr>
      </p:sp>
      <p:sp>
        <p:nvSpPr>
          <p:cNvPr id="13" name="Text 11"/>
          <p:cNvSpPr/>
          <p:nvPr/>
        </p:nvSpPr>
        <p:spPr>
          <a:xfrm>
            <a:off x="548640" y="3694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078992" y="363016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Consumer Rights</a:t>
            </a:r>
            <a:endParaRPr lang="en-US" sz="1350" dirty="0"/>
          </a:p>
        </p:txBody>
      </p:sp>
      <p:sp>
        <p:nvSpPr>
          <p:cNvPr id="15" name="Text 13"/>
          <p:cNvSpPr/>
          <p:nvPr/>
        </p:nvSpPr>
        <p:spPr>
          <a:xfrm>
            <a:off x="1078992" y="390448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Both grant the right to know, access, and delete personal data.</a:t>
            </a:r>
            <a:endParaRPr lang="en-US" sz="1150" dirty="0"/>
          </a:p>
        </p:txBody>
      </p:sp>
      <p:sp>
        <p:nvSpPr>
          <p:cNvPr id="16" name="Shape 14"/>
          <p:cNvSpPr/>
          <p:nvPr/>
        </p:nvSpPr>
        <p:spPr>
          <a:xfrm>
            <a:off x="6263640" y="1591056"/>
            <a:ext cx="384048" cy="384048"/>
          </a:xfrm>
          <a:prstGeom prst="ellipse">
            <a:avLst/>
          </a:prstGeom>
          <a:solidFill>
            <a:srgbClr val="0D2C4B"/>
          </a:solidFill>
          <a:ln/>
        </p:spPr>
      </p:sp>
      <p:sp>
        <p:nvSpPr>
          <p:cNvPr id="17" name="Text 15"/>
          <p:cNvSpPr/>
          <p:nvPr/>
        </p:nvSpPr>
        <p:spPr>
          <a:xfrm>
            <a:off x="6263640" y="1591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6793992" y="152704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Security Measures</a:t>
            </a:r>
            <a:endParaRPr lang="en-US" sz="1350" dirty="0"/>
          </a:p>
        </p:txBody>
      </p:sp>
      <p:sp>
        <p:nvSpPr>
          <p:cNvPr id="19" name="Text 17"/>
          <p:cNvSpPr/>
          <p:nvPr/>
        </p:nvSpPr>
        <p:spPr>
          <a:xfrm>
            <a:off x="6793992" y="180136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Both require reasonable security measures and breach notifications.</a:t>
            </a:r>
            <a:endParaRPr lang="en-US" sz="1150" dirty="0"/>
          </a:p>
        </p:txBody>
      </p:sp>
      <p:sp>
        <p:nvSpPr>
          <p:cNvPr id="20" name="Shape 18"/>
          <p:cNvSpPr/>
          <p:nvPr/>
        </p:nvSpPr>
        <p:spPr>
          <a:xfrm>
            <a:off x="6263640" y="2642616"/>
            <a:ext cx="384048" cy="384048"/>
          </a:xfrm>
          <a:prstGeom prst="ellipse">
            <a:avLst/>
          </a:prstGeom>
          <a:solidFill>
            <a:srgbClr val="0D2C4B"/>
          </a:solidFill>
          <a:ln/>
        </p:spPr>
      </p:sp>
      <p:sp>
        <p:nvSpPr>
          <p:cNvPr id="21" name="Text 19"/>
          <p:cNvSpPr/>
          <p:nvPr/>
        </p:nvSpPr>
        <p:spPr>
          <a:xfrm>
            <a:off x="6263640" y="2642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p:nvPr/>
        </p:nvSpPr>
        <p:spPr>
          <a:xfrm>
            <a:off x="6793992" y="2578608"/>
            <a:ext cx="4709160" cy="274320"/>
          </a:xfrm>
          <a:prstGeom prst="rect">
            <a:avLst/>
          </a:prstGeom>
          <a:noFill/>
          <a:ln/>
        </p:spPr>
        <p:txBody>
          <a:bodyPr wrap="square" lIns="0" tIns="0" rIns="0" bIns="0" rtlCol="0" anchor="ctr"/>
          <a:lstStyle/>
          <a:p>
            <a:pPr indent="0" marL="0">
              <a:buNone/>
            </a:pPr>
            <a:r>
              <a:rPr lang="en-US" sz="1350" b="1" dirty="0">
                <a:solidFill>
                  <a:srgbClr val="1C2B39"/>
                </a:solidFill>
                <a:latin typeface="Calibri" pitchFamily="34" charset="0"/>
                <a:ea typeface="Calibri" pitchFamily="34" charset="-122"/>
                <a:cs typeface="Calibri" pitchFamily="34" charset="-120"/>
              </a:rPr>
              <a:t>Penalties</a:t>
            </a:r>
            <a:endParaRPr lang="en-US" sz="1350" dirty="0"/>
          </a:p>
        </p:txBody>
      </p:sp>
      <p:sp>
        <p:nvSpPr>
          <p:cNvPr id="23" name="Text 21"/>
          <p:cNvSpPr/>
          <p:nvPr/>
        </p:nvSpPr>
        <p:spPr>
          <a:xfrm>
            <a:off x="6793992" y="2852928"/>
            <a:ext cx="4709160" cy="777240"/>
          </a:xfrm>
          <a:prstGeom prst="rect">
            <a:avLst/>
          </a:prstGeom>
          <a:noFill/>
          <a:ln/>
        </p:spPr>
        <p:txBody>
          <a:bodyPr wrap="square" lIns="0" tIns="0" rIns="0" bIns="0" rtlCol="0" anchor="ctr"/>
          <a:lstStyle/>
          <a:p>
            <a:pPr indent="0" marL="0">
              <a:lnSpc>
                <a:spcPts val="1450"/>
              </a:lnSpc>
              <a:buNone/>
            </a:pPr>
            <a:r>
              <a:rPr lang="en-US" sz="1150" dirty="0">
                <a:solidFill>
                  <a:srgbClr val="5B6B7C"/>
                </a:solidFill>
                <a:latin typeface="Calibri" pitchFamily="34" charset="0"/>
                <a:ea typeface="Calibri" pitchFamily="34" charset="-122"/>
                <a:cs typeface="Calibri" pitchFamily="34" charset="-120"/>
              </a:rPr>
              <a:t>Both impose significant fines for non-compliance.</a:t>
            </a:r>
            <a:endParaRPr lang="en-US" sz="1150" dirty="0"/>
          </a:p>
        </p:txBody>
      </p:sp>
      <p:sp>
        <p:nvSpPr>
          <p:cNvPr id="24"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DATA PRIVACY REGULATION</a:t>
            </a:r>
            <a:endParaRPr lang="en-US" sz="900" dirty="0"/>
          </a:p>
        </p:txBody>
      </p:sp>
      <p:sp>
        <p:nvSpPr>
          <p:cNvPr id="25" name="Text 2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86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DATA PRIVACY REGULATION</a:t>
            </a:r>
            <a:endParaRPr lang="en-US" sz="1150" dirty="0"/>
          </a:p>
        </p:txBody>
      </p:sp>
      <p:sp>
        <p:nvSpPr>
          <p:cNvPr id="3" name="Text 1"/>
          <p:cNvSpPr/>
          <p:nvPr/>
        </p:nvSpPr>
        <p:spPr>
          <a:xfrm>
            <a:off x="548640" y="868680"/>
            <a:ext cx="10607040" cy="548640"/>
          </a:xfrm>
          <a:prstGeom prst="rect">
            <a:avLst/>
          </a:prstGeom>
          <a:noFill/>
          <a:ln/>
        </p:spPr>
        <p:txBody>
          <a:bodyPr wrap="square" lIns="0" tIns="0" rIns="0" bIns="0" rtlCol="0" anchor="ctr"/>
          <a:lstStyle/>
          <a:p>
            <a:pPr indent="0" marL="0">
              <a:buNone/>
            </a:pPr>
            <a:r>
              <a:rPr lang="en-US" sz="2500" b="1" dirty="0">
                <a:solidFill>
                  <a:srgbClr val="0D2C4B"/>
                </a:solidFill>
                <a:latin typeface="Cambria" pitchFamily="34" charset="0"/>
                <a:ea typeface="Cambria" pitchFamily="34" charset="-122"/>
                <a:cs typeface="Cambria" pitchFamily="34" charset="-120"/>
              </a:rPr>
              <a:t>GDPR vs. CCPA — Detailed Comparison I</a:t>
            </a:r>
            <a:endParaRPr lang="en-US" sz="25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3017520"/>
        </p:xfrm>
        <a:graphic>
          <a:graphicData uri="http://schemas.openxmlformats.org/drawingml/2006/table">
            <a:tbl>
              <a:tblPr/>
              <a:tblGrid>
                <a:gridCol w="2377440"/>
                <a:gridCol w="4480560"/>
                <a:gridCol w="4206240"/>
              </a:tblGrid>
              <a:tr h="7543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Feature</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GDPR</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CCPA</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r>
              <a:tr h="75438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Jurisdiction</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The entire EU and EEA.</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The state of California, U.S.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r h="75438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Who Is Protected</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Any individual in the EU, regardless of citizenship.</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Permanent California residents only.</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r>
              <a:tr h="75438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Scope of Application</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Applies broadly, with no revenue threshold.</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Applies to for-profit businesses above set thresholds (e.g., $25M+ revenue).</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DATA PRIVACY REGULATION</a:t>
            </a:r>
            <a:endParaRPr lang="en-US" sz="900" dirty="0"/>
          </a:p>
        </p:txBody>
      </p:sp>
      <p:sp>
        <p:nvSpPr>
          <p:cNvPr id="6" name="Text 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87</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DATA PRIVACY REGULATION</a:t>
            </a:r>
            <a:endParaRPr lang="en-US" sz="1150" dirty="0"/>
          </a:p>
        </p:txBody>
      </p:sp>
      <p:sp>
        <p:nvSpPr>
          <p:cNvPr id="3" name="Text 1"/>
          <p:cNvSpPr/>
          <p:nvPr/>
        </p:nvSpPr>
        <p:spPr>
          <a:xfrm>
            <a:off x="548640" y="868680"/>
            <a:ext cx="10607040" cy="548640"/>
          </a:xfrm>
          <a:prstGeom prst="rect">
            <a:avLst/>
          </a:prstGeom>
          <a:noFill/>
          <a:ln/>
        </p:spPr>
        <p:txBody>
          <a:bodyPr wrap="square" lIns="0" tIns="0" rIns="0" bIns="0" rtlCol="0" anchor="ctr"/>
          <a:lstStyle/>
          <a:p>
            <a:pPr indent="0" marL="0">
              <a:buNone/>
            </a:pPr>
            <a:r>
              <a:rPr lang="en-US" sz="2500" b="1" dirty="0">
                <a:solidFill>
                  <a:srgbClr val="0D2C4B"/>
                </a:solidFill>
                <a:latin typeface="Cambria" pitchFamily="34" charset="0"/>
                <a:ea typeface="Cambria" pitchFamily="34" charset="-122"/>
                <a:cs typeface="Cambria" pitchFamily="34" charset="-120"/>
              </a:rPr>
              <a:t>GDPR vs. CCPA — Detailed Comparison II</a:t>
            </a:r>
            <a:endParaRPr lang="en-US" sz="2500" dirty="0"/>
          </a:p>
        </p:txBody>
      </p:sp>
      <p:graphicFrame>
        <p:nvGraphicFramePr>
          <p:cNvPr id="8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3200400"/>
        </p:xfrm>
        <a:graphic>
          <a:graphicData uri="http://schemas.openxmlformats.org/drawingml/2006/table">
            <a:tbl>
              <a:tblPr/>
              <a:tblGrid>
                <a:gridCol w="2377440"/>
                <a:gridCol w="4480560"/>
                <a:gridCol w="4206240"/>
              </a:tblGrid>
              <a:tr h="8001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Feature</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GDPR</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CCPA</a:t>
                      </a:r>
                      <a:endParaRPr lang="en-US" sz="1150" dirty="0">
                        <a:latin typeface="Calibri" charset="0"/>
                        <a:ea typeface="Calibri" charset="0"/>
                        <a:cs typeface="Calibri" charset="0"/>
                      </a:endParaRPr>
                    </a:p>
                  </a:txBody>
                  <a:tcPr marL="101600" marR="101600" marT="50800" marB="50800" anchor="ctr">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0D2C4B"/>
                    </a:solidFill>
                  </a:tcPr>
                </a:tc>
              </a:tr>
              <a:tr h="80010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Legal Basis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Requires a legal basis (e.g., opt-in consent) before processing.</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Allows processing by default; requires an opt-out option.</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r h="80010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User Rights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Access, deletion, rectification, portability, objection.</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Know, delete, opt-out of sale, nondiscrimination, correct data (CPRA).</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2F6F9"/>
                    </a:solidFill>
                  </a:tcPr>
                </a:tc>
              </a:tr>
              <a:tr h="800100">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Penalties</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Up to €20M or 4% of global annual turnover.</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050" dirty="0">
                          <a:solidFill>
                            <a:srgbClr val="1C2B39"/>
                          </a:solidFill>
                          <a:latin typeface="Calibri" pitchFamily="34" charset="0"/>
                          <a:ea typeface="Calibri" pitchFamily="34" charset="-122"/>
                          <a:cs typeface="Calibri" pitchFamily="34" charset="-120"/>
                        </a:rPr>
                        <a:t>$2,500–$7,500 per violation, plus civil litigation exposure.</a:t>
                      </a:r>
                      <a:endParaRPr lang="en-US" sz="1050" dirty="0">
                        <a:latin typeface="Calibri" charset="0"/>
                        <a:ea typeface="Calibri" charset="0"/>
                        <a:cs typeface="Calibri" charset="0"/>
                      </a:endParaRPr>
                    </a:p>
                  </a:txBody>
                  <a:tcPr marL="101600" marR="101600" marT="50800" marB="50800" anchor="t">
                    <a:lnL w="9525" cap="flat" cmpd="sng" algn="ctr">
                      <a:solidFill>
                        <a:srgbClr val="DCE6ED"/>
                      </a:solidFill>
                      <a:prstDash val="solid"/>
                      <a:round/>
                      <a:headEnd type="none" w="med" len="med"/>
                      <a:tailEnd type="none" w="med" len="med"/>
                    </a:lnL>
                    <a:lnR w="9525" cap="flat" cmpd="sng" algn="ctr">
                      <a:solidFill>
                        <a:srgbClr val="DCE6ED"/>
                      </a:solidFill>
                      <a:prstDash val="solid"/>
                      <a:round/>
                      <a:headEnd type="none" w="med" len="med"/>
                      <a:tailEnd type="none" w="med" len="med"/>
                    </a:lnR>
                    <a:lnT w="9525" cap="flat" cmpd="sng" algn="ctr">
                      <a:solidFill>
                        <a:srgbClr val="DCE6ED"/>
                      </a:solidFill>
                      <a:prstDash val="solid"/>
                      <a:round/>
                      <a:headEnd type="none" w="med" len="med"/>
                      <a:tailEnd type="none" w="med" len="med"/>
                    </a:lnT>
                    <a:lnB w="9525" cap="flat" cmpd="sng" algn="ctr">
                      <a:solidFill>
                        <a:srgbClr val="DCE6ED"/>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DATA PRIVACY REGULATION</a:t>
            </a:r>
            <a:endParaRPr lang="en-US" sz="900" dirty="0"/>
          </a:p>
        </p:txBody>
      </p:sp>
      <p:sp>
        <p:nvSpPr>
          <p:cNvPr id="6" name="Text 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88</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150" b="1" spc="200" kern="0" dirty="0">
                <a:solidFill>
                  <a:srgbClr val="12B5CB"/>
                </a:solidFill>
                <a:latin typeface="Calibri" pitchFamily="34" charset="0"/>
                <a:ea typeface="Calibri" pitchFamily="34" charset="-122"/>
                <a:cs typeface="Calibri" pitchFamily="34" charset="-120"/>
              </a:rPr>
              <a:t>CLOSING</a:t>
            </a:r>
            <a:endParaRPr lang="en-US" sz="1150" dirty="0"/>
          </a:p>
        </p:txBody>
      </p:sp>
      <p:sp>
        <p:nvSpPr>
          <p:cNvPr id="3" name="Text 1"/>
          <p:cNvSpPr/>
          <p:nvPr/>
        </p:nvSpPr>
        <p:spPr>
          <a:xfrm>
            <a:off x="548640" y="868680"/>
            <a:ext cx="10607040" cy="548640"/>
          </a:xfrm>
          <a:prstGeom prst="rect">
            <a:avLst/>
          </a:prstGeom>
          <a:noFill/>
          <a:ln/>
        </p:spPr>
        <p:txBody>
          <a:bodyPr wrap="square" lIns="0" tIns="0" rIns="0" bIns="0" rtlCol="0" anchor="ctr"/>
          <a:lstStyle/>
          <a:p>
            <a:pPr indent="0" marL="0">
              <a:buNone/>
            </a:pPr>
            <a:r>
              <a:rPr lang="en-US" sz="2700" b="1" dirty="0">
                <a:solidFill>
                  <a:srgbClr val="0D2C4B"/>
                </a:solidFill>
                <a:latin typeface="Cambria" pitchFamily="34" charset="0"/>
                <a:ea typeface="Cambria" pitchFamily="34" charset="-122"/>
                <a:cs typeface="Cambria" pitchFamily="34" charset="-120"/>
              </a:rPr>
              <a:t>Key Takeaways</a:t>
            </a:r>
            <a:endParaRPr lang="en-US" sz="2700" dirty="0"/>
          </a:p>
        </p:txBody>
      </p:sp>
      <p:sp>
        <p:nvSpPr>
          <p:cNvPr id="4" name="Shape 2"/>
          <p:cNvSpPr/>
          <p:nvPr/>
        </p:nvSpPr>
        <p:spPr>
          <a:xfrm>
            <a:off x="548640" y="1645920"/>
            <a:ext cx="3423818" cy="4480560"/>
          </a:xfrm>
          <a:prstGeom prst="roundRect">
            <a:avLst>
              <a:gd name="adj" fmla="val 2137"/>
            </a:avLst>
          </a:prstGeom>
          <a:solidFill>
            <a:srgbClr val="F2F6F9"/>
          </a:solidFill>
          <a:ln/>
        </p:spPr>
      </p:sp>
      <p:sp>
        <p:nvSpPr>
          <p:cNvPr id="5" name="Shape 3"/>
          <p:cNvSpPr/>
          <p:nvPr/>
        </p:nvSpPr>
        <p:spPr>
          <a:xfrm>
            <a:off x="804672" y="1901952"/>
            <a:ext cx="402336" cy="402336"/>
          </a:xfrm>
          <a:prstGeom prst="ellipse">
            <a:avLst/>
          </a:prstGeom>
          <a:solidFill>
            <a:srgbClr val="0D2C4B"/>
          </a:solidFill>
          <a:ln/>
        </p:spPr>
      </p:sp>
      <p:sp>
        <p:nvSpPr>
          <p:cNvPr id="6" name="Text 4"/>
          <p:cNvSpPr/>
          <p:nvPr/>
        </p:nvSpPr>
        <p:spPr>
          <a:xfrm>
            <a:off x="804672" y="19019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804672" y="2423160"/>
            <a:ext cx="2911754" cy="502920"/>
          </a:xfrm>
          <a:prstGeom prst="rect">
            <a:avLst/>
          </a:prstGeom>
          <a:noFill/>
          <a:ln/>
        </p:spPr>
        <p:txBody>
          <a:bodyPr wrap="square" lIns="0" tIns="0" rIns="0" bIns="0" rtlCol="0" anchor="ctr"/>
          <a:lstStyle/>
          <a:p>
            <a:pPr indent="0" marL="0">
              <a:lnSpc>
                <a:spcPts val="1700"/>
              </a:lnSpc>
              <a:buNone/>
            </a:pPr>
            <a:r>
              <a:rPr lang="en-US" sz="1450" b="1" dirty="0">
                <a:solidFill>
                  <a:srgbClr val="1C2B39"/>
                </a:solidFill>
                <a:latin typeface="Calibri" pitchFamily="34" charset="0"/>
                <a:ea typeface="Calibri" pitchFamily="34" charset="-122"/>
                <a:cs typeface="Calibri" pitchFamily="34" charset="-120"/>
              </a:rPr>
              <a:t>IT Is the Backbone</a:t>
            </a:r>
            <a:endParaRPr lang="en-US" sz="1450" dirty="0"/>
          </a:p>
        </p:txBody>
      </p:sp>
      <p:sp>
        <p:nvSpPr>
          <p:cNvPr id="8" name="Shape 6"/>
          <p:cNvSpPr/>
          <p:nvPr/>
        </p:nvSpPr>
        <p:spPr>
          <a:xfrm>
            <a:off x="822960" y="3072384"/>
            <a:ext cx="73152" cy="73152"/>
          </a:xfrm>
          <a:prstGeom prst="ellipse">
            <a:avLst/>
          </a:prstGeom>
          <a:solidFill>
            <a:srgbClr val="0B8A9C"/>
          </a:solidFill>
          <a:ln/>
        </p:spPr>
      </p:sp>
      <p:sp>
        <p:nvSpPr>
          <p:cNvPr id="9" name="Text 7"/>
          <p:cNvSpPr/>
          <p:nvPr/>
        </p:nvSpPr>
        <p:spPr>
          <a:xfrm>
            <a:off x="1005840" y="2944368"/>
            <a:ext cx="2710586" cy="54864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Hardware, software, networks, and data underpin every modern organization.</a:t>
            </a:r>
            <a:endParaRPr lang="en-US" sz="1080" dirty="0"/>
          </a:p>
        </p:txBody>
      </p:sp>
      <p:sp>
        <p:nvSpPr>
          <p:cNvPr id="10" name="Shape 8"/>
          <p:cNvSpPr/>
          <p:nvPr/>
        </p:nvSpPr>
        <p:spPr>
          <a:xfrm>
            <a:off x="822960" y="3639312"/>
            <a:ext cx="73152" cy="73152"/>
          </a:xfrm>
          <a:prstGeom prst="ellipse">
            <a:avLst/>
          </a:prstGeom>
          <a:solidFill>
            <a:srgbClr val="0B8A9C"/>
          </a:solidFill>
          <a:ln/>
        </p:spPr>
      </p:sp>
      <p:sp>
        <p:nvSpPr>
          <p:cNvPr id="11" name="Text 9"/>
          <p:cNvSpPr/>
          <p:nvPr/>
        </p:nvSpPr>
        <p:spPr>
          <a:xfrm>
            <a:off x="1005840" y="3511296"/>
            <a:ext cx="2710586" cy="54864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Cloud and cybersecurity now dominate IT investment priorities.</a:t>
            </a:r>
            <a:endParaRPr lang="en-US" sz="1080" dirty="0"/>
          </a:p>
        </p:txBody>
      </p:sp>
      <p:sp>
        <p:nvSpPr>
          <p:cNvPr id="12" name="Shape 10"/>
          <p:cNvSpPr/>
          <p:nvPr/>
        </p:nvSpPr>
        <p:spPr>
          <a:xfrm>
            <a:off x="4383938" y="1645920"/>
            <a:ext cx="3423818" cy="4480560"/>
          </a:xfrm>
          <a:prstGeom prst="roundRect">
            <a:avLst>
              <a:gd name="adj" fmla="val 2137"/>
            </a:avLst>
          </a:prstGeom>
          <a:solidFill>
            <a:srgbClr val="F2F6F9"/>
          </a:solidFill>
          <a:ln/>
        </p:spPr>
      </p:sp>
      <p:sp>
        <p:nvSpPr>
          <p:cNvPr id="13" name="Shape 11"/>
          <p:cNvSpPr/>
          <p:nvPr/>
        </p:nvSpPr>
        <p:spPr>
          <a:xfrm>
            <a:off x="4639970" y="1901952"/>
            <a:ext cx="402336" cy="402336"/>
          </a:xfrm>
          <a:prstGeom prst="ellipse">
            <a:avLst/>
          </a:prstGeom>
          <a:solidFill>
            <a:srgbClr val="0D2C4B"/>
          </a:solidFill>
          <a:ln/>
        </p:spPr>
      </p:sp>
      <p:sp>
        <p:nvSpPr>
          <p:cNvPr id="14" name="Text 12"/>
          <p:cNvSpPr/>
          <p:nvPr/>
        </p:nvSpPr>
        <p:spPr>
          <a:xfrm>
            <a:off x="4639970" y="19019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4639970" y="2423160"/>
            <a:ext cx="2911754" cy="502920"/>
          </a:xfrm>
          <a:prstGeom prst="rect">
            <a:avLst/>
          </a:prstGeom>
          <a:noFill/>
          <a:ln/>
        </p:spPr>
        <p:txBody>
          <a:bodyPr wrap="square" lIns="0" tIns="0" rIns="0" bIns="0" rtlCol="0" anchor="ctr"/>
          <a:lstStyle/>
          <a:p>
            <a:pPr indent="0" marL="0">
              <a:lnSpc>
                <a:spcPts val="1700"/>
              </a:lnSpc>
              <a:buNone/>
            </a:pPr>
            <a:r>
              <a:rPr lang="en-US" sz="1450" b="1" dirty="0">
                <a:solidFill>
                  <a:srgbClr val="1C2B39"/>
                </a:solidFill>
                <a:latin typeface="Calibri" pitchFamily="34" charset="0"/>
                <a:ea typeface="Calibri" pitchFamily="34" charset="-122"/>
                <a:cs typeface="Calibri" pitchFamily="34" charset="-120"/>
              </a:rPr>
              <a:t>Systems Drive Alignment</a:t>
            </a:r>
            <a:endParaRPr lang="en-US" sz="1450" dirty="0"/>
          </a:p>
        </p:txBody>
      </p:sp>
      <p:sp>
        <p:nvSpPr>
          <p:cNvPr id="16" name="Shape 14"/>
          <p:cNvSpPr/>
          <p:nvPr/>
        </p:nvSpPr>
        <p:spPr>
          <a:xfrm>
            <a:off x="4658258" y="3072384"/>
            <a:ext cx="73152" cy="73152"/>
          </a:xfrm>
          <a:prstGeom prst="ellipse">
            <a:avLst/>
          </a:prstGeom>
          <a:solidFill>
            <a:srgbClr val="0B8A9C"/>
          </a:solidFill>
          <a:ln/>
        </p:spPr>
      </p:sp>
      <p:sp>
        <p:nvSpPr>
          <p:cNvPr id="17" name="Text 15"/>
          <p:cNvSpPr/>
          <p:nvPr/>
        </p:nvSpPr>
        <p:spPr>
          <a:xfrm>
            <a:off x="4841138" y="2944368"/>
            <a:ext cx="2710586" cy="54864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ERP unifies operations across departments into one source of truth.</a:t>
            </a:r>
            <a:endParaRPr lang="en-US" sz="1080" dirty="0"/>
          </a:p>
        </p:txBody>
      </p:sp>
      <p:sp>
        <p:nvSpPr>
          <p:cNvPr id="18" name="Shape 16"/>
          <p:cNvSpPr/>
          <p:nvPr/>
        </p:nvSpPr>
        <p:spPr>
          <a:xfrm>
            <a:off x="4658258" y="3639312"/>
            <a:ext cx="73152" cy="73152"/>
          </a:xfrm>
          <a:prstGeom prst="ellipse">
            <a:avLst/>
          </a:prstGeom>
          <a:solidFill>
            <a:srgbClr val="0B8A9C"/>
          </a:solidFill>
          <a:ln/>
        </p:spPr>
      </p:sp>
      <p:sp>
        <p:nvSpPr>
          <p:cNvPr id="19" name="Text 17"/>
          <p:cNvSpPr/>
          <p:nvPr/>
        </p:nvSpPr>
        <p:spPr>
          <a:xfrm>
            <a:off x="4841138" y="3511296"/>
            <a:ext cx="2710586" cy="54864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IT and business strategy must be actively coordinated to succeed.</a:t>
            </a:r>
            <a:endParaRPr lang="en-US" sz="1080" dirty="0"/>
          </a:p>
        </p:txBody>
      </p:sp>
      <p:sp>
        <p:nvSpPr>
          <p:cNvPr id="20" name="Shape 18"/>
          <p:cNvSpPr/>
          <p:nvPr/>
        </p:nvSpPr>
        <p:spPr>
          <a:xfrm>
            <a:off x="8219237" y="1645920"/>
            <a:ext cx="3423818" cy="4480560"/>
          </a:xfrm>
          <a:prstGeom prst="roundRect">
            <a:avLst>
              <a:gd name="adj" fmla="val 2137"/>
            </a:avLst>
          </a:prstGeom>
          <a:solidFill>
            <a:srgbClr val="F2F6F9"/>
          </a:solidFill>
          <a:ln/>
        </p:spPr>
      </p:sp>
      <p:sp>
        <p:nvSpPr>
          <p:cNvPr id="21" name="Shape 19"/>
          <p:cNvSpPr/>
          <p:nvPr/>
        </p:nvSpPr>
        <p:spPr>
          <a:xfrm>
            <a:off x="8475269" y="1901952"/>
            <a:ext cx="402336" cy="402336"/>
          </a:xfrm>
          <a:prstGeom prst="ellipse">
            <a:avLst/>
          </a:prstGeom>
          <a:solidFill>
            <a:srgbClr val="0D2C4B"/>
          </a:solidFill>
          <a:ln/>
        </p:spPr>
      </p:sp>
      <p:sp>
        <p:nvSpPr>
          <p:cNvPr id="22" name="Text 20"/>
          <p:cNvSpPr/>
          <p:nvPr/>
        </p:nvSpPr>
        <p:spPr>
          <a:xfrm>
            <a:off x="8475269" y="19019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1"/>
          <p:cNvSpPr/>
          <p:nvPr/>
        </p:nvSpPr>
        <p:spPr>
          <a:xfrm>
            <a:off x="8475269" y="2423160"/>
            <a:ext cx="2911754" cy="502920"/>
          </a:xfrm>
          <a:prstGeom prst="rect">
            <a:avLst/>
          </a:prstGeom>
          <a:noFill/>
          <a:ln/>
        </p:spPr>
        <p:txBody>
          <a:bodyPr wrap="square" lIns="0" tIns="0" rIns="0" bIns="0" rtlCol="0" anchor="ctr"/>
          <a:lstStyle/>
          <a:p>
            <a:pPr indent="0" marL="0">
              <a:lnSpc>
                <a:spcPts val="1700"/>
              </a:lnSpc>
              <a:buNone/>
            </a:pPr>
            <a:r>
              <a:rPr lang="en-US" sz="1450" b="1" dirty="0">
                <a:solidFill>
                  <a:srgbClr val="1C2B39"/>
                </a:solidFill>
                <a:latin typeface="Calibri" pitchFamily="34" charset="0"/>
                <a:ea typeface="Calibri" pitchFamily="34" charset="-122"/>
                <a:cs typeface="Calibri" pitchFamily="34" charset="-120"/>
              </a:rPr>
              <a:t>Governance Builds Trust</a:t>
            </a:r>
            <a:endParaRPr lang="en-US" sz="1450" dirty="0"/>
          </a:p>
        </p:txBody>
      </p:sp>
      <p:sp>
        <p:nvSpPr>
          <p:cNvPr id="24" name="Shape 22"/>
          <p:cNvSpPr/>
          <p:nvPr/>
        </p:nvSpPr>
        <p:spPr>
          <a:xfrm>
            <a:off x="8493557" y="3072384"/>
            <a:ext cx="73152" cy="73152"/>
          </a:xfrm>
          <a:prstGeom prst="ellipse">
            <a:avLst/>
          </a:prstGeom>
          <a:solidFill>
            <a:srgbClr val="0B8A9C"/>
          </a:solidFill>
          <a:ln/>
        </p:spPr>
      </p:sp>
      <p:sp>
        <p:nvSpPr>
          <p:cNvPr id="25" name="Text 23"/>
          <p:cNvSpPr/>
          <p:nvPr/>
        </p:nvSpPr>
        <p:spPr>
          <a:xfrm>
            <a:off x="8676437" y="2944368"/>
            <a:ext cx="2710586" cy="54864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Sound data practices, ethical use, and privacy compliance protect the organization.</a:t>
            </a:r>
            <a:endParaRPr lang="en-US" sz="1080" dirty="0"/>
          </a:p>
        </p:txBody>
      </p:sp>
      <p:sp>
        <p:nvSpPr>
          <p:cNvPr id="26" name="Shape 24"/>
          <p:cNvSpPr/>
          <p:nvPr/>
        </p:nvSpPr>
        <p:spPr>
          <a:xfrm>
            <a:off x="8493557" y="3639312"/>
            <a:ext cx="73152" cy="73152"/>
          </a:xfrm>
          <a:prstGeom prst="ellipse">
            <a:avLst/>
          </a:prstGeom>
          <a:solidFill>
            <a:srgbClr val="0B8A9C"/>
          </a:solidFill>
          <a:ln/>
        </p:spPr>
      </p:sp>
      <p:sp>
        <p:nvSpPr>
          <p:cNvPr id="27" name="Text 25"/>
          <p:cNvSpPr/>
          <p:nvPr/>
        </p:nvSpPr>
        <p:spPr>
          <a:xfrm>
            <a:off x="8676437" y="3511296"/>
            <a:ext cx="2710586" cy="548640"/>
          </a:xfrm>
          <a:prstGeom prst="rect">
            <a:avLst/>
          </a:prstGeom>
          <a:noFill/>
          <a:ln/>
        </p:spPr>
        <p:txBody>
          <a:bodyPr wrap="square" lIns="0" tIns="0" rIns="0" bIns="0" rtlCol="0" anchor="ctr"/>
          <a:lstStyle/>
          <a:p>
            <a:pPr indent="0" marL="0">
              <a:lnSpc>
                <a:spcPts val="1350"/>
              </a:lnSpc>
              <a:buNone/>
            </a:pPr>
            <a:r>
              <a:rPr lang="en-US" sz="1080" dirty="0">
                <a:solidFill>
                  <a:srgbClr val="5B6B7C"/>
                </a:solidFill>
                <a:latin typeface="Calibri" pitchFamily="34" charset="0"/>
                <a:ea typeface="Calibri" pitchFamily="34" charset="-122"/>
                <a:cs typeface="Calibri" pitchFamily="34" charset="-120"/>
              </a:rPr>
              <a:t>Stakeholder and scenario planning strengthen every major decision.</a:t>
            </a:r>
            <a:endParaRPr lang="en-US" sz="1080" dirty="0"/>
          </a:p>
        </p:txBody>
      </p:sp>
      <p:sp>
        <p:nvSpPr>
          <p:cNvPr id="28" name="Text 26"/>
          <p:cNvSpPr/>
          <p:nvPr/>
        </p:nvSpPr>
        <p:spPr>
          <a:xfrm>
            <a:off x="548640" y="6473952"/>
            <a:ext cx="6400800" cy="274320"/>
          </a:xfrm>
          <a:prstGeom prst="rect">
            <a:avLst/>
          </a:prstGeom>
          <a:noFill/>
          <a:ln/>
        </p:spPr>
        <p:txBody>
          <a:bodyPr wrap="square" lIns="0" tIns="0" rIns="0" bIns="0" rtlCol="0" anchor="ctr"/>
          <a:lstStyle/>
          <a:p>
            <a:pPr indent="0" marL="0">
              <a:buNone/>
            </a:pPr>
            <a:r>
              <a:rPr lang="en-US" sz="900" spc="120" kern="0" dirty="0">
                <a:solidFill>
                  <a:srgbClr val="5B6B7C"/>
                </a:solidFill>
                <a:latin typeface="Calibri" pitchFamily="34" charset="0"/>
                <a:ea typeface="Calibri" pitchFamily="34" charset="-122"/>
                <a:cs typeface="Calibri" pitchFamily="34" charset="-120"/>
              </a:rPr>
              <a:t>CLOSING</a:t>
            </a:r>
            <a:endParaRPr lang="en-US" sz="900" dirty="0"/>
          </a:p>
        </p:txBody>
      </p:sp>
      <p:sp>
        <p:nvSpPr>
          <p:cNvPr id="29" name="Text 27"/>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89</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081826"/>
        </a:solidFill>
      </p:bgPr>
    </p:bg>
    <p:spTree>
      <p:nvGrpSpPr>
        <p:cNvPr id="1" name=""/>
        <p:cNvGrpSpPr/>
        <p:nvPr/>
      </p:nvGrpSpPr>
      <p:grpSpPr>
        <a:xfrm>
          <a:off x="0" y="0"/>
          <a:ext cx="0" cy="0"/>
          <a:chOff x="0" y="0"/>
          <a:chExt cx="0" cy="0"/>
        </a:xfrm>
      </p:grpSpPr>
      <p:sp>
        <p:nvSpPr>
          <p:cNvPr id="2" name="Shape 0"/>
          <p:cNvSpPr/>
          <p:nvPr/>
        </p:nvSpPr>
        <p:spPr>
          <a:xfrm>
            <a:off x="8778240" y="-1828800"/>
            <a:ext cx="4754880" cy="4754880"/>
          </a:xfrm>
          <a:prstGeom prst="ellipse">
            <a:avLst/>
          </a:prstGeom>
          <a:solidFill>
            <a:srgbClr val="163A5C">
              <a:alpha val="60000"/>
            </a:srgbClr>
          </a:solidFill>
          <a:ln/>
        </p:spPr>
      </p:sp>
      <p:sp>
        <p:nvSpPr>
          <p:cNvPr id="3" name="Shape 1"/>
          <p:cNvSpPr/>
          <p:nvPr/>
        </p:nvSpPr>
        <p:spPr>
          <a:xfrm>
            <a:off x="-1463040" y="4572000"/>
            <a:ext cx="3291840" cy="3291840"/>
          </a:xfrm>
          <a:prstGeom prst="ellipse">
            <a:avLst/>
          </a:prstGeom>
          <a:solidFill>
            <a:srgbClr val="12B5CB">
              <a:alpha val="20000"/>
            </a:srgbClr>
          </a:solidFill>
          <a:ln/>
        </p:spPr>
      </p:sp>
      <p:sp>
        <p:nvSpPr>
          <p:cNvPr id="4" name="Text 2"/>
          <p:cNvSpPr/>
          <p:nvPr/>
        </p:nvSpPr>
        <p:spPr>
          <a:xfrm>
            <a:off x="548640" y="2560320"/>
            <a:ext cx="91440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p:nvPr/>
        </p:nvSpPr>
        <p:spPr>
          <a:xfrm>
            <a:off x="548640" y="3520440"/>
            <a:ext cx="9144000" cy="548640"/>
          </a:xfrm>
          <a:prstGeom prst="rect">
            <a:avLst/>
          </a:prstGeom>
          <a:noFill/>
          <a:ln/>
        </p:spPr>
        <p:txBody>
          <a:bodyPr wrap="square" lIns="0" tIns="0" rIns="0" bIns="0" rtlCol="0" anchor="ctr"/>
          <a:lstStyle/>
          <a:p>
            <a:pPr indent="0" marL="0">
              <a:buNone/>
            </a:pPr>
            <a:r>
              <a:rPr lang="en-US" sz="1800" dirty="0">
                <a:solidFill>
                  <a:srgbClr val="12B5CB"/>
                </a:solidFill>
                <a:latin typeface="Calibri" pitchFamily="34" charset="0"/>
                <a:ea typeface="Calibri" pitchFamily="34" charset="-122"/>
                <a:cs typeface="Calibri" pitchFamily="34" charset="-120"/>
              </a:rPr>
              <a:t>Questions &amp; Discussion</a:t>
            </a:r>
            <a:endParaRPr lang="en-US" sz="1800" dirty="0"/>
          </a:p>
        </p:txBody>
      </p:sp>
      <p:sp>
        <p:nvSpPr>
          <p:cNvPr id="6" name="Text 4"/>
          <p:cNvSpPr/>
          <p:nvPr/>
        </p:nvSpPr>
        <p:spPr>
          <a:xfrm>
            <a:off x="548640" y="6035040"/>
            <a:ext cx="10058400" cy="365760"/>
          </a:xfrm>
          <a:prstGeom prst="rect">
            <a:avLst/>
          </a:prstGeom>
          <a:noFill/>
          <a:ln/>
        </p:spPr>
        <p:txBody>
          <a:bodyPr wrap="square" lIns="0" tIns="0" rIns="0" bIns="0" rtlCol="0" anchor="ctr"/>
          <a:lstStyle/>
          <a:p>
            <a:pPr indent="0" marL="0">
              <a:buNone/>
            </a:pPr>
            <a:r>
              <a:rPr lang="en-US" sz="1100" dirty="0">
                <a:solidFill>
                  <a:srgbClr val="9FB6C9"/>
                </a:solidFill>
                <a:latin typeface="Calibri" pitchFamily="34" charset="0"/>
                <a:ea typeface="Calibri" pitchFamily="34" charset="-122"/>
                <a:cs typeface="Calibri" pitchFamily="34" charset="-120"/>
              </a:rPr>
              <a:t>Information Technology  —  Foundations, Enterprise Systems, Data &amp; Strategy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90</Slides>
  <Notes>90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90</vt:i4>
      </vt:variant>
    </vt:vector>
  </HeadingPairs>
  <TitlesOfParts>
    <vt:vector size="9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Technology</dc:title>
  <dc:subject>PptxGenJS Presentation</dc:subject>
  <dc:creator>IT Overview</dc:creator>
  <cp:lastModifiedBy>IT Overview</cp:lastModifiedBy>
  <cp:revision>1</cp:revision>
  <dcterms:created xsi:type="dcterms:W3CDTF">2026-07-26T07:48:45Z</dcterms:created>
  <dcterms:modified xsi:type="dcterms:W3CDTF">2026-07-26T07:48:45Z</dcterms:modified>
</cp:coreProperties>
</file>