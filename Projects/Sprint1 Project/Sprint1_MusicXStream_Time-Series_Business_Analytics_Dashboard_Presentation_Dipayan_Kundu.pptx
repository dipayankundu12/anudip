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yan Kundu" userId="b7be480f7654e1fd" providerId="LiveId" clId="{42234C7D-AF9C-4D0D-98B0-CACA74A3C965}"/>
    <pc:docChg chg="undo custSel modSld">
      <pc:chgData name="Dipayan Kundu" userId="b7be480f7654e1fd" providerId="LiveId" clId="{42234C7D-AF9C-4D0D-98B0-CACA74A3C965}" dt="2026-10-05T10:17:59.488" v="67" actId="20577"/>
      <pc:docMkLst>
        <pc:docMk/>
      </pc:docMkLst>
      <pc:sldChg chg="modSp mod">
        <pc:chgData name="Dipayan Kundu" userId="b7be480f7654e1fd" providerId="LiveId" clId="{42234C7D-AF9C-4D0D-98B0-CACA74A3C965}" dt="2026-10-05T10:17:59.488" v="67" actId="20577"/>
        <pc:sldMkLst>
          <pc:docMk/>
          <pc:sldMk cId="0" sldId="256"/>
        </pc:sldMkLst>
        <pc:spChg chg="mod">
          <ac:chgData name="Dipayan Kundu" userId="b7be480f7654e1fd" providerId="LiveId" clId="{42234C7D-AF9C-4D0D-98B0-CACA74A3C965}" dt="2026-10-05T10:17:59.488" v="67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ipayan Kundu" userId="b7be480f7654e1fd" providerId="LiveId" clId="{42234C7D-AF9C-4D0D-98B0-CACA74A3C965}" dt="2026-10-05T09:03:43.131" v="54"/>
        <pc:sldMkLst>
          <pc:docMk/>
          <pc:sldMk cId="0" sldId="259"/>
        </pc:sldMkLst>
        <pc:spChg chg="mod">
          <ac:chgData name="Dipayan Kundu" userId="b7be480f7654e1fd" providerId="LiveId" clId="{42234C7D-AF9C-4D0D-98B0-CACA74A3C965}" dt="2026-10-05T09:03:43.131" v="54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Dipayan Kundu" userId="b7be480f7654e1fd" providerId="LiveId" clId="{42234C7D-AF9C-4D0D-98B0-CACA74A3C965}" dt="2026-10-04T15:09:18.651" v="5" actId="20577"/>
        <pc:sldMkLst>
          <pc:docMk/>
          <pc:sldMk cId="0" sldId="262"/>
        </pc:sldMkLst>
        <pc:spChg chg="mod">
          <ac:chgData name="Dipayan Kundu" userId="b7be480f7654e1fd" providerId="LiveId" clId="{42234C7D-AF9C-4D0D-98B0-CACA74A3C965}" dt="2026-10-04T15:09:18.651" v="5" actId="20577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Dipayan Kundu" userId="b7be480f7654e1fd" providerId="LiveId" clId="{42234C7D-AF9C-4D0D-98B0-CACA74A3C965}" dt="2026-10-04T15:12:59.135" v="12" actId="14100"/>
        <pc:sldMkLst>
          <pc:docMk/>
          <pc:sldMk cId="0" sldId="263"/>
        </pc:sldMkLst>
        <pc:spChg chg="mod">
          <ac:chgData name="Dipayan Kundu" userId="b7be480f7654e1fd" providerId="LiveId" clId="{42234C7D-AF9C-4D0D-98B0-CACA74A3C965}" dt="2026-10-04T15:12:55.094" v="11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Dipayan Kundu" userId="b7be480f7654e1fd" providerId="LiveId" clId="{42234C7D-AF9C-4D0D-98B0-CACA74A3C965}" dt="2026-10-04T15:12:20.844" v="6" actId="14100"/>
          <ac:spMkLst>
            <pc:docMk/>
            <pc:sldMk cId="0" sldId="263"/>
            <ac:spMk id="8" creationId="{00000000-0000-0000-0000-000000000000}"/>
          </ac:spMkLst>
        </pc:spChg>
        <pc:picChg chg="mod">
          <ac:chgData name="Dipayan Kundu" userId="b7be480f7654e1fd" providerId="LiveId" clId="{42234C7D-AF9C-4D0D-98B0-CACA74A3C965}" dt="2026-10-04T15:12:59.135" v="12" actId="14100"/>
          <ac:picMkLst>
            <pc:docMk/>
            <pc:sldMk cId="0" sldId="263"/>
            <ac:picMk id="7" creationId="{00000000-0000-0000-0000-000000000000}"/>
          </ac:picMkLst>
        </pc:picChg>
        <pc:picChg chg="mod">
          <ac:chgData name="Dipayan Kundu" userId="b7be480f7654e1fd" providerId="LiveId" clId="{42234C7D-AF9C-4D0D-98B0-CACA74A3C965}" dt="2026-10-04T15:12:32.596" v="8" actId="14100"/>
          <ac:picMkLst>
            <pc:docMk/>
            <pc:sldMk cId="0" sldId="263"/>
            <ac:picMk id="9" creationId="{00000000-0000-0000-0000-000000000000}"/>
          </ac:picMkLst>
        </pc:picChg>
      </pc:sldChg>
      <pc:sldChg chg="modSp mod">
        <pc:chgData name="Dipayan Kundu" userId="b7be480f7654e1fd" providerId="LiveId" clId="{42234C7D-AF9C-4D0D-98B0-CACA74A3C965}" dt="2026-10-04T15:14:10.612" v="15" actId="20577"/>
        <pc:sldMkLst>
          <pc:docMk/>
          <pc:sldMk cId="0" sldId="264"/>
        </pc:sldMkLst>
        <pc:spChg chg="mod">
          <ac:chgData name="Dipayan Kundu" userId="b7be480f7654e1fd" providerId="LiveId" clId="{42234C7D-AF9C-4D0D-98B0-CACA74A3C965}" dt="2026-10-04T15:14:10.612" v="15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ipayan Kundu" userId="b7be480f7654e1fd" providerId="LiveId" clId="{42234C7D-AF9C-4D0D-98B0-CACA74A3C965}" dt="2026-10-04T15:13:43.674" v="13" actId="14100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Dipayan Kundu" userId="b7be480f7654e1fd" providerId="LiveId" clId="{42234C7D-AF9C-4D0D-98B0-CACA74A3C965}" dt="2026-10-05T09:10:52.935" v="55" actId="20577"/>
        <pc:sldMkLst>
          <pc:docMk/>
          <pc:sldMk cId="0" sldId="265"/>
        </pc:sldMkLst>
        <pc:spChg chg="mod">
          <ac:chgData name="Dipayan Kundu" userId="b7be480f7654e1fd" providerId="LiveId" clId="{42234C7D-AF9C-4D0D-98B0-CACA74A3C965}" dt="2026-10-04T15:14:46.276" v="19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Dipayan Kundu" userId="b7be480f7654e1fd" providerId="LiveId" clId="{42234C7D-AF9C-4D0D-98B0-CACA74A3C965}" dt="2026-10-05T09:10:52.935" v="55" actId="20577"/>
          <ac:spMkLst>
            <pc:docMk/>
            <pc:sldMk cId="0" sldId="265"/>
            <ac:spMk id="13" creationId="{00000000-0000-0000-0000-000000000000}"/>
          </ac:spMkLst>
        </pc:spChg>
        <pc:picChg chg="mod">
          <ac:chgData name="Dipayan Kundu" userId="b7be480f7654e1fd" providerId="LiveId" clId="{42234C7D-AF9C-4D0D-98B0-CACA74A3C965}" dt="2026-10-04T15:15:04.116" v="22" actId="1076"/>
          <ac:picMkLst>
            <pc:docMk/>
            <pc:sldMk cId="0" sldId="265"/>
            <ac:picMk id="7" creationId="{00000000-0000-0000-0000-000000000000}"/>
          </ac:picMkLst>
        </pc:picChg>
      </pc:sldChg>
      <pc:sldChg chg="modSp mod">
        <pc:chgData name="Dipayan Kundu" userId="b7be480f7654e1fd" providerId="LiveId" clId="{42234C7D-AF9C-4D0D-98B0-CACA74A3C965}" dt="2026-10-04T15:15:47.308" v="27" actId="1076"/>
        <pc:sldMkLst>
          <pc:docMk/>
          <pc:sldMk cId="0" sldId="266"/>
        </pc:sldMkLst>
        <pc:spChg chg="mod">
          <ac:chgData name="Dipayan Kundu" userId="b7be480f7654e1fd" providerId="LiveId" clId="{42234C7D-AF9C-4D0D-98B0-CACA74A3C965}" dt="2026-10-04T15:15:19.884" v="23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ipayan Kundu" userId="b7be480f7654e1fd" providerId="LiveId" clId="{42234C7D-AF9C-4D0D-98B0-CACA74A3C965}" dt="2026-10-04T15:15:35.212" v="26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ipayan Kundu" userId="b7be480f7654e1fd" providerId="LiveId" clId="{42234C7D-AF9C-4D0D-98B0-CACA74A3C965}" dt="2026-10-04T15:15:47.308" v="27" actId="1076"/>
          <ac:spMkLst>
            <pc:docMk/>
            <pc:sldMk cId="0" sldId="266"/>
            <ac:spMk id="18" creationId="{00000000-0000-0000-0000-000000000000}"/>
          </ac:spMkLst>
        </pc:spChg>
      </pc:sldChg>
      <pc:sldChg chg="modSp mod">
        <pc:chgData name="Dipayan Kundu" userId="b7be480f7654e1fd" providerId="LiveId" clId="{42234C7D-AF9C-4D0D-98B0-CACA74A3C965}" dt="2026-10-05T09:12:49.895" v="56" actId="20577"/>
        <pc:sldMkLst>
          <pc:docMk/>
          <pc:sldMk cId="0" sldId="268"/>
        </pc:sldMkLst>
        <pc:spChg chg="mod">
          <ac:chgData name="Dipayan Kundu" userId="b7be480f7654e1fd" providerId="LiveId" clId="{42234C7D-AF9C-4D0D-98B0-CACA74A3C965}" dt="2026-10-05T09:12:49.895" v="56" actId="20577"/>
          <ac:spMkLst>
            <pc:docMk/>
            <pc:sldMk cId="0" sldId="26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70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B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</a:t>
            </a: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3800" b="1" dirty="0">
                <a:solidFill>
                  <a:srgbClr val="FFD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</a:t>
            </a:r>
            <a:r>
              <a:rPr lang="en-US" sz="38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38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Business Analytics Dashboard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Analysis for a Music Streaming Platform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Project  |  2023 – 2025 streaming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822960"/>
            <a:ext cx="3383280" cy="33832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40680" y="1051560"/>
            <a:ext cx="2926080" cy="29260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2A3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0" y="1280160"/>
            <a:ext cx="2468880" cy="24688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2A3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897880" y="1508760"/>
            <a:ext cx="2011680" cy="20116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2A3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1463040" cy="14630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12280" y="2423160"/>
            <a:ext cx="182880" cy="1828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7782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1556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35331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59105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82880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06654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30428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4203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7977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01752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5526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9300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3075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96849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0624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44398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8172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91947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5721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39496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63270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87044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0819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4593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8368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2142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5916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29691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53465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77240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01014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24788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48563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29000" y="1383030"/>
            <a:ext cx="2377440" cy="2377440"/>
          </a:xfrm>
          <a:prstGeom prst="ellipse">
            <a:avLst/>
          </a:prstGeom>
          <a:solidFill>
            <a:srgbClr val="0D2EAA"/>
          </a:solidFill>
          <a:ln w="762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61188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D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MusicXStream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FD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1234440"/>
            <a:ext cx="457200" cy="457200"/>
          </a:xfrm>
          <a:prstGeom prst="ellipse">
            <a:avLst/>
          </a:prstGeom>
          <a:solidFill>
            <a:srgbClr val="5DA0E1"/>
          </a:solidFill>
          <a:ln w="12700">
            <a:solidFill>
              <a:srgbClr val="5DA0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880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143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3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the platform &amp; dashboard purpose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1234440"/>
            <a:ext cx="457200" cy="457200"/>
          </a:xfrm>
          <a:prstGeom prst="ellipse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897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143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3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the dashboard solves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423160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880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Summary</a:t>
            </a:r>
            <a:endParaRPr lang="en-US" sz="13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period, key fields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97880" y="2423160"/>
            <a:ext cx="457200" cy="457200"/>
          </a:xfrm>
          <a:prstGeom prst="ellipse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897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Overview</a:t>
            </a:r>
            <a:endParaRPr lang="en-US" sz="13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Streams, listeners, likes, shares,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3611880"/>
            <a:ext cx="457200" cy="457200"/>
          </a:xfrm>
          <a:prstGeom prst="ellipse">
            <a:avLst/>
          </a:prstGeom>
          <a:solidFill>
            <a:srgbClr val="9071CE"/>
          </a:solidFill>
          <a:ln w="12700">
            <a:solidFill>
              <a:srgbClr val="907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2880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Insights</a:t>
            </a:r>
            <a:endParaRPr lang="en-US" sz="13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platform, artist, trend, country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3611880"/>
            <a:ext cx="457200" cy="457200"/>
          </a:xfrm>
          <a:prstGeom prst="ellipse">
            <a:avLst/>
          </a:prstGeom>
          <a:solidFill>
            <a:srgbClr val="E0875F"/>
          </a:solidFill>
          <a:ln w="12700">
            <a:solidFill>
              <a:srgbClr val="E087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8978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Conclusion</a:t>
            </a:r>
            <a:endParaRPr lang="en-US" sz="13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 + wrap 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of the Project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1508759"/>
            <a:ext cx="6858000" cy="45719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5840" y="1280160"/>
            <a:ext cx="457200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05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streams, listeners, likes &amp; shares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457200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606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platform performance &amp;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280160"/>
            <a:ext cx="457200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206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genres, artists &amp; countries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1280160"/>
            <a:ext cx="457200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806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engagement trends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280160"/>
            <a:ext cx="457200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406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KPIs for business decisions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77824" y="3621024"/>
            <a:ext cx="109728" cy="90525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115568" y="3950208"/>
            <a:ext cx="109728" cy="57607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353312" y="4279392"/>
            <a:ext cx="109728" cy="24688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591056" y="3511296"/>
            <a:ext cx="109728" cy="10149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828800" y="3840480"/>
            <a:ext cx="109728" cy="6858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066544" y="4169664"/>
            <a:ext cx="109728" cy="3566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304288" y="3401568"/>
            <a:ext cx="109728" cy="112471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42032" y="3730752"/>
            <a:ext cx="109728" cy="79552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79776" y="4059936"/>
            <a:ext cx="109728" cy="46634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01752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55264" y="3621024"/>
            <a:ext cx="109728" cy="90525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93008" y="3950208"/>
            <a:ext cx="109728" cy="57607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30752" y="4279392"/>
            <a:ext cx="109728" cy="24688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968496" y="3511296"/>
            <a:ext cx="109728" cy="10149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206240" y="3840480"/>
            <a:ext cx="109728" cy="6858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443984" y="4169664"/>
            <a:ext cx="109728" cy="3566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81728" y="3401568"/>
            <a:ext cx="109728" cy="112471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19472" y="3730752"/>
            <a:ext cx="109728" cy="79552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157216" y="4059936"/>
            <a:ext cx="109728" cy="46634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39496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632704" y="3621024"/>
            <a:ext cx="109728" cy="90525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70448" y="3950208"/>
            <a:ext cx="109728" cy="57607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108192" y="4279392"/>
            <a:ext cx="109728" cy="24688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45936" y="3511296"/>
            <a:ext cx="109728" cy="10149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583680" y="3840480"/>
            <a:ext cx="109728" cy="6858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821424" y="4169664"/>
            <a:ext cx="109728" cy="3566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059168" y="3401568"/>
            <a:ext cx="109728" cy="112471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296912" y="3730752"/>
            <a:ext cx="109728" cy="79552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534656" y="4059936"/>
            <a:ext cx="109728" cy="46634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77240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010144" y="3621024"/>
            <a:ext cx="109728" cy="90525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247888" y="3950208"/>
            <a:ext cx="109728" cy="57607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485632" y="4279392"/>
            <a:ext cx="109728" cy="24688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table: Fact_MusicStreaming (song-level streaming for 5100 records)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 2023 to 2025 (Year and Month slicer)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platforms, 8 genres, 12 artists, 8 countries shown on the report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include:</a:t>
            </a:r>
            <a:endParaRPr lang="en-US" sz="1300" dirty="0"/>
          </a:p>
          <a:p>
            <a:pPr marL="317500" indent="-317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Stream_ID, StreamDate, Song, Artist, Genre</a:t>
            </a:r>
            <a:endParaRPr lang="en-US" sz="1300" dirty="0"/>
          </a:p>
          <a:p>
            <a:pPr marL="317500" indent="-317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Country, Streams, Listeners, Likes, Shares</a:t>
            </a:r>
            <a:endParaRPr lang="en-US" sz="1300" dirty="0"/>
          </a:p>
          <a:p>
            <a:pPr marL="317500" indent="-317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Engagement Rate, PlaylistAdds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2377440" cy="237744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29400" y="1965960"/>
            <a:ext cx="1188720" cy="118872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086600" y="2423160"/>
            <a:ext cx="2743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852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model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KPIs Analyzed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914400" cy="137160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 flipV="1">
            <a:off x="5486400" y="1371600"/>
            <a:ext cx="914400" cy="137160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194560" cy="548640"/>
          </a:xfrm>
          <a:prstGeom prst="rect">
            <a:avLst/>
          </a:prstGeom>
          <a:solidFill>
            <a:srgbClr val="5DA0E1"/>
          </a:solidFill>
          <a:ln w="12700">
            <a:solidFill>
              <a:srgbClr val="5DA0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1097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194560" cy="54864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0" y="1097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Listeners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697480"/>
            <a:ext cx="914400" cy="4572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 flipV="1">
            <a:off x="5486400" y="2697480"/>
            <a:ext cx="914400" cy="4572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2194560" cy="548640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2194560" cy="54864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080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2743200" y="2743200"/>
            <a:ext cx="914400" cy="128016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0" y="2743200"/>
            <a:ext cx="914400" cy="1280160"/>
          </a:xfrm>
          <a:prstGeom prst="line">
            <a:avLst/>
          </a:prstGeom>
          <a:noFill/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194560" cy="548640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40"/>
            <a:ext cx="2194560" cy="548640"/>
          </a:xfrm>
          <a:prstGeom prst="rect">
            <a:avLst/>
          </a:prstGeom>
          <a:solidFill>
            <a:srgbClr val="9071CE"/>
          </a:solidFill>
          <a:ln w="12700">
            <a:solidFill>
              <a:srgbClr val="907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008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1965960"/>
            <a:ext cx="1554480" cy="155448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206240" y="2377440"/>
            <a:ext cx="731520" cy="73152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62272" y="2633472"/>
            <a:ext cx="219456" cy="219456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Performance Snapshot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9071CE"/>
          </a:solidFill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2555.26M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Streams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890065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1477.12M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90065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Listeners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31490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129M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31490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914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25.42M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914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14339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766.58M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14339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55764" y="1097280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55764" y="1481328"/>
            <a:ext cx="1341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5DA0E1"/>
          </a:solidFill>
          <a:ln w="12700">
            <a:solidFill>
              <a:srgbClr val="5DA0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011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(2555.26M) exceed listeners (1477.12M) – about 1.7 streams per listener, showing repeat listening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761488"/>
            <a:ext cx="365760" cy="3657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26700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 766.58M shows strong monetisation of the stream base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419856"/>
            <a:ext cx="365760" cy="365760"/>
          </a:xfrm>
          <a:prstGeom prst="ellipse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284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(25.42M) are about one-fifth of likes (129M) – sharing is the weaker engagement 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78224"/>
            <a:ext cx="365760" cy="365760"/>
          </a:xfrm>
          <a:prstGeom prst="ellipse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4864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9867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of 0.12 gives a baseline to improve month by month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Streams by Genre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4389120" cy="2476327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gen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4297680" cy="23848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005840"/>
            <a:ext cx="3611880" cy="146304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138928" y="10698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1353312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Hip Hop leads: 329.28M streams (12.89% share)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Rock 325.94M and Classical 325.93M follow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Pop (307.94M) and R&amp;B (307.02M) are lowest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560320"/>
            <a:ext cx="3611880" cy="109728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138928" y="26243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2907792"/>
            <a:ext cx="3392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 8 genres sit within about 12–13% share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Catalogue is balanced – no single-genre risk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8092440" cy="777240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658368" y="3813048"/>
            <a:ext cx="7872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096512"/>
            <a:ext cx="7872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Keep a broad catalogue; push Pop and R&amp;B playlists to close the gap, and feature Hip Hop in campaigns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084832" cy="2651760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sc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051560"/>
            <a:ext cx="1984247" cy="2542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97480" y="1005840"/>
            <a:ext cx="2221992" cy="2651760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w/c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9" y="1051560"/>
            <a:ext cx="2143531" cy="2542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0" y="1005840"/>
            <a:ext cx="3611880" cy="160020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5138928" y="10698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38928" y="1353312"/>
            <a:ext cx="3392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Spotify is highest on likes and shares; YouTube Music is lowest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Streams range from about 480M to 540M per platform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Revenue is similar across platforms (about 145M–165M)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0" y="2697480"/>
            <a:ext cx="3611880" cy="96012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5138928" y="276148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138928" y="3044952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Spotify is the Best Performing Platform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8092440" cy="777240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658368" y="3813048"/>
            <a:ext cx="7872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4096512"/>
            <a:ext cx="7872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Lift revenue per stream on lower-yield platforms through premium conversion and platform-specific offers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474720" cy="3451704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art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3383280" cy="33602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005840"/>
            <a:ext cx="4434840" cy="141732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315968" y="106984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1353312"/>
            <a:ext cx="4215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Electric Soul is the Top Artist on every measure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Streams run from about 190M to 230M across the 12 artists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Listeners run from about 110M to 135M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06240" y="2514600"/>
            <a:ext cx="4434840" cy="100584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315968" y="257860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15968" y="2862072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Artist performance is tightly grouped; likes and shares are far smaller than streams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3611880"/>
            <a:ext cx="4434840" cy="799944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315968" y="367588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315968" y="3959352"/>
            <a:ext cx="4215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Back Electric Soul with featured placements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Promote mid-ranked artists to widen the star base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Page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Streams &amp; Engagement Over Time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4727448" cy="2651760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60704"/>
            <a:ext cx="4590288" cy="2542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9240" y="1005840"/>
            <a:ext cx="3291840" cy="137160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458968" y="10698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58968" y="1353312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Engagement rate ranges about 0.11 to 0.13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Peak around October; lowest around February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Monthly streams stay steady across 2023–2025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2468880"/>
            <a:ext cx="3291840" cy="118872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458968" y="25328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58968" y="2816352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Streams are stable, so engagement swings are the real signal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8092440" cy="777240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658368" y="3813048"/>
            <a:ext cx="7872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096512"/>
            <a:ext cx="7872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Time campaigns before February dips; sort the axis by Month Number so trends read left to right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Page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Performance &amp; Top Performers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4351053" cy="2560320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4259613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005840"/>
            <a:ext cx="3611880" cy="123444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138928" y="10698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21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1353312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Map plots Canada, USA, Brazil, UK, Germany, India, Japan, Australia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Australia has the highest revenue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83480" y="2377440"/>
            <a:ext cx="3703320" cy="1262861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/c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23160"/>
            <a:ext cx="3611880" cy="117142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749040"/>
            <a:ext cx="4297680" cy="777240"/>
          </a:xfrm>
          <a:prstGeom prst="rect">
            <a:avLst/>
          </a:prstGeom>
          <a:solidFill>
            <a:srgbClr val="C0876F"/>
          </a:solidFill>
          <a:ln w="12700">
            <a:solidFill>
              <a:srgbClr val="C08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658368" y="381304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0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409651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Prioritise Australia for premium offers and test similar markets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0" y="3777461"/>
            <a:ext cx="3611880" cy="748819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5138928" y="38130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picks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138928" y="4104667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0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Electric Soul | Hip Hop | Australia | Spotify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Page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Dashboard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8760" y="868680"/>
            <a:ext cx="5847093" cy="3337560"/>
          </a:xfrm>
          <a:prstGeom prst="rect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/c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914400"/>
            <a:ext cx="5755653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page: KPI cards, platform filters, genre, platform, artist, trend and country views with a Year and Month slicer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4572000"/>
            <a:ext cx="1645920" cy="27432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7490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51392" y="2194560"/>
            <a:ext cx="292608" cy="502920"/>
          </a:xfrm>
          <a:prstGeom prst="rect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Business Recommendations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931920" cy="3566160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58368" y="10698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58368" y="1353312"/>
            <a:ext cx="3712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2555.26M streams from 1477.12M listeners generated 766.58M revenue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Hip Hop leads genres, but all 8 are within 12–13%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Spotify is the top platform; YouTube Music trails on likes and shares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Electric Soul is the top artist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Engagement (0.11–0.13) peaks in October and dips in February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Australia is the highest-revenue country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77640" cy="3566160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73168" y="106984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773168" y="1353312"/>
            <a:ext cx="37581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0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Grow repeat listening: playlists and personalised recommendations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0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Boost shares with easy in-app sharing and social campaigns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0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Run February re-engagement campaigns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0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Lift revenue per stream on lower-yield platforms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0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Invest in Australia and look for similar markets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8114E"/>
          </a:solidFill>
          <a:ln w="2540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926080" y="548640"/>
            <a:ext cx="3291840" cy="3291840"/>
          </a:xfrm>
          <a:prstGeom prst="ellipse">
            <a:avLst/>
          </a:prstGeom>
          <a:solidFill>
            <a:srgbClr val="02061F"/>
          </a:solidFill>
          <a:ln w="12700">
            <a:solidFill>
              <a:srgbClr val="0206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194560" cy="21945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474720" y="10972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7782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1556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5331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9105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2880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6654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0428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4203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7977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01752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5526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49300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3075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6849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0624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4398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8172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91947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15721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9496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63270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7044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0819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45936" y="3877056"/>
            <a:ext cx="109728" cy="64922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583680" y="4069080"/>
            <a:ext cx="109728" cy="45720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21424" y="4261104"/>
            <a:ext cx="109728" cy="2651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059168" y="3813048"/>
            <a:ext cx="109728" cy="71323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96912" y="4005072"/>
            <a:ext cx="109728" cy="52120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534656" y="4197096"/>
            <a:ext cx="109728" cy="329184"/>
          </a:xfrm>
          <a:prstGeom prst="rect">
            <a:avLst/>
          </a:prstGeom>
          <a:solidFill>
            <a:srgbClr val="652B70"/>
          </a:solidFill>
          <a:ln w="12700">
            <a:solidFill>
              <a:srgbClr val="652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772400" y="4389120"/>
            <a:ext cx="109728" cy="137160"/>
          </a:xfrm>
          <a:prstGeom prst="rect">
            <a:avLst/>
          </a:prstGeom>
          <a:solidFill>
            <a:srgbClr val="AB57D9"/>
          </a:solidFill>
          <a:ln w="12700">
            <a:solidFill>
              <a:srgbClr val="AB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10144" y="3941064"/>
            <a:ext cx="109728" cy="5852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247888" y="4133088"/>
            <a:ext cx="109728" cy="393192"/>
          </a:xfrm>
          <a:prstGeom prst="rect">
            <a:avLst/>
          </a:prstGeom>
          <a:solidFill>
            <a:srgbClr val="C2698D"/>
          </a:solidFill>
          <a:ln w="12700">
            <a:solidFill>
              <a:srgbClr val="C26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485632" y="4325112"/>
            <a:ext cx="109728" cy="201168"/>
          </a:xfrm>
          <a:prstGeom prst="rect">
            <a:avLst/>
          </a:prstGeom>
          <a:solidFill>
            <a:srgbClr val="6B987A"/>
          </a:solidFill>
          <a:ln w="12700">
            <a:solidFill>
              <a:srgbClr val="6B9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791</Words>
  <Application>Microsoft Office PowerPoint</Application>
  <PresentationFormat>On-screen Show (16:9)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Dipayan Kundu</cp:lastModifiedBy>
  <cp:revision>6</cp:revision>
  <dcterms:created xsi:type="dcterms:W3CDTF">2026-10-04T08:47:07Z</dcterms:created>
  <dcterms:modified xsi:type="dcterms:W3CDTF">2026-10-05T10:18:04Z</dcterms:modified>
</cp:coreProperties>
</file>